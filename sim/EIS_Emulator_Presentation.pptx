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60" r:id="rId5"/>
    <p:sldId id="261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-914400"/>
            <a:ext cx="6400800" cy="6400800"/>
          </a:xfrm>
          <a:prstGeom prst="ellipse">
            <a:avLst/>
          </a:prstGeom>
          <a:solidFill>
            <a:srgbClr val="00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3200400"/>
            <a:ext cx="4114800" cy="4114800"/>
          </a:xfrm>
          <a:prstGeom prst="ellipse">
            <a:avLst/>
          </a:prstGeom>
          <a:solidFill>
            <a:srgbClr val="0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011680" cy="420624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137"/>
                </a:solidFill>
                <a:latin typeface="Calibri"/>
              </a:rPr>
              <a:t>EIS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EIS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C2A0"/>
                </a:solidFill>
                <a:latin typeface="Cambria"/>
              </a:rPr>
              <a:t>Emulator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FC3F7"/>
                </a:solidFill>
                <a:latin typeface="Calibri"/>
              </a:rPr>
              <a:t>STM32F303CCT6 Simulation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7FA0"/>
                </a:solidFill>
                <a:latin typeface="Calibri"/>
              </a:rPr>
              <a:t>for Electrochemical Impedance Spectroscopy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51960"/>
            <a:ext cx="2377440" cy="8229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2793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C3F7"/>
                </a:solidFill>
                <a:latin typeface="Calibri"/>
              </a:rPr>
              <a:t>10 Hz – 100 kHz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908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7FA0"/>
                </a:solidFill>
                <a:latin typeface="Calibri"/>
              </a:rPr>
              <a:t>Sweep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7FA0"/>
                </a:solidFill>
                <a:latin typeface="Calibri"/>
              </a:rPr>
              <a:t>Python / PyQt5 / NumPy / Matplotlib  ·  KiCad PCB5  ·  Master's 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26" y="471949"/>
            <a:ext cx="11993059" cy="599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66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71" y="99696"/>
            <a:ext cx="11611005" cy="66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8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mbria"/>
              </a:rPr>
              <a:t>Simulated DUT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1463040"/>
            <a:ext cx="822960" cy="822960"/>
          </a:xfrm>
          <a:prstGeom prst="ellipse">
            <a:avLst/>
          </a:prstGeom>
          <a:solidFill>
            <a:srgbClr val="19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801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137"/>
                </a:solidFill>
                <a:latin typeface="Cambria"/>
              </a:rPr>
              <a:t>Resistor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0512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7FA0"/>
                </a:solidFill>
                <a:latin typeface="Calibri"/>
              </a:rPr>
              <a:t>Pure resistive element
Z(f) = R  (frequency-independent)
Used for baseline calibration.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09728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37960" y="1463040"/>
            <a:ext cx="822960" cy="822960"/>
          </a:xfrm>
          <a:prstGeom prst="ellipse">
            <a:avLst/>
          </a:prstGeom>
          <a:solidFill>
            <a:srgbClr val="19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4630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2801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137"/>
                </a:solidFill>
                <a:latin typeface="Cambria"/>
              </a:rPr>
              <a:t>RC 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810512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7FA0"/>
                </a:solidFill>
                <a:latin typeface="Calibri"/>
              </a:rPr>
              <a:t>Resistor parallel with capacitor
Z = R / (1 + jωRC)
Models simple electrode response.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8640" y="4023360"/>
            <a:ext cx="822960" cy="822960"/>
          </a:xfrm>
          <a:prstGeom prst="ellipse">
            <a:avLst/>
          </a:prstGeom>
          <a:solidFill>
            <a:srgbClr val="0A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Zw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404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137"/>
                </a:solidFill>
                <a:latin typeface="Cambria"/>
              </a:rPr>
              <a:t>Randles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370832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7FA0"/>
                </a:solidFill>
                <a:latin typeface="Calibri"/>
              </a:rPr>
              <a:t>Rs + (Rct ∥ Cdl) + Warburg σ
Full electrochemical interface model
Parameterise Rs, Rct, Cdl, σ.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65760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37960" y="4023360"/>
            <a:ext cx="822960" cy="822960"/>
          </a:xfrm>
          <a:prstGeom prst="ellipse">
            <a:avLst/>
          </a:prstGeom>
          <a:solidFill>
            <a:srgbClr val="0A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0233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8404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137"/>
                </a:solidFill>
                <a:latin typeface="Cambria"/>
              </a:rPr>
              <a:t>Custom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370832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7FA0"/>
                </a:solidFill>
                <a:latin typeface="Calibri"/>
              </a:rPr>
              <a:t>Load freq / Re(Z) / Im(Z) table
Log-frequency interpolation
Any measured or simulated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mbria"/>
              </a:rPr>
              <a:t>Toolbar Controls &amp; UART Protocol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6583680"/>
              </a:tblGrid>
              <a:tr h="5394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Button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UART Command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Connect / Disconnect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(internal)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Opens the in-process SimWorker link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▶  Start 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Begins frequency sweep, clears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■  Stop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STOP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Halts sweep; no deadlock via queue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Returns IDLE/RUNNING + config + flash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Flash status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FLASH_STATUS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Reports flash record count vs. capacity (576 max)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Dump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DUMP_FLASH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Streams all stored sweep records (FLASH_DATA,...)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Erase flash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ERASE_FLASH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Clears W25Q32 flash log (confirmation required)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Export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(local)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Saves current sweep to a .csv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Clear plots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(local)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Resets all plot data and the point counter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137"/>
                </a:solidFill>
                <a:latin typeface="Cambria"/>
              </a:rPr>
              <a:t>PCB5 Analog Front-End — Editable Components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63040"/>
                <a:gridCol w="4754880"/>
                <a:gridCol w="4297680"/>
              </a:tblGrid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 in circuit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Effect of changing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A6A52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1 kΩ (Rf)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TIA feedback resistor — converts current to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Scales |Z|; must match GUI Rf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A6A52"/>
                          </a:solidFill>
                          <a:latin typeface="Calibri"/>
                        </a:rPr>
                        <a:t>C11</a:t>
                      </a:r>
                    </a:p>
                  </a:txBody>
                  <a:tcPr>
                    <a:solidFill>
                      <a:srgbClr val="E4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3.3 nF</a:t>
                      </a:r>
                    </a:p>
                  </a:txBody>
                  <a:tcPr>
                    <a:solidFill>
                      <a:srgbClr val="E4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Feedback cap in parallel with R5</a:t>
                      </a:r>
                    </a:p>
                  </a:txBody>
                  <a:tcPr>
                    <a:solidFill>
                      <a:srgbClr val="E4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Limits bandwidth; phase error at high f</a:t>
                      </a:r>
                    </a:p>
                  </a:txBody>
                  <a:tcPr>
                    <a:solidFill>
                      <a:srgbClr val="E4F2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76A8"/>
                          </a:solidFill>
                          <a:latin typeface="Calibri"/>
                        </a:rPr>
                        <a:t>R15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10 kΩ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Bias divider — VREF side (3.3 V → Vbias)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Adjusts TIA virtual ground voltage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976A8"/>
                          </a:solidFill>
                          <a:latin typeface="Calibri"/>
                        </a:rPr>
                        <a:t>R16</a:t>
                      </a:r>
                    </a:p>
                  </a:txBody>
                  <a:tcPr>
                    <a:solidFill>
                      <a:srgbClr val="E4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10 kΩ</a:t>
                      </a:r>
                    </a:p>
                  </a:txBody>
                  <a:tcPr>
                    <a:solidFill>
                      <a:srgbClr val="E4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Bias divider — GND side (Vbias → 0 V)</a:t>
                      </a:r>
                    </a:p>
                  </a:txBody>
                  <a:tcPr>
                    <a:solidFill>
                      <a:srgbClr val="E4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Vbias = 3.3×R16/(R15+R16) = 1.65 V</a:t>
                      </a:r>
                    </a:p>
                  </a:txBody>
                  <a:tcPr>
                    <a:solidFill>
                      <a:srgbClr val="E4F2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B4F00"/>
                          </a:solidFill>
                          <a:latin typeface="Calibri"/>
                        </a:rPr>
                        <a:t>R200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200 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AD9833 output series resistor (current limit)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D2137"/>
                          </a:solidFill>
                          <a:latin typeface="Calibri"/>
                        </a:rPr>
                        <a:t>Small impact on excitation amplitude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38251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B7FA0"/>
                </a:solidFill>
                <a:latin typeface="Calibri"/>
              </a:rPr>
              <a:t>All values are session-only — reset to PCB5 hardware defaults when the emulator closes.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Summary &amp;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6675120" cy="53949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A0"/>
                </a:solidFill>
                <a:latin typeface="Cambria"/>
              </a:rPr>
              <a:t>Key Features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228600" cy="228600"/>
          </a:xfrm>
          <a:prstGeom prst="ellipse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8FF"/>
                </a:solidFill>
                <a:latin typeface="Calibri"/>
              </a:rPr>
              <a:t>Identical PyQt5 GUI to the real STM32 hardware application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377440"/>
            <a:ext cx="228600" cy="228600"/>
          </a:xfrm>
          <a:prstGeom prst="ellipse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8FF"/>
                </a:solidFill>
                <a:latin typeface="Calibri"/>
              </a:rPr>
              <a:t>5 DUT models: Resistor · RC Parallel · Randles Cell · Custom CSV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228600" cy="228600"/>
          </a:xfrm>
          <a:prstGeom prst="ellipse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81635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8FF"/>
                </a:solidFill>
                <a:latin typeface="Calibri"/>
              </a:rPr>
              <a:t>Full UART ASCII protocol faithfully reproduced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74719"/>
            <a:ext cx="228600" cy="228600"/>
          </a:xfrm>
          <a:prstGeom prst="ellipse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364991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8FF"/>
                </a:solidFill>
                <a:latin typeface="Calibri"/>
              </a:rPr>
              <a:t>Simulate Schematic: real KiCad PCB5 view with clickable components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023359"/>
            <a:ext cx="228600" cy="228600"/>
          </a:xfrm>
          <a:prstGeom prst="ellipse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913631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8FF"/>
                </a:solidFill>
                <a:latin typeface="Calibri"/>
              </a:rPr>
              <a:t>Live Bode magnitude, Bode phase, and Nyquist preview plots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572000"/>
            <a:ext cx="228600" cy="228600"/>
          </a:xfrm>
          <a:prstGeom prst="ellipse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46227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8FF"/>
                </a:solidFill>
                <a:latin typeface="Calibri"/>
              </a:rPr>
              <a:t>Configurable sweep speed multiplier and ADC noise level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120640"/>
            <a:ext cx="228600" cy="228600"/>
          </a:xfrm>
          <a:prstGeom prst="ellipse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501091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8FF"/>
                </a:solidFill>
                <a:latin typeface="Calibri"/>
              </a:rPr>
              <a:t>Flash log simulation (576 records · Dump · Erase)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669280"/>
            <a:ext cx="228600" cy="228600"/>
          </a:xfrm>
          <a:prstGeom prst="ellipse">
            <a:avLst/>
          </a:prstGeom>
          <a:solidFill>
            <a:srgbClr val="00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555955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8FF"/>
                </a:solidFill>
                <a:latin typeface="Calibri"/>
              </a:rPr>
              <a:t>Queue-based threading — Stop button never causes GUI freeze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005840"/>
            <a:ext cx="4526280" cy="2423160"/>
          </a:xfrm>
          <a:prstGeom prst="rect">
            <a:avLst/>
          </a:prstGeom>
          <a:solidFill>
            <a:srgbClr val="0A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792" y="1115568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A0"/>
                </a:solidFill>
                <a:latin typeface="Cambria"/>
              </a:rPr>
              <a:t>EIS_Emulator.exe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160020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65 MB  ·  Self-contained, no install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20299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8E8FF"/>
                </a:solidFill>
                <a:latin typeface="Calibri"/>
              </a:rPr>
              <a:t>✓  No Python or KiCad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243230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8E8FF"/>
                </a:solidFill>
                <a:latin typeface="Calibri"/>
              </a:rPr>
              <a:t>✓  Double-click to launch on any Windows 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2834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8E8FF"/>
                </a:solidFill>
                <a:latin typeface="Calibri"/>
              </a:rPr>
              <a:t>✓  Bundled: PyQt5 + NumPy + Matplotlib + KiCad SVG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584448"/>
            <a:ext cx="4526280" cy="237744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79792" y="368503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Cambria"/>
              </a:rPr>
              <a:t>Technology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41605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E8FF"/>
                </a:solidFill>
                <a:latin typeface="Calibri"/>
              </a:rPr>
              <a:t>Python 3.14 + PyInstaller 6.21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45079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E8FF"/>
                </a:solidFill>
                <a:latin typeface="Calibri"/>
              </a:rPr>
              <a:t>PyQt5  (GUI + SVG rendering via QtSvg)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485546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E8FF"/>
                </a:solidFill>
                <a:latin typeface="Calibri"/>
              </a:rPr>
              <a:t>NumPy · Matplotlib (Qt5Agg backend)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520293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E8FF"/>
                </a:solidFill>
                <a:latin typeface="Calibri"/>
              </a:rPr>
              <a:t>KiCad 8 schematic exported as A4 SVG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55504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E8FF"/>
                </a:solidFill>
                <a:latin typeface="Calibri"/>
              </a:rPr>
              <a:t>sim/selftest.py — headless validation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461</Words>
  <Application>Microsoft Office PowerPoint</Application>
  <PresentationFormat>Widescreen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ehsan</cp:lastModifiedBy>
  <cp:revision>2</cp:revision>
  <dcterms:created xsi:type="dcterms:W3CDTF">2013-01-27T09:14:16Z</dcterms:created>
  <dcterms:modified xsi:type="dcterms:W3CDTF">2026-08-03T23:53:40Z</dcterms:modified>
  <cp:category/>
</cp:coreProperties>
</file>