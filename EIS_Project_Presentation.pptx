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5" d="100"/>
          <a:sy n="95" d="100"/>
        </p:scale>
        <p:origin x="342" y="-10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7/2/2026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7/2/2026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F3D"/>
        </a:solidFill>
        <a:effectLst/>
      </p:bgPr>
    </p:bg>
    <p:spTree>
      <p:nvGrpSpPr>
        <p:cNvPr id="1" name=""/>
        <p:cNvGrpSpPr/>
        <p:nvPr/>
      </p:nvGrpSpPr>
      <p:grpSpPr>
        <a:xfrm>
          <a:off x="0" y="0"/>
          <a:ext cx="0" cy="0"/>
          <a:chOff x="0" y="0"/>
          <a:chExt cx="0" cy="0"/>
        </a:xfrm>
      </p:grpSpPr>
      <p:sp>
        <p:nvSpPr>
          <p:cNvPr id="2" name="Oval 1"/>
          <p:cNvSpPr/>
          <p:nvPr/>
        </p:nvSpPr>
        <p:spPr>
          <a:xfrm>
            <a:off x="-1645920" y="-1645920"/>
            <a:ext cx="5029200" cy="5029200"/>
          </a:xfrm>
          <a:prstGeom prst="ellipse">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601200" y="4754880"/>
            <a:ext cx="3657600" cy="3657600"/>
          </a:xfrm>
          <a:prstGeom prst="ellipse">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10360152" cy="1005840"/>
          </a:xfrm>
          <a:prstGeom prst="rect">
            <a:avLst/>
          </a:prstGeom>
          <a:noFill/>
        </p:spPr>
        <p:txBody>
          <a:bodyPr wrap="square">
            <a:spAutoFit/>
          </a:bodyPr>
          <a:lstStyle/>
          <a:p>
            <a:pPr algn="ctr"/>
            <a:r>
              <a:rPr sz="3800" b="1" i="0">
                <a:solidFill>
                  <a:srgbClr val="FFFFFF"/>
                </a:solidFill>
              </a:rPr>
              <a:t>Electrochemical Impedance Spectroscopy</a:t>
            </a:r>
          </a:p>
        </p:txBody>
      </p:sp>
      <p:sp>
        <p:nvSpPr>
          <p:cNvPr id="5" name="TextBox 4"/>
          <p:cNvSpPr txBox="1"/>
          <p:nvPr/>
        </p:nvSpPr>
        <p:spPr>
          <a:xfrm>
            <a:off x="914400" y="2423160"/>
            <a:ext cx="10360152" cy="777240"/>
          </a:xfrm>
          <a:prstGeom prst="rect">
            <a:avLst/>
          </a:prstGeom>
          <a:noFill/>
        </p:spPr>
        <p:txBody>
          <a:bodyPr wrap="square">
            <a:spAutoFit/>
          </a:bodyPr>
          <a:lstStyle/>
          <a:p>
            <a:pPr algn="ctr"/>
            <a:r>
              <a:rPr sz="3000" b="0" i="0">
                <a:solidFill>
                  <a:srgbClr val="00BCD4"/>
                </a:solidFill>
              </a:rPr>
              <a:t>EIS Measurement System</a:t>
            </a:r>
          </a:p>
        </p:txBody>
      </p:sp>
      <p:sp>
        <p:nvSpPr>
          <p:cNvPr id="6" name="Rectangle 5"/>
          <p:cNvSpPr/>
          <p:nvPr/>
        </p:nvSpPr>
        <p:spPr>
          <a:xfrm>
            <a:off x="3931920" y="3291840"/>
            <a:ext cx="4325112"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429000"/>
            <a:ext cx="10360152" cy="457200"/>
          </a:xfrm>
          <a:prstGeom prst="rect">
            <a:avLst/>
          </a:prstGeom>
          <a:noFill/>
        </p:spPr>
        <p:txBody>
          <a:bodyPr wrap="square">
            <a:spAutoFit/>
          </a:bodyPr>
          <a:lstStyle/>
          <a:p>
            <a:pPr algn="ctr"/>
            <a:r>
              <a:rPr sz="1400" b="0" i="1">
                <a:solidFill>
                  <a:srgbClr val="64748B"/>
                </a:solidFill>
              </a:rPr>
              <a:t>Master's Thesis  |  STM32F303CCT6  |  Python Desktop GUI</a:t>
            </a:r>
          </a:p>
        </p:txBody>
      </p:sp>
      <p:sp>
        <p:nvSpPr>
          <p:cNvPr id="8" name="TextBox 7"/>
          <p:cNvSpPr txBox="1"/>
          <p:nvPr/>
        </p:nvSpPr>
        <p:spPr>
          <a:xfrm>
            <a:off x="914400" y="3913632"/>
            <a:ext cx="10360152" cy="457200"/>
          </a:xfrm>
          <a:prstGeom prst="rect">
            <a:avLst/>
          </a:prstGeom>
          <a:noFill/>
        </p:spPr>
        <p:txBody>
          <a:bodyPr wrap="square">
            <a:spAutoFit/>
          </a:bodyPr>
          <a:lstStyle/>
          <a:p>
            <a:pPr algn="ctr"/>
            <a:r>
              <a:rPr sz="1200" b="0" i="0">
                <a:solidFill>
                  <a:srgbClr val="8B9BB4"/>
                </a:solidFill>
              </a:rPr>
              <a:t>Portable swept-sine EIS instrument for electrochemical electrode characterization</a:t>
            </a:r>
          </a:p>
        </p:txBody>
      </p:sp>
      <p:sp>
        <p:nvSpPr>
          <p:cNvPr id="9" name="TextBox 8"/>
          <p:cNvSpPr txBox="1"/>
          <p:nvPr/>
        </p:nvSpPr>
        <p:spPr>
          <a:xfrm>
            <a:off x="365760" y="6355080"/>
            <a:ext cx="11457432" cy="320040"/>
          </a:xfrm>
          <a:prstGeom prst="rect">
            <a:avLst/>
          </a:prstGeom>
          <a:noFill/>
        </p:spPr>
        <p:txBody>
          <a:bodyPr wrap="square">
            <a:spAutoFit/>
          </a:bodyPr>
          <a:lstStyle/>
          <a:p>
            <a:pPr algn="r"/>
            <a:r>
              <a:rPr sz="1100" b="0" i="0">
                <a:solidFill>
                  <a:srgbClr val="64748B"/>
                </a:solidFill>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Project Overview</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A compact USB-controlled EIS instrument for master's thesis electrochemical research</a:t>
            </a:r>
          </a:p>
        </p:txBody>
      </p:sp>
      <p:sp>
        <p:nvSpPr>
          <p:cNvPr id="5" name="TextBox 4"/>
          <p:cNvSpPr txBox="1"/>
          <p:nvPr/>
        </p:nvSpPr>
        <p:spPr>
          <a:xfrm>
            <a:off x="365760" y="1280160"/>
            <a:ext cx="6126480" cy="5303520"/>
          </a:xfrm>
          <a:prstGeom prst="rect">
            <a:avLst/>
          </a:prstGeom>
          <a:noFill/>
        </p:spPr>
        <p:txBody>
          <a:bodyPr wrap="square">
            <a:spAutoFit/>
          </a:bodyPr>
          <a:lstStyle/>
          <a:p>
            <a:pPr algn="l"/>
            <a:r>
              <a:rPr sz="1300" b="1" i="0">
                <a:solidFill>
                  <a:srgbClr val="0F1F3D"/>
                </a:solidFill>
              </a:rPr>
              <a:t>What it is</a:t>
            </a:r>
          </a:p>
          <a:p>
            <a:pPr algn="l"/>
            <a:r>
              <a:rPr sz="1100" b="0" i="0">
                <a:solidFill>
                  <a:srgbClr val="374151"/>
                </a:solidFill>
              </a:rPr>
              <a:t>A portable electrochemical impedance spectroscopy (EIS) instrument built around the STM32F303CCT6 microcontroller. It sweeps a sinusoidal excitation signal across a user-defined frequency range and measures complex impedance at each step.</a:t>
            </a:r>
          </a:p>
          <a:p>
            <a:pPr algn="l"/>
            <a:endParaRPr sz="1100" b="0" i="0">
              <a:solidFill>
                <a:srgbClr val="374151"/>
              </a:solidFill>
            </a:endParaRPr>
          </a:p>
          <a:p>
            <a:pPr algn="l"/>
            <a:r>
              <a:rPr sz="1300" b="1" i="0">
                <a:solidFill>
                  <a:srgbClr val="0F1F3D"/>
                </a:solidFill>
              </a:rPr>
              <a:t>How it works</a:t>
            </a:r>
          </a:p>
          <a:p>
            <a:pPr algn="l"/>
            <a:r>
              <a:rPr sz="1100" b="0" i="0">
                <a:solidFill>
                  <a:srgbClr val="374151"/>
                </a:solidFill>
              </a:rPr>
              <a:t>An AD9833 DDS chip generates the stimulus sine wave. The signal passes through a TIA stage and both the reference and TIA channels are simultaneously digitized by a dual-channel ADC with DMA (256 samples each). A least-squares tone estimator extracts magnitude and phase at the exact measurement frequency.</a:t>
            </a:r>
          </a:p>
          <a:p>
            <a:pPr algn="l"/>
            <a:endParaRPr sz="1100" b="0" i="0">
              <a:solidFill>
                <a:srgbClr val="374151"/>
              </a:solidFill>
            </a:endParaRPr>
          </a:p>
          <a:p>
            <a:pPr algn="l"/>
            <a:r>
              <a:rPr sz="1300" b="1" i="0">
                <a:solidFill>
                  <a:srgbClr val="0F1F3D"/>
                </a:solidFill>
              </a:rPr>
              <a:t>Key outputs</a:t>
            </a:r>
          </a:p>
          <a:p>
            <a:pPr algn="l"/>
            <a:r>
              <a:rPr sz="1100" b="0" i="0">
                <a:solidFill>
                  <a:srgbClr val="374151"/>
                </a:solidFill>
              </a:rPr>
              <a:t>Bode plots (|Z| and phase vs. frequency) and a Nyquist plot (Re(Z) vs. -Im(Z)) are displayed live in the Python desktop GUI. All sweep data is also logged to on-board W25Q32 SPI flash and can be exported as CSV.</a:t>
            </a:r>
          </a:p>
        </p:txBody>
      </p:sp>
      <p:sp>
        <p:nvSpPr>
          <p:cNvPr id="6" name="Rounded Rectangle 5"/>
          <p:cNvSpPr/>
          <p:nvPr/>
        </p:nvSpPr>
        <p:spPr>
          <a:xfrm>
            <a:off x="6949440" y="1280160"/>
            <a:ext cx="4846320" cy="621792"/>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i="0">
                <a:solidFill>
                  <a:srgbClr val="FFFFFF"/>
                </a:solidFill>
              </a:rPr>
              <a:t>PC — Python GUI (PyQt5)</a:t>
            </a:r>
          </a:p>
        </p:txBody>
      </p:sp>
      <p:cxnSp>
        <p:nvCxnSpPr>
          <p:cNvPr id="7" name="Connector 6"/>
          <p:cNvCxnSpPr/>
          <p:nvPr/>
        </p:nvCxnSpPr>
        <p:spPr>
          <a:xfrm>
            <a:off x="9372600" y="1901952"/>
            <a:ext cx="0" cy="210312"/>
          </a:xfrm>
          <a:prstGeom prst="line">
            <a:avLst/>
          </a:prstGeom>
          <a:ln w="25400">
            <a:solidFill>
              <a:srgbClr val="1565C0"/>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949440" y="2359152"/>
            <a:ext cx="4846320" cy="621792"/>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i="0">
                <a:solidFill>
                  <a:srgbClr val="FFFFFF"/>
                </a:solidFill>
              </a:rPr>
              <a:t>USB-UART  (CP2102 Bridge)</a:t>
            </a:r>
          </a:p>
        </p:txBody>
      </p:sp>
      <p:cxnSp>
        <p:nvCxnSpPr>
          <p:cNvPr id="9" name="Connector 8"/>
          <p:cNvCxnSpPr/>
          <p:nvPr/>
        </p:nvCxnSpPr>
        <p:spPr>
          <a:xfrm>
            <a:off x="9372600" y="2980944"/>
            <a:ext cx="0" cy="210312"/>
          </a:xfrm>
          <a:prstGeom prst="line">
            <a:avLst/>
          </a:prstGeom>
          <a:ln w="25400">
            <a:solidFill>
              <a:srgbClr val="1565C0"/>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949440" y="3438144"/>
            <a:ext cx="4846320" cy="621792"/>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i="0">
                <a:solidFill>
                  <a:srgbClr val="FFFFFF"/>
                </a:solidFill>
              </a:rPr>
              <a:t>STM32F303CCT6 Firmware</a:t>
            </a:r>
          </a:p>
        </p:txBody>
      </p:sp>
      <p:cxnSp>
        <p:nvCxnSpPr>
          <p:cNvPr id="11" name="Connector 10"/>
          <p:cNvCxnSpPr/>
          <p:nvPr/>
        </p:nvCxnSpPr>
        <p:spPr>
          <a:xfrm>
            <a:off x="9372600" y="4059936"/>
            <a:ext cx="0" cy="210312"/>
          </a:xfrm>
          <a:prstGeom prst="line">
            <a:avLst/>
          </a:prstGeom>
          <a:ln w="25400">
            <a:solidFill>
              <a:srgbClr val="1565C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949440" y="4517136"/>
            <a:ext cx="4846320" cy="621792"/>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i="0">
                <a:solidFill>
                  <a:srgbClr val="FFFFFF"/>
                </a:solidFill>
              </a:rPr>
              <a:t>AD9833 DDS  -&gt;  Signal Chain</a:t>
            </a:r>
          </a:p>
        </p:txBody>
      </p:sp>
      <p:cxnSp>
        <p:nvCxnSpPr>
          <p:cNvPr id="13" name="Connector 12"/>
          <p:cNvCxnSpPr/>
          <p:nvPr/>
        </p:nvCxnSpPr>
        <p:spPr>
          <a:xfrm>
            <a:off x="9372600" y="5138928"/>
            <a:ext cx="0" cy="210312"/>
          </a:xfrm>
          <a:prstGeom prst="line">
            <a:avLst/>
          </a:prstGeom>
          <a:ln w="25400">
            <a:solidFill>
              <a:srgbClr val="1565C0"/>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949440" y="5596128"/>
            <a:ext cx="4846320" cy="621792"/>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i="0">
                <a:solidFill>
                  <a:srgbClr val="FFFFFF"/>
                </a:solidFill>
              </a:rPr>
              <a:t>ADC + Tone Estimator  -&gt;  Z(f)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EIS Theory &amp; Measurement Principle</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Electrochemical Impedance Spectroscopy — the physics behind the measurement</a:t>
            </a:r>
          </a:p>
        </p:txBody>
      </p:sp>
      <p:sp>
        <p:nvSpPr>
          <p:cNvPr id="5" name="TextBox 4"/>
          <p:cNvSpPr txBox="1"/>
          <p:nvPr/>
        </p:nvSpPr>
        <p:spPr>
          <a:xfrm>
            <a:off x="365760" y="1261872"/>
            <a:ext cx="5486400" cy="5394960"/>
          </a:xfrm>
          <a:prstGeom prst="rect">
            <a:avLst/>
          </a:prstGeom>
          <a:noFill/>
        </p:spPr>
        <p:txBody>
          <a:bodyPr wrap="square">
            <a:spAutoFit/>
          </a:bodyPr>
          <a:lstStyle/>
          <a:p>
            <a:pPr algn="l"/>
            <a:r>
              <a:rPr sz="1300" b="1" i="0">
                <a:solidFill>
                  <a:srgbClr val="0F1F3D"/>
                </a:solidFill>
              </a:rPr>
              <a:t>What is Impedance?</a:t>
            </a:r>
          </a:p>
          <a:p>
            <a:pPr algn="l"/>
            <a:r>
              <a:rPr sz="1100" b="0" i="0">
                <a:solidFill>
                  <a:srgbClr val="374151"/>
                </a:solidFill>
              </a:rPr>
              <a:t>Impedance Z(f) = V(f) / I(f) — the complex ratio of voltage to current at each frequency. It extends resistance to the complex plane: Z = Re(Z) + j·Im(Z).</a:t>
            </a:r>
          </a:p>
          <a:p>
            <a:pPr algn="l"/>
            <a:endParaRPr sz="1100" b="0" i="0">
              <a:solidFill>
                <a:srgbClr val="374151"/>
              </a:solidFill>
            </a:endParaRPr>
          </a:p>
          <a:p>
            <a:pPr algn="l"/>
            <a:r>
              <a:rPr sz="1300" b="1" i="0">
                <a:solidFill>
                  <a:srgbClr val="0F1F3D"/>
                </a:solidFill>
              </a:rPr>
              <a:t>Swept-Sine Method</a:t>
            </a:r>
          </a:p>
          <a:p>
            <a:pPr algn="l"/>
            <a:r>
              <a:rPr sz="1100" b="0" i="0">
                <a:solidFill>
                  <a:srgbClr val="374151"/>
                </a:solidFill>
              </a:rPr>
              <a:t>A pure sine wave at frequency f is applied to the electrochemical cell. The resulting current (or voltage across a reference resistor) is measured. Magnitude |Z| = V_exc / I_resp and phase angle phi = angle(V) - angle(I) are extracted at each frequency step.</a:t>
            </a:r>
          </a:p>
          <a:p>
            <a:pPr algn="l"/>
            <a:endParaRPr sz="1100" b="0" i="0">
              <a:solidFill>
                <a:srgbClr val="374151"/>
              </a:solidFill>
            </a:endParaRPr>
          </a:p>
          <a:p>
            <a:pPr algn="l"/>
            <a:r>
              <a:rPr sz="1300" b="1" i="0">
                <a:solidFill>
                  <a:srgbClr val="0F1F3D"/>
                </a:solidFill>
              </a:rPr>
              <a:t>Randles Circuit Model</a:t>
            </a:r>
          </a:p>
          <a:p>
            <a:pPr algn="l"/>
            <a:r>
              <a:rPr sz="1100" b="0" i="0">
                <a:solidFill>
                  <a:srgbClr val="374151"/>
                </a:solidFill>
              </a:rPr>
              <a:t>A simple electrochemical cell can be modelled as: solution resistance Rs in series with the parallel combination of double-layer capacitance Cdl and charge-transfer resistance Rct. This gives a characteristic semicircle on the Nyquist plot.</a:t>
            </a:r>
          </a:p>
          <a:p>
            <a:pPr algn="l"/>
            <a:endParaRPr sz="1100" b="0" i="0">
              <a:solidFill>
                <a:srgbClr val="374151"/>
              </a:solidFill>
            </a:endParaRPr>
          </a:p>
          <a:p>
            <a:pPr algn="l"/>
            <a:r>
              <a:rPr sz="1300" b="1" i="0">
                <a:solidFill>
                  <a:srgbClr val="0F1F3D"/>
                </a:solidFill>
              </a:rPr>
              <a:t>Applications</a:t>
            </a:r>
          </a:p>
          <a:p>
            <a:pPr algn="l"/>
            <a:r>
              <a:rPr sz="1100" b="0" i="0">
                <a:solidFill>
                  <a:srgbClr val="374151"/>
                </a:solidFill>
              </a:rPr>
              <a:t>Battery state-of-health, corrosion monitoring, biosensor characterization, membrane impedance, supercapacitor analysis.</a:t>
            </a:r>
          </a:p>
        </p:txBody>
      </p:sp>
      <p:sp>
        <p:nvSpPr>
          <p:cNvPr id="6" name="Rounded Rectangle 5"/>
          <p:cNvSpPr/>
          <p:nvPr/>
        </p:nvSpPr>
        <p:spPr>
          <a:xfrm>
            <a:off x="6126480" y="1261872"/>
            <a:ext cx="5669280" cy="2560320"/>
          </a:xfrm>
          <a:prstGeom prst="roundRect">
            <a:avLst/>
          </a:prstGeom>
          <a:solidFill>
            <a:srgbClr val="FFFFFF"/>
          </a:solidFill>
          <a:ln w="127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09360" y="1325880"/>
            <a:ext cx="5303520" cy="320040"/>
          </a:xfrm>
          <a:prstGeom prst="rect">
            <a:avLst/>
          </a:prstGeom>
          <a:noFill/>
        </p:spPr>
        <p:txBody>
          <a:bodyPr wrap="square">
            <a:spAutoFit/>
          </a:bodyPr>
          <a:lstStyle/>
          <a:p>
            <a:pPr algn="ctr"/>
            <a:r>
              <a:rPr sz="1200" b="1" i="0">
                <a:solidFill>
                  <a:srgbClr val="0F1F3D"/>
                </a:solidFill>
              </a:rPr>
              <a:t>Randles Equivalent Circuit</a:t>
            </a:r>
          </a:p>
        </p:txBody>
      </p:sp>
      <p:sp>
        <p:nvSpPr>
          <p:cNvPr id="8" name="Rounded Rectangle 7"/>
          <p:cNvSpPr/>
          <p:nvPr/>
        </p:nvSpPr>
        <p:spPr>
          <a:xfrm>
            <a:off x="6492240" y="1783080"/>
            <a:ext cx="1371600" cy="109728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FFFFFF"/>
                </a:solidFill>
              </a:rPr>
              <a:t>Rs
(Solution
Resistance)</a:t>
            </a:r>
          </a:p>
        </p:txBody>
      </p:sp>
      <p:sp>
        <p:nvSpPr>
          <p:cNvPr id="9" name="Rounded Rectangle 8"/>
          <p:cNvSpPr/>
          <p:nvPr/>
        </p:nvSpPr>
        <p:spPr>
          <a:xfrm>
            <a:off x="8229600" y="1664208"/>
            <a:ext cx="1371600" cy="82296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Cdl
(Double-layer
Capacitance)</a:t>
            </a:r>
          </a:p>
        </p:txBody>
      </p:sp>
      <p:sp>
        <p:nvSpPr>
          <p:cNvPr id="10" name="Rounded Rectangle 9"/>
          <p:cNvSpPr/>
          <p:nvPr/>
        </p:nvSpPr>
        <p:spPr>
          <a:xfrm>
            <a:off x="8229600" y="2560320"/>
            <a:ext cx="1371600" cy="822960"/>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Rct
(Charge-transfer
Resistance)</a:t>
            </a:r>
          </a:p>
        </p:txBody>
      </p:sp>
      <p:cxnSp>
        <p:nvCxnSpPr>
          <p:cNvPr id="11" name="Connector 10"/>
          <p:cNvCxnSpPr/>
          <p:nvPr/>
        </p:nvCxnSpPr>
        <p:spPr>
          <a:xfrm flipV="1">
            <a:off x="7863840" y="2075688"/>
            <a:ext cx="365760" cy="256032"/>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863840" y="2331720"/>
            <a:ext cx="365760" cy="640080"/>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601200" y="2075688"/>
            <a:ext cx="365760" cy="256032"/>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9601200" y="2331720"/>
            <a:ext cx="365760" cy="640080"/>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149840" y="1783080"/>
            <a:ext cx="1371600" cy="1097280"/>
          </a:xfrm>
          <a:prstGeom prst="roundRect">
            <a:avLst/>
          </a:prstGeom>
          <a:solidFill>
            <a:srgbClr val="4E342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Electrode / DUT</a:t>
            </a:r>
          </a:p>
        </p:txBody>
      </p:sp>
      <p:sp>
        <p:nvSpPr>
          <p:cNvPr id="16" name="TextBox 15"/>
          <p:cNvSpPr txBox="1"/>
          <p:nvPr/>
        </p:nvSpPr>
        <p:spPr>
          <a:xfrm>
            <a:off x="6355080" y="2331720"/>
            <a:ext cx="914400" cy="256032"/>
          </a:xfrm>
          <a:prstGeom prst="rect">
            <a:avLst/>
          </a:prstGeom>
          <a:noFill/>
        </p:spPr>
        <p:txBody>
          <a:bodyPr wrap="square">
            <a:spAutoFit/>
          </a:bodyPr>
          <a:lstStyle/>
          <a:p>
            <a:pPr algn="l"/>
            <a:r>
              <a:rPr sz="800" b="0" i="1">
                <a:solidFill>
                  <a:srgbClr val="64748B"/>
                </a:solidFill>
              </a:rPr>
              <a:t>Current I</a:t>
            </a:r>
          </a:p>
        </p:txBody>
      </p:sp>
      <p:sp>
        <p:nvSpPr>
          <p:cNvPr id="17" name="Rounded Rectangle 16"/>
          <p:cNvSpPr/>
          <p:nvPr/>
        </p:nvSpPr>
        <p:spPr>
          <a:xfrm>
            <a:off x="6126480" y="3977639"/>
            <a:ext cx="5669280" cy="2560320"/>
          </a:xfrm>
          <a:prstGeom prst="roundRect">
            <a:avLst/>
          </a:prstGeom>
          <a:solidFill>
            <a:srgbClr val="FFFFFF"/>
          </a:solidFill>
          <a:ln w="127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0" y="4041648"/>
            <a:ext cx="5303520" cy="320040"/>
          </a:xfrm>
          <a:prstGeom prst="rect">
            <a:avLst/>
          </a:prstGeom>
          <a:noFill/>
        </p:spPr>
        <p:txBody>
          <a:bodyPr wrap="square">
            <a:spAutoFit/>
          </a:bodyPr>
          <a:lstStyle/>
          <a:p>
            <a:pPr algn="ctr"/>
            <a:r>
              <a:rPr sz="1200" b="1" i="0">
                <a:solidFill>
                  <a:srgbClr val="0F1F3D"/>
                </a:solidFill>
              </a:rPr>
              <a:t>Nyquist Plot — Randles Semicircle</a:t>
            </a:r>
          </a:p>
        </p:txBody>
      </p:sp>
      <p:sp>
        <p:nvSpPr>
          <p:cNvPr id="19" name="TextBox 18"/>
          <p:cNvSpPr txBox="1"/>
          <p:nvPr/>
        </p:nvSpPr>
        <p:spPr>
          <a:xfrm>
            <a:off x="6400800" y="6217920"/>
            <a:ext cx="1828800" cy="274320"/>
          </a:xfrm>
          <a:prstGeom prst="rect">
            <a:avLst/>
          </a:prstGeom>
          <a:noFill/>
        </p:spPr>
        <p:txBody>
          <a:bodyPr wrap="square">
            <a:spAutoFit/>
          </a:bodyPr>
          <a:lstStyle/>
          <a:p>
            <a:pPr algn="l"/>
            <a:r>
              <a:rPr sz="900" b="0" i="1">
                <a:solidFill>
                  <a:srgbClr val="64748B"/>
                </a:solidFill>
              </a:rPr>
              <a:t>Re(Z) -&gt;</a:t>
            </a:r>
          </a:p>
        </p:txBody>
      </p:sp>
      <p:sp>
        <p:nvSpPr>
          <p:cNvPr id="20" name="TextBox 19"/>
          <p:cNvSpPr txBox="1"/>
          <p:nvPr/>
        </p:nvSpPr>
        <p:spPr>
          <a:xfrm>
            <a:off x="6126480" y="4389120"/>
            <a:ext cx="914400" cy="274320"/>
          </a:xfrm>
          <a:prstGeom prst="rect">
            <a:avLst/>
          </a:prstGeom>
          <a:noFill/>
        </p:spPr>
        <p:txBody>
          <a:bodyPr wrap="square">
            <a:spAutoFit/>
          </a:bodyPr>
          <a:lstStyle/>
          <a:p>
            <a:pPr algn="l"/>
            <a:r>
              <a:rPr sz="900" b="0" i="1">
                <a:solidFill>
                  <a:srgbClr val="64748B"/>
                </a:solidFill>
              </a:rPr>
              <a:t>^ -Im(Z)</a:t>
            </a:r>
          </a:p>
        </p:txBody>
      </p:sp>
      <p:sp>
        <p:nvSpPr>
          <p:cNvPr id="21" name="Rounded Rectangle 20"/>
          <p:cNvSpPr/>
          <p:nvPr/>
        </p:nvSpPr>
        <p:spPr>
          <a:xfrm>
            <a:off x="6675120" y="5806440"/>
            <a:ext cx="548640" cy="45720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i="0">
                <a:solidFill>
                  <a:srgbClr val="FFFFFF"/>
                </a:solidFill>
              </a:rPr>
              <a:t>Rs</a:t>
            </a:r>
          </a:p>
        </p:txBody>
      </p:sp>
      <p:sp>
        <p:nvSpPr>
          <p:cNvPr id="22" name="Rounded Rectangle 21"/>
          <p:cNvSpPr/>
          <p:nvPr/>
        </p:nvSpPr>
        <p:spPr>
          <a:xfrm>
            <a:off x="10698480" y="5806440"/>
            <a:ext cx="1005840" cy="457200"/>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i="0">
                <a:solidFill>
                  <a:srgbClr val="FFFFFF"/>
                </a:solidFill>
              </a:rPr>
              <a:t>Rs+Rct</a:t>
            </a:r>
          </a:p>
        </p:txBody>
      </p:sp>
      <p:sp>
        <p:nvSpPr>
          <p:cNvPr id="23" name="TextBox 22"/>
          <p:cNvSpPr txBox="1"/>
          <p:nvPr/>
        </p:nvSpPr>
        <p:spPr>
          <a:xfrm>
            <a:off x="7498079" y="5852160"/>
            <a:ext cx="2926080" cy="320040"/>
          </a:xfrm>
          <a:prstGeom prst="rect">
            <a:avLst/>
          </a:prstGeom>
          <a:noFill/>
        </p:spPr>
        <p:txBody>
          <a:bodyPr wrap="square">
            <a:spAutoFit/>
          </a:bodyPr>
          <a:lstStyle/>
          <a:p>
            <a:pPr algn="ctr"/>
            <a:r>
              <a:rPr sz="900" b="0" i="0">
                <a:solidFill>
                  <a:srgbClr val="00897B"/>
                </a:solidFill>
              </a:rPr>
              <a:t>&lt;--- Rct diameter ---&gt;</a:t>
            </a:r>
          </a:p>
        </p:txBody>
      </p:sp>
      <p:cxnSp>
        <p:nvCxnSpPr>
          <p:cNvPr id="24" name="Connector 23"/>
          <p:cNvCxnSpPr/>
          <p:nvPr/>
        </p:nvCxnSpPr>
        <p:spPr>
          <a:xfrm flipV="1">
            <a:off x="6949440" y="4572000"/>
            <a:ext cx="1554480" cy="1234440"/>
          </a:xfrm>
          <a:prstGeom prst="line">
            <a:avLst/>
          </a:prstGeom>
          <a:ln w="19050">
            <a:solidFill>
              <a:srgbClr val="00897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503920" y="4572000"/>
            <a:ext cx="2194560" cy="1234440"/>
          </a:xfrm>
          <a:prstGeom prst="line">
            <a:avLst/>
          </a:prstGeom>
          <a:ln w="19050">
            <a:solidFill>
              <a:srgbClr val="00897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System Specifications &amp; Key Parameters</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Hardware and software performance figures for the EIS instrument</a:t>
            </a:r>
          </a:p>
        </p:txBody>
      </p:sp>
      <p:sp>
        <p:nvSpPr>
          <p:cNvPr id="5" name="Rounded Rectangle 4"/>
          <p:cNvSpPr/>
          <p:nvPr/>
        </p:nvSpPr>
        <p:spPr>
          <a:xfrm>
            <a:off x="365760" y="1280160"/>
            <a:ext cx="5682996" cy="50292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Frequency range</a:t>
            </a:r>
          </a:p>
          <a:p>
            <a:pPr algn="ctr"/>
            <a:r>
              <a:rPr sz="900" b="0">
                <a:solidFill>
                  <a:srgbClr val="FFFFFF"/>
                </a:solidFill>
              </a:rPr>
              <a:t>1 Hz – 100 kHz (software limit; ADC Nyquist ~121 kHz)</a:t>
            </a:r>
          </a:p>
        </p:txBody>
      </p:sp>
      <p:sp>
        <p:nvSpPr>
          <p:cNvPr id="6" name="Rounded Rectangle 5"/>
          <p:cNvSpPr/>
          <p:nvPr/>
        </p:nvSpPr>
        <p:spPr>
          <a:xfrm>
            <a:off x="6140196" y="1280160"/>
            <a:ext cx="5682996" cy="502920"/>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ADC sample rate</a:t>
            </a:r>
          </a:p>
          <a:p>
            <a:pPr algn="ctr"/>
            <a:r>
              <a:rPr sz="900" b="0">
                <a:solidFill>
                  <a:srgbClr val="FFFFFF"/>
                </a:solidFill>
              </a:rPr>
              <a:t>72 MHz / ((61.5+12.5)x2) = 486 kHz total; 243 kHz per channel</a:t>
            </a:r>
          </a:p>
        </p:txBody>
      </p:sp>
      <p:sp>
        <p:nvSpPr>
          <p:cNvPr id="7" name="Rounded Rectangle 6"/>
          <p:cNvSpPr/>
          <p:nvPr/>
        </p:nvSpPr>
        <p:spPr>
          <a:xfrm>
            <a:off x="365760" y="1856231"/>
            <a:ext cx="5682996" cy="50292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Samples per step</a:t>
            </a:r>
          </a:p>
          <a:p>
            <a:pPr algn="ctr"/>
            <a:r>
              <a:rPr sz="900" b="0">
                <a:solidFill>
                  <a:srgbClr val="FFFFFF"/>
                </a:solidFill>
              </a:rPr>
              <a:t>256 per channel (512 ADC words per frequency point via DMA)</a:t>
            </a:r>
          </a:p>
        </p:txBody>
      </p:sp>
      <p:sp>
        <p:nvSpPr>
          <p:cNvPr id="8" name="Rounded Rectangle 7"/>
          <p:cNvSpPr/>
          <p:nvPr/>
        </p:nvSpPr>
        <p:spPr>
          <a:xfrm>
            <a:off x="6140196" y="1856231"/>
            <a:ext cx="5682996" cy="50292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DDS resolution</a:t>
            </a:r>
          </a:p>
          <a:p>
            <a:pPr algn="ctr"/>
            <a:r>
              <a:rPr sz="900" b="0">
                <a:solidFill>
                  <a:srgbClr val="FFFFFF"/>
                </a:solidFill>
              </a:rPr>
              <a:t>25 MHz / 2^28 = 0.093 Hz  (AD9833 with 25 MHz MCLK)</a:t>
            </a:r>
          </a:p>
        </p:txBody>
      </p:sp>
      <p:sp>
        <p:nvSpPr>
          <p:cNvPr id="9" name="Rounded Rectangle 8"/>
          <p:cNvSpPr/>
          <p:nvPr/>
        </p:nvSpPr>
        <p:spPr>
          <a:xfrm>
            <a:off x="365760" y="2432304"/>
            <a:ext cx="5682996" cy="502920"/>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Impedance formula</a:t>
            </a:r>
          </a:p>
          <a:p>
            <a:pPr algn="ctr"/>
            <a:r>
              <a:rPr sz="900" b="0">
                <a:solidFill>
                  <a:srgbClr val="FFFFFF"/>
                </a:solidFill>
              </a:rPr>
              <a:t>Z = (|V_ref| / |V_sig|) x Rf  ;  phi = angle(V_sig) - angle(V_ref)</a:t>
            </a:r>
          </a:p>
        </p:txBody>
      </p:sp>
      <p:sp>
        <p:nvSpPr>
          <p:cNvPr id="10" name="Rounded Rectangle 9"/>
          <p:cNvSpPr/>
          <p:nvPr/>
        </p:nvSpPr>
        <p:spPr>
          <a:xfrm>
            <a:off x="6140196" y="2432304"/>
            <a:ext cx="5682996" cy="502920"/>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Flash storage</a:t>
            </a:r>
          </a:p>
          <a:p>
            <a:pPr algn="ctr"/>
            <a:r>
              <a:rPr sz="900" b="0">
                <a:solidFill>
                  <a:srgbClr val="FFFFFF"/>
                </a:solidFill>
              </a:rPr>
              <a:t>~390 records in 16 KB log region (4 x 4 KB sectors of W25Q32)</a:t>
            </a:r>
          </a:p>
        </p:txBody>
      </p:sp>
      <p:sp>
        <p:nvSpPr>
          <p:cNvPr id="11" name="Rounded Rectangle 10"/>
          <p:cNvSpPr/>
          <p:nvPr/>
        </p:nvSpPr>
        <p:spPr>
          <a:xfrm>
            <a:off x="365760" y="3008376"/>
            <a:ext cx="5682996" cy="50292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UART protocol</a:t>
            </a:r>
          </a:p>
          <a:p>
            <a:pPr algn="ctr"/>
            <a:r>
              <a:rPr sz="900" b="0">
                <a:solidFill>
                  <a:srgbClr val="FFFFFF"/>
                </a:solidFill>
              </a:rPr>
              <a:t>115 200 baud, 8N1, ASCII line protocol (CR+LF terminated)</a:t>
            </a:r>
          </a:p>
        </p:txBody>
      </p:sp>
      <p:sp>
        <p:nvSpPr>
          <p:cNvPr id="12" name="Rounded Rectangle 11"/>
          <p:cNvSpPr/>
          <p:nvPr/>
        </p:nvSpPr>
        <p:spPr>
          <a:xfrm>
            <a:off x="6140196" y="3008376"/>
            <a:ext cx="5682996" cy="502920"/>
          </a:xfrm>
          <a:prstGeom prst="roundRect">
            <a:avLst/>
          </a:prstGeom>
          <a:solidFill>
            <a:srgbClr val="4E342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Supply voltage</a:t>
            </a:r>
          </a:p>
          <a:p>
            <a:pPr algn="ctr"/>
            <a:r>
              <a:rPr sz="900" b="0">
                <a:solidFill>
                  <a:srgbClr val="FFFFFF"/>
                </a:solidFill>
              </a:rPr>
              <a:t>USB-C 5 V -&gt; MCP1700 LDO -&gt; 3.3 V  (250 mA max)</a:t>
            </a:r>
          </a:p>
        </p:txBody>
      </p:sp>
      <p:sp>
        <p:nvSpPr>
          <p:cNvPr id="13" name="Rounded Rectangle 12"/>
          <p:cNvSpPr/>
          <p:nvPr/>
        </p:nvSpPr>
        <p:spPr>
          <a:xfrm>
            <a:off x="365760" y="3584448"/>
            <a:ext cx="5682996" cy="502920"/>
          </a:xfrm>
          <a:prstGeom prst="round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Reference voltage</a:t>
            </a:r>
          </a:p>
          <a:p>
            <a:pPr algn="ctr"/>
            <a:r>
              <a:rPr sz="900" b="0">
                <a:solidFill>
                  <a:srgbClr val="FFFFFF"/>
                </a:solidFill>
              </a:rPr>
              <a:t>ADR4533BRZ 3.3 V precision ref for STM32 VDDA and VREF+</a:t>
            </a:r>
          </a:p>
        </p:txBody>
      </p:sp>
      <p:sp>
        <p:nvSpPr>
          <p:cNvPr id="14" name="Rounded Rectangle 13"/>
          <p:cNvSpPr/>
          <p:nvPr/>
        </p:nvSpPr>
        <p:spPr>
          <a:xfrm>
            <a:off x="6140196" y="3584448"/>
            <a:ext cx="5682996" cy="50292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System clock</a:t>
            </a:r>
          </a:p>
          <a:p>
            <a:pPr algn="ctr"/>
            <a:r>
              <a:rPr sz="900" b="0">
                <a:solidFill>
                  <a:srgbClr val="FFFFFF"/>
                </a:solidFill>
              </a:rPr>
              <a:t>8 MHz HSE crystal -&gt; STM32 PLL x9 = 72 MHz</a:t>
            </a:r>
          </a:p>
        </p:txBody>
      </p:sp>
      <p:sp>
        <p:nvSpPr>
          <p:cNvPr id="15" name="Rounded Rectangle 14"/>
          <p:cNvSpPr/>
          <p:nvPr/>
        </p:nvSpPr>
        <p:spPr>
          <a:xfrm>
            <a:off x="365760" y="4160520"/>
            <a:ext cx="5682996" cy="5029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SPI clock</a:t>
            </a:r>
          </a:p>
          <a:p>
            <a:pPr algn="ctr"/>
            <a:r>
              <a:rPr sz="900" b="0">
                <a:solidFill>
                  <a:srgbClr val="FFFFFF"/>
                </a:solidFill>
              </a:rPr>
              <a:t>36 MHz (SPI1 prescaler /2 from 72 MHz for AD9833 and W25Q32)</a:t>
            </a:r>
          </a:p>
        </p:txBody>
      </p:sp>
      <p:sp>
        <p:nvSpPr>
          <p:cNvPr id="16" name="Rounded Rectangle 15"/>
          <p:cNvSpPr/>
          <p:nvPr/>
        </p:nvSpPr>
        <p:spPr>
          <a:xfrm>
            <a:off x="6140196" y="4160520"/>
            <a:ext cx="5682996" cy="50292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Phase accuracy</a:t>
            </a:r>
          </a:p>
          <a:p>
            <a:pPr algn="ctr"/>
            <a:r>
              <a:rPr sz="900" b="0">
                <a:solidFill>
                  <a:srgbClr val="FFFFFF"/>
                </a:solidFill>
              </a:rPr>
              <a:t>Determined by ADC sample timing precision and 486 kHz sample rate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Python Desktop GUI</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PyQt5  |  Matplotlib  |  PySerial  |  NumPy — cross-platform, install via pip</a:t>
            </a:r>
          </a:p>
        </p:txBody>
      </p:sp>
      <p:sp>
        <p:nvSpPr>
          <p:cNvPr id="5" name="TextBox 4"/>
          <p:cNvSpPr txBox="1"/>
          <p:nvPr/>
        </p:nvSpPr>
        <p:spPr>
          <a:xfrm>
            <a:off x="365760" y="1261872"/>
            <a:ext cx="5029200" cy="5394960"/>
          </a:xfrm>
          <a:prstGeom prst="rect">
            <a:avLst/>
          </a:prstGeom>
          <a:noFill/>
        </p:spPr>
        <p:txBody>
          <a:bodyPr wrap="square">
            <a:spAutoFit/>
          </a:bodyPr>
          <a:lstStyle/>
          <a:p>
            <a:pPr algn="l"/>
            <a:r>
              <a:rPr sz="1200" b="1" i="0">
                <a:solidFill>
                  <a:srgbClr val="0F1F3D"/>
                </a:solidFill>
              </a:rPr>
              <a:t>Connection &amp; Control</a:t>
            </a:r>
          </a:p>
          <a:p>
            <a:pPr algn="l"/>
            <a:r>
              <a:rPr sz="1000" b="0" i="0">
                <a:solidFill>
                  <a:srgbClr val="374151"/>
                </a:solidFill>
              </a:rPr>
              <a:t>Port selector, baud, Connect/Disconnect. Start Sweep, Stop, Status, Flash Status, Dump Flash, Erase Flash.</a:t>
            </a:r>
          </a:p>
          <a:p>
            <a:pPr algn="l"/>
            <a:endParaRPr sz="1000" b="0" i="0">
              <a:solidFill>
                <a:srgbClr val="374151"/>
              </a:solidFill>
            </a:endParaRPr>
          </a:p>
          <a:p>
            <a:pPr algn="l"/>
            <a:r>
              <a:rPr sz="1200" b="1" i="0">
                <a:solidFill>
                  <a:srgbClr val="0F1F3D"/>
                </a:solidFill>
              </a:rPr>
              <a:t>Sweep Configuration</a:t>
            </a:r>
          </a:p>
          <a:p>
            <a:pPr algn="l"/>
            <a:r>
              <a:rPr sz="1000" b="0" i="0">
                <a:solidFill>
                  <a:srgbClr val="374151"/>
                </a:solidFill>
              </a:rPr>
              <a:t>Start freq, stop freq, step freq, feedback Rf — applied live via SET_* UART commands.</a:t>
            </a:r>
          </a:p>
          <a:p>
            <a:pPr algn="l"/>
            <a:endParaRPr sz="1000" b="0" i="0">
              <a:solidFill>
                <a:srgbClr val="374151"/>
              </a:solidFill>
            </a:endParaRPr>
          </a:p>
          <a:p>
            <a:pPr algn="l"/>
            <a:r>
              <a:rPr sz="1200" b="1" i="0">
                <a:solidFill>
                  <a:srgbClr val="0F1F3D"/>
                </a:solidFill>
              </a:rPr>
              <a:t>Live Plots</a:t>
            </a:r>
          </a:p>
          <a:p>
            <a:pPr algn="l"/>
            <a:r>
              <a:rPr sz="1000" b="0" i="0">
                <a:solidFill>
                  <a:srgbClr val="374151"/>
                </a:solidFill>
              </a:rPr>
              <a:t>Bode |Z| (log-log), Bode phase (log-x), Nyquist (Re vs -Im) — all update point-by-point during sweep.</a:t>
            </a:r>
          </a:p>
          <a:p>
            <a:pPr algn="l"/>
            <a:endParaRPr sz="1000" b="0" i="0">
              <a:solidFill>
                <a:srgbClr val="374151"/>
              </a:solidFill>
            </a:endParaRPr>
          </a:p>
          <a:p>
            <a:pPr algn="l"/>
            <a:r>
              <a:rPr sz="1200" b="1" i="0">
                <a:solidFill>
                  <a:srgbClr val="0F1F3D"/>
                </a:solidFill>
              </a:rPr>
              <a:t>Status Panel</a:t>
            </a:r>
          </a:p>
          <a:p>
            <a:pPr algn="l"/>
            <a:r>
              <a:rPr sz="1000" b="0" i="0">
                <a:solidFill>
                  <a:srgbClr val="374151"/>
                </a:solidFill>
              </a:rPr>
              <a:t>Live state (IDLE/RUNNING), current frequency, points done, flash record count &amp; capacity.</a:t>
            </a:r>
          </a:p>
          <a:p>
            <a:pPr algn="l"/>
            <a:endParaRPr sz="1000" b="0" i="0">
              <a:solidFill>
                <a:srgbClr val="374151"/>
              </a:solidFill>
            </a:endParaRPr>
          </a:p>
          <a:p>
            <a:pPr algn="l"/>
            <a:r>
              <a:rPr sz="1200" b="1" i="0">
                <a:solidFill>
                  <a:srgbClr val="0F1F3D"/>
                </a:solidFill>
              </a:rPr>
              <a:t>Color-Coded Serial Console</a:t>
            </a:r>
          </a:p>
          <a:p>
            <a:pPr algn="l"/>
            <a:r>
              <a:rPr sz="1000" b="0" i="0">
                <a:solidFill>
                  <a:srgbClr val="374151"/>
                </a:solidFill>
              </a:rPr>
              <a:t>Green = received, Blue = sent, Red = errors. Full UART log visible at all times.</a:t>
            </a:r>
          </a:p>
          <a:p>
            <a:pPr algn="l"/>
            <a:endParaRPr sz="1000" b="0" i="0">
              <a:solidFill>
                <a:srgbClr val="374151"/>
              </a:solidFill>
            </a:endParaRPr>
          </a:p>
          <a:p>
            <a:pPr algn="l"/>
            <a:r>
              <a:rPr sz="1200" b="1" i="0">
                <a:solidFill>
                  <a:srgbClr val="0F1F3D"/>
                </a:solidFill>
              </a:rPr>
              <a:t>Data Export</a:t>
            </a:r>
          </a:p>
          <a:p>
            <a:pPr algn="l"/>
            <a:r>
              <a:rPr sz="1000" b="0" i="0">
                <a:solidFill>
                  <a:srgbClr val="374151"/>
                </a:solidFill>
              </a:rPr>
              <a:t>One-click CSV export: freq, |Z|, phase, Re(Z), Im(Z). Flash dump also populates plots.</a:t>
            </a:r>
          </a:p>
        </p:txBody>
      </p:sp>
      <p:sp>
        <p:nvSpPr>
          <p:cNvPr id="6" name="Rectangle 5"/>
          <p:cNvSpPr/>
          <p:nvPr/>
        </p:nvSpPr>
        <p:spPr>
          <a:xfrm>
            <a:off x="5669280" y="1234440"/>
            <a:ext cx="6217920" cy="5394960"/>
          </a:xfrm>
          <a:prstGeom prst="rect">
            <a:avLst/>
          </a:prstGeom>
          <a:solidFill>
            <a:srgbClr val="DCDCDC"/>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0" y="1234440"/>
            <a:ext cx="6217920" cy="438912"/>
          </a:xfrm>
          <a:prstGeom prst="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42432" y="1344168"/>
            <a:ext cx="6071616" cy="256032"/>
          </a:xfrm>
          <a:prstGeom prst="rect">
            <a:avLst/>
          </a:prstGeom>
          <a:noFill/>
        </p:spPr>
        <p:txBody>
          <a:bodyPr wrap="square">
            <a:spAutoFit/>
          </a:bodyPr>
          <a:lstStyle/>
          <a:p>
            <a:pPr algn="l"/>
            <a:r>
              <a:rPr sz="700" b="0" i="0">
                <a:solidFill>
                  <a:srgbClr val="FFFFFF"/>
                </a:solidFill>
              </a:rPr>
              <a:t>Port: COM5  [Connect]  [Start]  [Stop]  [Status]  [Flash]  [Export]</a:t>
            </a:r>
          </a:p>
        </p:txBody>
      </p:sp>
      <p:sp>
        <p:nvSpPr>
          <p:cNvPr id="9" name="Rectangle 8"/>
          <p:cNvSpPr/>
          <p:nvPr/>
        </p:nvSpPr>
        <p:spPr>
          <a:xfrm>
            <a:off x="5669280" y="1673352"/>
            <a:ext cx="1508760" cy="4956048"/>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24144" y="1709928"/>
            <a:ext cx="1417319" cy="201168"/>
          </a:xfrm>
          <a:prstGeom prst="rect">
            <a:avLst/>
          </a:prstGeom>
          <a:noFill/>
        </p:spPr>
        <p:txBody>
          <a:bodyPr wrap="square">
            <a:spAutoFit/>
          </a:bodyPr>
          <a:lstStyle/>
          <a:p>
            <a:pPr algn="l"/>
            <a:r>
              <a:rPr sz="750" b="1" i="0">
                <a:solidFill>
                  <a:srgbClr val="0F1F3D"/>
                </a:solidFill>
              </a:rPr>
              <a:t>Sweep Config</a:t>
            </a:r>
          </a:p>
        </p:txBody>
      </p:sp>
      <p:sp>
        <p:nvSpPr>
          <p:cNvPr id="11" name="TextBox 10"/>
          <p:cNvSpPr txBox="1"/>
          <p:nvPr/>
        </p:nvSpPr>
        <p:spPr>
          <a:xfrm>
            <a:off x="5742432" y="1929384"/>
            <a:ext cx="1380743" cy="777240"/>
          </a:xfrm>
          <a:prstGeom prst="rect">
            <a:avLst/>
          </a:prstGeom>
          <a:noFill/>
        </p:spPr>
        <p:txBody>
          <a:bodyPr wrap="square">
            <a:spAutoFit/>
          </a:bodyPr>
          <a:lstStyle/>
          <a:p>
            <a:pPr algn="l"/>
            <a:r>
              <a:rPr sz="700" b="0" i="0">
                <a:solidFill>
                  <a:srgbClr val="374151"/>
                </a:solidFill>
              </a:rPr>
              <a:t>Start: 1000 Hz
Stop: 100000 Hz
Step: 1000 Hz
Rf: 10000
[Apply]</a:t>
            </a:r>
          </a:p>
        </p:txBody>
      </p:sp>
      <p:sp>
        <p:nvSpPr>
          <p:cNvPr id="12" name="TextBox 11"/>
          <p:cNvSpPr txBox="1"/>
          <p:nvPr/>
        </p:nvSpPr>
        <p:spPr>
          <a:xfrm>
            <a:off x="5724144" y="2752344"/>
            <a:ext cx="1417319" cy="201168"/>
          </a:xfrm>
          <a:prstGeom prst="rect">
            <a:avLst/>
          </a:prstGeom>
          <a:noFill/>
        </p:spPr>
        <p:txBody>
          <a:bodyPr wrap="square">
            <a:spAutoFit/>
          </a:bodyPr>
          <a:lstStyle/>
          <a:p>
            <a:pPr algn="l"/>
            <a:r>
              <a:rPr sz="750" b="1" i="0">
                <a:solidFill>
                  <a:srgbClr val="0F1F3D"/>
                </a:solidFill>
              </a:rPr>
              <a:t>Live Status</a:t>
            </a:r>
          </a:p>
        </p:txBody>
      </p:sp>
      <p:sp>
        <p:nvSpPr>
          <p:cNvPr id="13" name="TextBox 12"/>
          <p:cNvSpPr txBox="1"/>
          <p:nvPr/>
        </p:nvSpPr>
        <p:spPr>
          <a:xfrm>
            <a:off x="5742432" y="2971800"/>
            <a:ext cx="1380743" cy="685800"/>
          </a:xfrm>
          <a:prstGeom prst="rect">
            <a:avLst/>
          </a:prstGeom>
          <a:noFill/>
        </p:spPr>
        <p:txBody>
          <a:bodyPr wrap="square">
            <a:spAutoFit/>
          </a:bodyPr>
          <a:lstStyle/>
          <a:p>
            <a:pPr algn="l"/>
            <a:r>
              <a:rPr sz="700" b="0" i="0">
                <a:solidFill>
                  <a:srgbClr val="374151"/>
                </a:solidFill>
              </a:rPr>
              <a:t>State: RUNNING
Freq: 5000 Hz
Pts: 4/99
Flash: 4 recs</a:t>
            </a:r>
          </a:p>
        </p:txBody>
      </p:sp>
      <p:sp>
        <p:nvSpPr>
          <p:cNvPr id="14" name="TextBox 13"/>
          <p:cNvSpPr txBox="1"/>
          <p:nvPr/>
        </p:nvSpPr>
        <p:spPr>
          <a:xfrm>
            <a:off x="5724144" y="3703320"/>
            <a:ext cx="1417319" cy="201168"/>
          </a:xfrm>
          <a:prstGeom prst="rect">
            <a:avLst/>
          </a:prstGeom>
          <a:noFill/>
        </p:spPr>
        <p:txBody>
          <a:bodyPr wrap="square">
            <a:spAutoFit/>
          </a:bodyPr>
          <a:lstStyle/>
          <a:p>
            <a:pPr algn="l"/>
            <a:r>
              <a:rPr sz="750" b="1" i="0">
                <a:solidFill>
                  <a:srgbClr val="0F1F3D"/>
                </a:solidFill>
              </a:rPr>
              <a:t>Last Point</a:t>
            </a:r>
          </a:p>
        </p:txBody>
      </p:sp>
      <p:sp>
        <p:nvSpPr>
          <p:cNvPr id="15" name="TextBox 14"/>
          <p:cNvSpPr txBox="1"/>
          <p:nvPr/>
        </p:nvSpPr>
        <p:spPr>
          <a:xfrm>
            <a:off x="5742432" y="3931920"/>
            <a:ext cx="1380743" cy="640080"/>
          </a:xfrm>
          <a:prstGeom prst="rect">
            <a:avLst/>
          </a:prstGeom>
          <a:noFill/>
        </p:spPr>
        <p:txBody>
          <a:bodyPr wrap="square">
            <a:spAutoFit/>
          </a:bodyPr>
          <a:lstStyle/>
          <a:p>
            <a:pPr algn="l"/>
            <a:r>
              <a:rPr sz="700" b="0" i="0">
                <a:solidFill>
                  <a:srgbClr val="374151"/>
                </a:solidFill>
              </a:rPr>
              <a:t>|Z|: 1234 O
Phase: -23.5
Re: 1134 O
Im: -497 O</a:t>
            </a:r>
          </a:p>
        </p:txBody>
      </p:sp>
      <p:sp>
        <p:nvSpPr>
          <p:cNvPr id="16" name="Rectangle 15"/>
          <p:cNvSpPr/>
          <p:nvPr/>
        </p:nvSpPr>
        <p:spPr>
          <a:xfrm>
            <a:off x="7178040" y="1673352"/>
            <a:ext cx="2354580" cy="2775386"/>
          </a:xfrm>
          <a:prstGeom prst="rect">
            <a:avLst/>
          </a:prstGeom>
          <a:solidFill>
            <a:srgbClr val="FFFFFF"/>
          </a:solidFill>
          <a:ln w="508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32903" y="1728216"/>
            <a:ext cx="2263140" cy="182880"/>
          </a:xfrm>
          <a:prstGeom prst="rect">
            <a:avLst/>
          </a:prstGeom>
          <a:noFill/>
        </p:spPr>
        <p:txBody>
          <a:bodyPr wrap="square">
            <a:spAutoFit/>
          </a:bodyPr>
          <a:lstStyle/>
          <a:p>
            <a:pPr algn="l"/>
            <a:r>
              <a:rPr sz="750" b="1" i="0">
                <a:solidFill>
                  <a:srgbClr val="0F1F3D"/>
                </a:solidFill>
              </a:rPr>
              <a:t>Bode |Z|</a:t>
            </a:r>
          </a:p>
        </p:txBody>
      </p:sp>
      <p:cxnSp>
        <p:nvCxnSpPr>
          <p:cNvPr id="18" name="Connector 17"/>
          <p:cNvCxnSpPr/>
          <p:nvPr/>
        </p:nvCxnSpPr>
        <p:spPr>
          <a:xfrm flipV="1">
            <a:off x="7342631" y="2228429"/>
            <a:ext cx="2025397" cy="1804001"/>
          </a:xfrm>
          <a:prstGeom prst="line">
            <a:avLst/>
          </a:prstGeom>
          <a:ln w="15240">
            <a:solidFill>
              <a:srgbClr val="1565C0"/>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9532620" y="1673352"/>
            <a:ext cx="2354580" cy="2775386"/>
          </a:xfrm>
          <a:prstGeom prst="rect">
            <a:avLst/>
          </a:prstGeom>
          <a:solidFill>
            <a:srgbClr val="FFFFFF"/>
          </a:solidFill>
          <a:ln w="508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587484" y="1728216"/>
            <a:ext cx="2263140" cy="182880"/>
          </a:xfrm>
          <a:prstGeom prst="rect">
            <a:avLst/>
          </a:prstGeom>
          <a:noFill/>
        </p:spPr>
        <p:txBody>
          <a:bodyPr wrap="square">
            <a:spAutoFit/>
          </a:bodyPr>
          <a:lstStyle/>
          <a:p>
            <a:pPr algn="l"/>
            <a:r>
              <a:rPr sz="750" b="1" i="0">
                <a:solidFill>
                  <a:srgbClr val="0F1F3D"/>
                </a:solidFill>
              </a:rPr>
              <a:t>Bode Phase</a:t>
            </a:r>
          </a:p>
        </p:txBody>
      </p:sp>
      <p:cxnSp>
        <p:nvCxnSpPr>
          <p:cNvPr id="21" name="Connector 20"/>
          <p:cNvCxnSpPr/>
          <p:nvPr/>
        </p:nvCxnSpPr>
        <p:spPr>
          <a:xfrm>
            <a:off x="9697212" y="2228429"/>
            <a:ext cx="2025396" cy="1804001"/>
          </a:xfrm>
          <a:prstGeom prst="line">
            <a:avLst/>
          </a:prstGeom>
          <a:ln w="15240">
            <a:solidFill>
              <a:srgbClr val="00897B"/>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178040" y="4448738"/>
            <a:ext cx="4709160" cy="1585935"/>
          </a:xfrm>
          <a:prstGeom prst="rect">
            <a:avLst/>
          </a:prstGeom>
          <a:solidFill>
            <a:srgbClr val="FFFFFF"/>
          </a:solidFill>
          <a:ln w="508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32903" y="4494458"/>
            <a:ext cx="4617720" cy="182880"/>
          </a:xfrm>
          <a:prstGeom prst="rect">
            <a:avLst/>
          </a:prstGeom>
          <a:noFill/>
        </p:spPr>
        <p:txBody>
          <a:bodyPr wrap="square">
            <a:spAutoFit/>
          </a:bodyPr>
          <a:lstStyle/>
          <a:p>
            <a:pPr algn="l"/>
            <a:r>
              <a:rPr sz="750" b="1" i="0">
                <a:solidFill>
                  <a:srgbClr val="0F1F3D"/>
                </a:solidFill>
              </a:rPr>
              <a:t>Nyquist</a:t>
            </a:r>
          </a:p>
        </p:txBody>
      </p:sp>
      <p:sp>
        <p:nvSpPr>
          <p:cNvPr id="24" name="Rectangle 23"/>
          <p:cNvSpPr/>
          <p:nvPr/>
        </p:nvSpPr>
        <p:spPr>
          <a:xfrm>
            <a:off x="5669280" y="6099048"/>
            <a:ext cx="6217920" cy="53035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724144" y="6208776"/>
            <a:ext cx="6108192" cy="320040"/>
          </a:xfrm>
          <a:prstGeom prst="rect">
            <a:avLst/>
          </a:prstGeom>
          <a:noFill/>
        </p:spPr>
        <p:txBody>
          <a:bodyPr wrap="square">
            <a:spAutoFit/>
          </a:bodyPr>
          <a:lstStyle/>
          <a:p>
            <a:pPr algn="l"/>
            <a:r>
              <a:rPr sz="650" b="0" i="0">
                <a:solidFill>
                  <a:srgbClr val="4CAF50"/>
                </a:solidFill>
              </a:rPr>
              <a:t>&lt;- DATA,5000,1234.56,-23.45    -&gt; START    &lt;- SWEEP,BEGIN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GUI Architecture &amp; Module Connections</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Five Python modules — how they relate and communicate</a:t>
            </a:r>
          </a:p>
        </p:txBody>
      </p:sp>
      <p:sp>
        <p:nvSpPr>
          <p:cNvPr id="5" name="TextBox 4"/>
          <p:cNvSpPr txBox="1"/>
          <p:nvPr/>
        </p:nvSpPr>
        <p:spPr>
          <a:xfrm>
            <a:off x="365760" y="1261872"/>
            <a:ext cx="5486400" cy="5394960"/>
          </a:xfrm>
          <a:prstGeom prst="rect">
            <a:avLst/>
          </a:prstGeom>
          <a:noFill/>
        </p:spPr>
        <p:txBody>
          <a:bodyPr wrap="square">
            <a:spAutoFit/>
          </a:bodyPr>
          <a:lstStyle/>
          <a:p>
            <a:pPr algn="l"/>
            <a:r>
              <a:rPr sz="1200" b="1" i="0">
                <a:solidFill>
                  <a:srgbClr val="0F1F3D"/>
                </a:solidFill>
              </a:rPr>
              <a:t>main.py — Application Entry Point</a:t>
            </a:r>
          </a:p>
          <a:p>
            <a:pPr algn="l"/>
            <a:r>
              <a:rPr sz="1000" b="0" i="0">
                <a:solidFill>
                  <a:srgbClr val="374151"/>
                </a:solidFill>
              </a:rPr>
              <a:t>QMainWindow that owns the toolbar, central layout, and status bar. It instantiates all other modules and wires their Qt signals to slots. Parses every incoming UART line and routes it to DataModel, PlotWidget, and ConfigPanel.</a:t>
            </a:r>
          </a:p>
          <a:p>
            <a:pPr algn="l"/>
            <a:endParaRPr sz="1000" b="0" i="0">
              <a:solidFill>
                <a:srgbClr val="374151"/>
              </a:solidFill>
            </a:endParaRPr>
          </a:p>
          <a:p>
            <a:pPr algn="l"/>
            <a:r>
              <a:rPr sz="1200" b="1" i="0">
                <a:solidFill>
                  <a:srgbClr val="0F1F3D"/>
                </a:solidFill>
              </a:rPr>
              <a:t>serial_worker.py — Background I/O</a:t>
            </a:r>
          </a:p>
          <a:p>
            <a:pPr algn="l"/>
            <a:r>
              <a:rPr sz="1000" b="0" i="0">
                <a:solidFill>
                  <a:srgbClr val="374151"/>
                </a:solidFill>
              </a:rPr>
              <a:t>A QThread that opens the COM port, reads bytes continuously, assembles line-by-line output, and emits line_received(str). Also handles send_command(). Runs entirely off the GUI thread so the UI never freezes.</a:t>
            </a:r>
          </a:p>
          <a:p>
            <a:pPr algn="l"/>
            <a:endParaRPr sz="1000" b="0" i="0">
              <a:solidFill>
                <a:srgbClr val="374151"/>
              </a:solidFill>
            </a:endParaRPr>
          </a:p>
          <a:p>
            <a:pPr algn="l"/>
            <a:r>
              <a:rPr sz="1200" b="1" i="0">
                <a:solidFill>
                  <a:srgbClr val="0F1F3D"/>
                </a:solidFill>
              </a:rPr>
              <a:t>data_model.py — Data Store</a:t>
            </a:r>
          </a:p>
          <a:p>
            <a:pPr algn="l"/>
            <a:r>
              <a:rPr sz="1000" b="0" i="0">
                <a:solidFill>
                  <a:srgbClr val="374151"/>
                </a:solidFill>
              </a:rPr>
              <a:t>Holds a Python list of ImpedancePoint dataclasses. Provides add_point(), clear(), get_arrays(), count(), and export_csv(). No Qt dependency.</a:t>
            </a:r>
          </a:p>
          <a:p>
            <a:pPr algn="l"/>
            <a:endParaRPr sz="1000" b="0" i="0">
              <a:solidFill>
                <a:srgbClr val="374151"/>
              </a:solidFill>
            </a:endParaRPr>
          </a:p>
          <a:p>
            <a:pPr algn="l"/>
            <a:r>
              <a:rPr sz="1200" b="1" i="0">
                <a:solidFill>
                  <a:srgbClr val="0F1F3D"/>
                </a:solidFill>
              </a:rPr>
              <a:t>plot_widget.py — Live Visualization</a:t>
            </a:r>
          </a:p>
          <a:p>
            <a:pPr algn="l"/>
            <a:r>
              <a:rPr sz="1000" b="0" i="0">
                <a:solidFill>
                  <a:srgbClr val="374151"/>
                </a:solidFill>
              </a:rPr>
              <a:t>Three Matplotlib FigureCanvas objects in a QSplitter. update_plots() redraws all three (Bode |Z|, Bode phase, Nyquist) on every new DATA point.</a:t>
            </a:r>
          </a:p>
          <a:p>
            <a:pPr algn="l"/>
            <a:endParaRPr sz="1000" b="0" i="0">
              <a:solidFill>
                <a:srgbClr val="374151"/>
              </a:solidFill>
            </a:endParaRPr>
          </a:p>
          <a:p>
            <a:pPr algn="l"/>
            <a:r>
              <a:rPr sz="1200" b="1" i="0">
                <a:solidFill>
                  <a:srgbClr val="0F1F3D"/>
                </a:solidFill>
              </a:rPr>
              <a:t>config_panel.py — Sidebar</a:t>
            </a:r>
          </a:p>
          <a:p>
            <a:pPr algn="l"/>
            <a:r>
              <a:rPr sz="1000" b="0" i="0">
                <a:solidFill>
                  <a:srgbClr val="374151"/>
                </a:solidFill>
              </a:rPr>
              <a:t>QGroupBox sections for sweep parameters, live status labels, and last-point readout. Emits settings_applied(dict) when the user clicks Apply.</a:t>
            </a:r>
          </a:p>
        </p:txBody>
      </p:sp>
      <p:sp>
        <p:nvSpPr>
          <p:cNvPr id="6" name="Rounded Rectangle 5"/>
          <p:cNvSpPr/>
          <p:nvPr/>
        </p:nvSpPr>
        <p:spPr>
          <a:xfrm>
            <a:off x="8686800" y="1828800"/>
            <a:ext cx="1737360" cy="594360"/>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main.py</a:t>
            </a:r>
          </a:p>
        </p:txBody>
      </p:sp>
      <p:sp>
        <p:nvSpPr>
          <p:cNvPr id="7" name="Rounded Rectangle 6"/>
          <p:cNvSpPr/>
          <p:nvPr/>
        </p:nvSpPr>
        <p:spPr>
          <a:xfrm>
            <a:off x="6583680" y="3017520"/>
            <a:ext cx="1737360" cy="59436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serial_worker.py</a:t>
            </a:r>
          </a:p>
        </p:txBody>
      </p:sp>
      <p:sp>
        <p:nvSpPr>
          <p:cNvPr id="8" name="Rounded Rectangle 7"/>
          <p:cNvSpPr/>
          <p:nvPr/>
        </p:nvSpPr>
        <p:spPr>
          <a:xfrm>
            <a:off x="8686800" y="3017520"/>
            <a:ext cx="1737360" cy="59436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data_model.py</a:t>
            </a:r>
          </a:p>
        </p:txBody>
      </p:sp>
      <p:sp>
        <p:nvSpPr>
          <p:cNvPr id="9" name="Rounded Rectangle 8"/>
          <p:cNvSpPr/>
          <p:nvPr/>
        </p:nvSpPr>
        <p:spPr>
          <a:xfrm>
            <a:off x="10789920" y="3017520"/>
            <a:ext cx="1737360" cy="59436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plot_widget.py</a:t>
            </a:r>
          </a:p>
        </p:txBody>
      </p:sp>
      <p:sp>
        <p:nvSpPr>
          <p:cNvPr id="10" name="Rounded Rectangle 9"/>
          <p:cNvSpPr/>
          <p:nvPr/>
        </p:nvSpPr>
        <p:spPr>
          <a:xfrm>
            <a:off x="8686800" y="4206240"/>
            <a:ext cx="1737360" cy="594360"/>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config_panel.py</a:t>
            </a:r>
          </a:p>
        </p:txBody>
      </p:sp>
      <p:sp>
        <p:nvSpPr>
          <p:cNvPr id="11" name="Rounded Rectangle 10"/>
          <p:cNvSpPr/>
          <p:nvPr/>
        </p:nvSpPr>
        <p:spPr>
          <a:xfrm>
            <a:off x="6583680" y="4206240"/>
            <a:ext cx="1737360" cy="594360"/>
          </a:xfrm>
          <a:prstGeom prst="round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COM Port
(PySerial)</a:t>
            </a:r>
          </a:p>
        </p:txBody>
      </p:sp>
      <p:cxnSp>
        <p:nvCxnSpPr>
          <p:cNvPr id="12" name="Connector 11"/>
          <p:cNvCxnSpPr/>
          <p:nvPr/>
        </p:nvCxnSpPr>
        <p:spPr>
          <a:xfrm flipH="1">
            <a:off x="7452360" y="2125980"/>
            <a:ext cx="2103120" cy="1188720"/>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555480" y="2125980"/>
            <a:ext cx="0" cy="1188720"/>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555480" y="2125980"/>
            <a:ext cx="2103120" cy="1188720"/>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55480" y="2125980"/>
            <a:ext cx="0" cy="2377440"/>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452360" y="3314700"/>
            <a:ext cx="0" cy="1188720"/>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949440" y="2560320"/>
            <a:ext cx="2286000" cy="292608"/>
          </a:xfrm>
          <a:prstGeom prst="rect">
            <a:avLst/>
          </a:prstGeom>
          <a:noFill/>
        </p:spPr>
        <p:txBody>
          <a:bodyPr wrap="square">
            <a:spAutoFit/>
          </a:bodyPr>
          <a:lstStyle/>
          <a:p>
            <a:pPr algn="l"/>
            <a:r>
              <a:rPr sz="800" b="0" i="1">
                <a:solidFill>
                  <a:srgbClr val="00897B"/>
                </a:solidFill>
              </a:rPr>
              <a:t>line_received signal</a:t>
            </a:r>
          </a:p>
        </p:txBody>
      </p:sp>
      <p:sp>
        <p:nvSpPr>
          <p:cNvPr id="18" name="TextBox 17"/>
          <p:cNvSpPr txBox="1"/>
          <p:nvPr/>
        </p:nvSpPr>
        <p:spPr>
          <a:xfrm>
            <a:off x="7772400" y="3913632"/>
            <a:ext cx="2286000" cy="292608"/>
          </a:xfrm>
          <a:prstGeom prst="rect">
            <a:avLst/>
          </a:prstGeom>
          <a:noFill/>
        </p:spPr>
        <p:txBody>
          <a:bodyPr wrap="square">
            <a:spAutoFit/>
          </a:bodyPr>
          <a:lstStyle/>
          <a:p>
            <a:pPr algn="l"/>
            <a:r>
              <a:rPr sz="800" b="0" i="1">
                <a:solidFill>
                  <a:srgbClr val="EF6C00"/>
                </a:solidFill>
              </a:rPr>
              <a:t>settings_applied signal</a:t>
            </a:r>
          </a:p>
        </p:txBody>
      </p:sp>
      <p:sp>
        <p:nvSpPr>
          <p:cNvPr id="19" name="TextBox 18"/>
          <p:cNvSpPr txBox="1"/>
          <p:nvPr/>
        </p:nvSpPr>
        <p:spPr>
          <a:xfrm>
            <a:off x="9784080" y="2423160"/>
            <a:ext cx="1828800" cy="292608"/>
          </a:xfrm>
          <a:prstGeom prst="rect">
            <a:avLst/>
          </a:prstGeom>
          <a:noFill/>
        </p:spPr>
        <p:txBody>
          <a:bodyPr wrap="square">
            <a:spAutoFit/>
          </a:bodyPr>
          <a:lstStyle/>
          <a:p>
            <a:pPr algn="l"/>
            <a:r>
              <a:rPr sz="800" b="0" i="1">
                <a:solidFill>
                  <a:srgbClr val="2E7D32"/>
                </a:solidFill>
              </a:rPr>
              <a:t>update_plots() call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GUI User Workflow — Step by Step</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Complete interaction sequence from power-on to data export</a:t>
            </a:r>
          </a:p>
        </p:txBody>
      </p:sp>
      <p:sp>
        <p:nvSpPr>
          <p:cNvPr id="5" name="Rounded Rectangle 4"/>
          <p:cNvSpPr/>
          <p:nvPr/>
        </p:nvSpPr>
        <p:spPr>
          <a:xfrm>
            <a:off x="365760" y="1280160"/>
            <a:ext cx="3788664" cy="1417320"/>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1. Launch</a:t>
            </a:r>
          </a:p>
          <a:p>
            <a:pPr algn="ctr"/>
            <a:r>
              <a:rPr sz="950" b="0">
                <a:solidFill>
                  <a:srgbClr val="FFFFFF"/>
                </a:solidFill>
              </a:rPr>
              <a:t>Run:  python gui/main.py
PyQt5 window opens. Serial console is blank.</a:t>
            </a:r>
          </a:p>
        </p:txBody>
      </p:sp>
      <p:sp>
        <p:nvSpPr>
          <p:cNvPr id="6" name="Rounded Rectangle 5"/>
          <p:cNvSpPr/>
          <p:nvPr/>
        </p:nvSpPr>
        <p:spPr>
          <a:xfrm>
            <a:off x="4291584" y="1280160"/>
            <a:ext cx="3788664" cy="141732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2. Select Port</a:t>
            </a:r>
          </a:p>
          <a:p>
            <a:pPr algn="ctr"/>
            <a:r>
              <a:rPr sz="950" b="0">
                <a:solidFill>
                  <a:srgbClr val="FFFFFF"/>
                </a:solidFill>
              </a:rPr>
              <a:t>Click the port dropdown — available COM ports are listed. Pick the CP2102 port (e.g. COM5).</a:t>
            </a:r>
          </a:p>
        </p:txBody>
      </p:sp>
      <p:sp>
        <p:nvSpPr>
          <p:cNvPr id="7" name="Rounded Rectangle 6"/>
          <p:cNvSpPr/>
          <p:nvPr/>
        </p:nvSpPr>
        <p:spPr>
          <a:xfrm>
            <a:off x="8217408" y="1280160"/>
            <a:ext cx="3788664" cy="141732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3. Connect</a:t>
            </a:r>
          </a:p>
          <a:p>
            <a:pPr algn="ctr"/>
            <a:r>
              <a:rPr sz="950" b="0">
                <a:solidFill>
                  <a:srgbClr val="FFFFFF"/>
                </a:solidFill>
              </a:rPr>
              <a:t>Click Connect. SerialWorker opens the port at 115200 baud. Status bar shows Connected.</a:t>
            </a:r>
          </a:p>
        </p:txBody>
      </p:sp>
      <p:sp>
        <p:nvSpPr>
          <p:cNvPr id="8" name="Rounded Rectangle 7"/>
          <p:cNvSpPr/>
          <p:nvPr/>
        </p:nvSpPr>
        <p:spPr>
          <a:xfrm>
            <a:off x="365760" y="2807208"/>
            <a:ext cx="3788664" cy="141732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4. Configure</a:t>
            </a:r>
          </a:p>
          <a:p>
            <a:pPr algn="ctr"/>
            <a:r>
              <a:rPr sz="950" b="0">
                <a:solidFill>
                  <a:srgbClr val="FFFFFF"/>
                </a:solidFill>
              </a:rPr>
              <a:t>Enter start/stop/step frequency and Rf in the sidebar. Click Apply — SET_* commands are sent.</a:t>
            </a:r>
          </a:p>
        </p:txBody>
      </p:sp>
      <p:sp>
        <p:nvSpPr>
          <p:cNvPr id="9" name="Rounded Rectangle 8"/>
          <p:cNvSpPr/>
          <p:nvPr/>
        </p:nvSpPr>
        <p:spPr>
          <a:xfrm>
            <a:off x="4291584" y="2807208"/>
            <a:ext cx="3788664" cy="1417320"/>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5. Start Sweep</a:t>
            </a:r>
          </a:p>
          <a:p>
            <a:pPr algn="ctr"/>
            <a:r>
              <a:rPr sz="950" b="0">
                <a:solidFill>
                  <a:srgbClr val="FFFFFF"/>
                </a:solidFill>
              </a:rPr>
              <a:t>Click Start Sweep. GUI clears data, sends START. STM32 replies SWEEP,BEGIN.</a:t>
            </a:r>
          </a:p>
        </p:txBody>
      </p:sp>
      <p:sp>
        <p:nvSpPr>
          <p:cNvPr id="10" name="Rounded Rectangle 9"/>
          <p:cNvSpPr/>
          <p:nvPr/>
        </p:nvSpPr>
        <p:spPr>
          <a:xfrm>
            <a:off x="8217408" y="2807208"/>
            <a:ext cx="3788664" cy="1417320"/>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6. Watch Plots</a:t>
            </a:r>
          </a:p>
          <a:p>
            <a:pPr algn="ctr"/>
            <a:r>
              <a:rPr sz="950" b="0">
                <a:solidFill>
                  <a:srgbClr val="FFFFFF"/>
                </a:solidFill>
              </a:rPr>
              <a:t>DATA lines arrive — Bode and Nyquist plots build up point by point in real time.</a:t>
            </a:r>
          </a:p>
        </p:txBody>
      </p:sp>
      <p:sp>
        <p:nvSpPr>
          <p:cNvPr id="11" name="Rounded Rectangle 10"/>
          <p:cNvSpPr/>
          <p:nvPr/>
        </p:nvSpPr>
        <p:spPr>
          <a:xfrm>
            <a:off x="365760" y="4334256"/>
            <a:ext cx="3788664" cy="141732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7. Stop / Wait</a:t>
            </a:r>
          </a:p>
          <a:p>
            <a:pPr algn="ctr"/>
            <a:r>
              <a:rPr sz="950" b="0">
                <a:solidFill>
                  <a:srgbClr val="FFFFFF"/>
                </a:solidFill>
              </a:rPr>
              <a:t>Click Stop (sends STOP) or wait for SWEEP,DONE. Status changes back to IDLE.</a:t>
            </a:r>
          </a:p>
        </p:txBody>
      </p:sp>
      <p:sp>
        <p:nvSpPr>
          <p:cNvPr id="12" name="Rounded Rectangle 11"/>
          <p:cNvSpPr/>
          <p:nvPr/>
        </p:nvSpPr>
        <p:spPr>
          <a:xfrm>
            <a:off x="4291584" y="4334256"/>
            <a:ext cx="3788664" cy="1417320"/>
          </a:xfrm>
          <a:prstGeom prst="roundRect">
            <a:avLst/>
          </a:prstGeom>
          <a:solidFill>
            <a:srgbClr val="4E342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8. Export</a:t>
            </a:r>
          </a:p>
          <a:p>
            <a:pPr algn="ctr"/>
            <a:r>
              <a:rPr sz="950" b="0">
                <a:solidFill>
                  <a:srgbClr val="FFFFFF"/>
                </a:solidFill>
              </a:rPr>
              <a:t>Click Export CSV — file dialog opens. CSV is written with freq, |Z|, phase, Re(Z), Im(Z).</a:t>
            </a:r>
          </a:p>
        </p:txBody>
      </p:sp>
      <p:sp>
        <p:nvSpPr>
          <p:cNvPr id="13" name="Rounded Rectangle 12"/>
          <p:cNvSpPr/>
          <p:nvPr/>
        </p:nvSpPr>
        <p:spPr>
          <a:xfrm>
            <a:off x="8217408" y="4334256"/>
            <a:ext cx="3788664" cy="1417320"/>
          </a:xfrm>
          <a:prstGeom prst="round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9. Flash Ops</a:t>
            </a:r>
          </a:p>
          <a:p>
            <a:pPr algn="ctr"/>
            <a:r>
              <a:rPr sz="950" b="0">
                <a:solidFill>
                  <a:srgbClr val="FFFFFF"/>
                </a:solidFill>
              </a:rPr>
              <a:t>Click Flash Status to see stored records. Dump Flash to replay a previous sweep.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Hardware Components</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Key ICs and components on the EIS PCB</a:t>
            </a:r>
          </a:p>
        </p:txBody>
      </p:sp>
      <p:sp>
        <p:nvSpPr>
          <p:cNvPr id="5" name="Rounded Rectangle 4"/>
          <p:cNvSpPr/>
          <p:nvPr/>
        </p:nvSpPr>
        <p:spPr>
          <a:xfrm>
            <a:off x="457200" y="1463040"/>
            <a:ext cx="3636264" cy="1645920"/>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STM32F303CCT6</a:t>
            </a:r>
          </a:p>
          <a:p>
            <a:pPr algn="ctr"/>
            <a:r>
              <a:rPr sz="950" b="0">
                <a:solidFill>
                  <a:srgbClr val="FFFFFF"/>
                </a:solidFill>
              </a:rPr>
              <a:t>72 MHz ARM Cortex-M4, dual ADC with DMA, SPI, UART — central controller</a:t>
            </a:r>
          </a:p>
        </p:txBody>
      </p:sp>
      <p:sp>
        <p:nvSpPr>
          <p:cNvPr id="6" name="Rounded Rectangle 5"/>
          <p:cNvSpPr/>
          <p:nvPr/>
        </p:nvSpPr>
        <p:spPr>
          <a:xfrm>
            <a:off x="4276344" y="1463040"/>
            <a:ext cx="3636264" cy="164592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AD9833 DDS</a:t>
            </a:r>
          </a:p>
          <a:p>
            <a:pPr algn="ctr"/>
            <a:r>
              <a:rPr sz="950" b="0">
                <a:solidFill>
                  <a:srgbClr val="FFFFFF"/>
                </a:solidFill>
              </a:rPr>
              <a:t>Programmable sine waveform generator; 25 MHz MCLK; SPI-controlled to 12.5 MHz</a:t>
            </a:r>
          </a:p>
        </p:txBody>
      </p:sp>
      <p:sp>
        <p:nvSpPr>
          <p:cNvPr id="7" name="Rounded Rectangle 6"/>
          <p:cNvSpPr/>
          <p:nvPr/>
        </p:nvSpPr>
        <p:spPr>
          <a:xfrm>
            <a:off x="8095488" y="1463040"/>
            <a:ext cx="3636264" cy="164592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OPA2140AID (x2)</a:t>
            </a:r>
          </a:p>
          <a:p>
            <a:pPr algn="ctr"/>
            <a:r>
              <a:rPr sz="950" b="0">
                <a:solidFill>
                  <a:srgbClr val="FFFFFF"/>
                </a:solidFill>
              </a:rPr>
              <a:t>Dual precision FET-input op-amp: Amp1A = excitation buffer, Amp2A = TIA</a:t>
            </a:r>
          </a:p>
        </p:txBody>
      </p:sp>
      <p:sp>
        <p:nvSpPr>
          <p:cNvPr id="8" name="Rounded Rectangle 7"/>
          <p:cNvSpPr/>
          <p:nvPr/>
        </p:nvSpPr>
        <p:spPr>
          <a:xfrm>
            <a:off x="457200" y="3291840"/>
            <a:ext cx="3636264" cy="1645920"/>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ADR4533BRZ</a:t>
            </a:r>
          </a:p>
          <a:p>
            <a:pPr algn="ctr"/>
            <a:r>
              <a:rPr sz="950" b="0">
                <a:solidFill>
                  <a:srgbClr val="FFFFFF"/>
                </a:solidFill>
              </a:rPr>
              <a:t>Precision 3.3 V voltage reference (&lt;25 uV/degC) feeds STM32 VDDA and VREF+</a:t>
            </a:r>
          </a:p>
        </p:txBody>
      </p:sp>
      <p:sp>
        <p:nvSpPr>
          <p:cNvPr id="9" name="Rounded Rectangle 8"/>
          <p:cNvSpPr/>
          <p:nvPr/>
        </p:nvSpPr>
        <p:spPr>
          <a:xfrm>
            <a:off x="4276344" y="3291840"/>
            <a:ext cx="3636264" cy="164592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W25Q32JVS</a:t>
            </a:r>
          </a:p>
          <a:p>
            <a:pPr algn="ctr"/>
            <a:r>
              <a:rPr sz="950" b="0">
                <a:solidFill>
                  <a:srgbClr val="FFFFFF"/>
                </a:solidFill>
              </a:rPr>
              <a:t>32 Mbit SPI flash; shares SPI1 via separate CS on PB12; stores sweep logs</a:t>
            </a:r>
          </a:p>
        </p:txBody>
      </p:sp>
      <p:sp>
        <p:nvSpPr>
          <p:cNvPr id="10" name="Rounded Rectangle 9"/>
          <p:cNvSpPr/>
          <p:nvPr/>
        </p:nvSpPr>
        <p:spPr>
          <a:xfrm>
            <a:off x="8095488" y="3291840"/>
            <a:ext cx="3636264" cy="164592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CP2102</a:t>
            </a:r>
          </a:p>
          <a:p>
            <a:pPr algn="ctr"/>
            <a:r>
              <a:rPr sz="950" b="0">
                <a:solidFill>
                  <a:srgbClr val="FFFFFF"/>
                </a:solidFill>
              </a:rPr>
              <a:t>USB-UART bridge; STM32 USART1 (PA9 TX / PA10 RX) at 115 200 baud</a:t>
            </a:r>
          </a:p>
        </p:txBody>
      </p:sp>
      <p:sp>
        <p:nvSpPr>
          <p:cNvPr id="11" name="Rounded Rectangle 10"/>
          <p:cNvSpPr/>
          <p:nvPr/>
        </p:nvSpPr>
        <p:spPr>
          <a:xfrm>
            <a:off x="457200" y="5120640"/>
            <a:ext cx="3636264" cy="1645920"/>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MCP1700 LDO</a:t>
            </a:r>
          </a:p>
          <a:p>
            <a:pPr algn="ctr"/>
            <a:r>
              <a:rPr sz="950" b="0">
                <a:solidFill>
                  <a:srgbClr val="FFFFFF"/>
                </a:solidFill>
              </a:rPr>
              <a:t>Ultra-low IQ LDO: USB-C VBUS 5 V -&gt; 3.3 V system supply, 250 mA</a:t>
            </a:r>
          </a:p>
        </p:txBody>
      </p:sp>
      <p:sp>
        <p:nvSpPr>
          <p:cNvPr id="12" name="Rounded Rectangle 11"/>
          <p:cNvSpPr/>
          <p:nvPr/>
        </p:nvSpPr>
        <p:spPr>
          <a:xfrm>
            <a:off x="4276344" y="5120640"/>
            <a:ext cx="3636264" cy="1645920"/>
          </a:xfrm>
          <a:prstGeom prst="roundRect">
            <a:avLst/>
          </a:prstGeom>
          <a:solidFill>
            <a:srgbClr val="00698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ASE-25.000 MHz</a:t>
            </a:r>
          </a:p>
          <a:p>
            <a:pPr algn="ctr"/>
            <a:r>
              <a:rPr sz="950" b="0">
                <a:solidFill>
                  <a:srgbClr val="FFFFFF"/>
                </a:solidFill>
              </a:rPr>
              <a:t>Crystal oscillator for AD9833 MCLK — DDS frequency resolution 0.093 Hz</a:t>
            </a:r>
          </a:p>
        </p:txBody>
      </p:sp>
      <p:sp>
        <p:nvSpPr>
          <p:cNvPr id="13" name="Rounded Rectangle 12"/>
          <p:cNvSpPr/>
          <p:nvPr/>
        </p:nvSpPr>
        <p:spPr>
          <a:xfrm>
            <a:off x="8095488" y="5120640"/>
            <a:ext cx="3636264" cy="1645920"/>
          </a:xfrm>
          <a:prstGeom prst="roundRect">
            <a:avLst/>
          </a:prstGeom>
          <a:solidFill>
            <a:srgbClr val="4E342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ABM3B-8.000 MHz</a:t>
            </a:r>
          </a:p>
          <a:p>
            <a:pPr algn="ctr"/>
            <a:r>
              <a:rPr sz="950" b="0">
                <a:solidFill>
                  <a:srgbClr val="FFFFFF"/>
                </a:solidFill>
              </a:rPr>
              <a:t>Crystal for STM32 HSE input; on-chip PLL x9 = 72 MHz system clock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STM32F303CCT6 &amp; AD9833 — In Detail</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The two core digital ICs: microcontroller and DDS signal generator</a:t>
            </a:r>
          </a:p>
        </p:txBody>
      </p:sp>
      <p:sp>
        <p:nvSpPr>
          <p:cNvPr id="5" name="TextBox 4"/>
          <p:cNvSpPr txBox="1"/>
          <p:nvPr/>
        </p:nvSpPr>
        <p:spPr>
          <a:xfrm>
            <a:off x="365760" y="1261872"/>
            <a:ext cx="5943600" cy="5394960"/>
          </a:xfrm>
          <a:prstGeom prst="rect">
            <a:avLst/>
          </a:prstGeom>
          <a:noFill/>
        </p:spPr>
        <p:txBody>
          <a:bodyPr wrap="square">
            <a:spAutoFit/>
          </a:bodyPr>
          <a:lstStyle/>
          <a:p>
            <a:pPr algn="l"/>
            <a:r>
              <a:rPr sz="1300" b="1" i="0">
                <a:solidFill>
                  <a:srgbClr val="0F1F3D"/>
                </a:solidFill>
              </a:rPr>
              <a:t>STM32F303CCT6 — Microcontroller</a:t>
            </a:r>
          </a:p>
          <a:p>
            <a:pPr algn="l"/>
            <a:r>
              <a:rPr sz="1100" b="0" i="0">
                <a:solidFill>
                  <a:srgbClr val="374151"/>
                </a:solidFill>
              </a:rPr>
              <a:t>Core: 72 MHz ARM Cortex-M4F with FPU and DSP instructions.</a:t>
            </a:r>
          </a:p>
          <a:p>
            <a:pPr algn="l"/>
            <a:r>
              <a:rPr sz="1100" b="0" i="0">
                <a:solidFill>
                  <a:srgbClr val="374151"/>
                </a:solidFill>
              </a:rPr>
              <a:t>Clock: 8 MHz HSE crystal -&gt; PLL multiplier x9 = 72 MHz system clock.</a:t>
            </a:r>
          </a:p>
          <a:p>
            <a:pPr algn="l"/>
            <a:r>
              <a:rPr sz="1100" b="0" i="0">
                <a:solidFill>
                  <a:srgbClr val="374151"/>
                </a:solidFill>
              </a:rPr>
              <a:t>ADC1: 12-bit, dual-channel scan mode (PA0 + PA1), triggered by software, transferred via DMA1 Channel 1. Sample time = 61.5 cycles, conversion = 12.5 cycles.</a:t>
            </a:r>
          </a:p>
          <a:p>
            <a:pPr algn="l"/>
            <a:r>
              <a:rPr sz="1100" b="0" i="0">
                <a:solidFill>
                  <a:srgbClr val="374151"/>
                </a:solidFill>
              </a:rPr>
              <a:t>SPI1: PA5=SCK, PA6=MISO, PA7=MOSI. Two chip-selects: PA4 (AD9833 FSYNC), PB12 (W25Q32 CS).</a:t>
            </a:r>
          </a:p>
          <a:p>
            <a:pPr algn="l"/>
            <a:r>
              <a:rPr sz="1100" b="0" i="0">
                <a:solidFill>
                  <a:srgbClr val="374151"/>
                </a:solidFill>
              </a:rPr>
              <a:t>USART1: PA9=TX, PA10=RX at 115200 baud 8N1. DMA or interrupt driven receive.</a:t>
            </a:r>
          </a:p>
          <a:p>
            <a:pPr algn="l"/>
            <a:r>
              <a:rPr sz="1100" b="0" i="0">
                <a:solidFill>
                  <a:srgbClr val="374151"/>
                </a:solidFill>
              </a:rPr>
              <a:t>GPIO: PB13=STATUS LED, PB12=W25Q32 CS, PA4=AD9833 FSYNC (soft-controlled).</a:t>
            </a:r>
          </a:p>
          <a:p>
            <a:pPr algn="l"/>
            <a:endParaRPr sz="1100" b="0" i="0">
              <a:solidFill>
                <a:srgbClr val="374151"/>
              </a:solidFill>
            </a:endParaRPr>
          </a:p>
          <a:p>
            <a:pPr algn="l"/>
            <a:r>
              <a:rPr sz="1300" b="1" i="0">
                <a:solidFill>
                  <a:srgbClr val="0F1F3D"/>
                </a:solidFill>
              </a:rPr>
              <a:t>AD9833 — DDS Signal Generator</a:t>
            </a:r>
          </a:p>
          <a:p>
            <a:pPr algn="l"/>
            <a:r>
              <a:rPr sz="1100" b="0" i="0">
                <a:solidFill>
                  <a:srgbClr val="374151"/>
                </a:solidFill>
              </a:rPr>
              <a:t>25 MHz MCLK from ASE-25.000MHz crystal oscillator.</a:t>
            </a:r>
          </a:p>
          <a:p>
            <a:pPr algn="l"/>
            <a:r>
              <a:rPr sz="1100" b="0" i="0">
                <a:solidFill>
                  <a:srgbClr val="374151"/>
                </a:solidFill>
              </a:rPr>
              <a:t>Frequency word = round(f_out x 2^28 / 25e6), 28-bit value split into two 14-bit SPI writes (D15=1, D14=0 for FREQ0 register, first write sets LSB, second MSB).</a:t>
            </a:r>
          </a:p>
          <a:p>
            <a:pPr algn="l"/>
            <a:r>
              <a:rPr sz="1100" b="0" i="0">
                <a:solidFill>
                  <a:srgbClr val="374151"/>
                </a:solidFill>
              </a:rPr>
              <a:t>Output: sine wave approx 0.6 Vpp. FSYNC line low during SPI transfer, high to latch.</a:t>
            </a:r>
          </a:p>
          <a:p>
            <a:pPr algn="l"/>
            <a:r>
              <a:rPr sz="1100" b="0" i="0">
                <a:solidFill>
                  <a:srgbClr val="374151"/>
                </a:solidFill>
              </a:rPr>
              <a:t>Minimum frequency step: 25e6 / 2^28 = 0.093 Hz.</a:t>
            </a:r>
          </a:p>
        </p:txBody>
      </p:sp>
      <p:sp>
        <p:nvSpPr>
          <p:cNvPr id="6" name="Rounded Rectangle 5"/>
          <p:cNvSpPr/>
          <p:nvPr/>
        </p:nvSpPr>
        <p:spPr>
          <a:xfrm>
            <a:off x="6675120" y="1371600"/>
            <a:ext cx="5120640" cy="914400"/>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rPr>
              <a:t>STM32F303CCT6</a:t>
            </a:r>
          </a:p>
        </p:txBody>
      </p:sp>
      <p:sp>
        <p:nvSpPr>
          <p:cNvPr id="7" name="Rounded Rectangle 6"/>
          <p:cNvSpPr/>
          <p:nvPr/>
        </p:nvSpPr>
        <p:spPr>
          <a:xfrm>
            <a:off x="6675120" y="2377440"/>
            <a:ext cx="5120640" cy="420624"/>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00" b="0" i="0">
                <a:solidFill>
                  <a:srgbClr val="FFFFFF"/>
                </a:solidFill>
              </a:rPr>
              <a:t>PA0 — ADC1 CH1 (Ref)</a:t>
            </a:r>
          </a:p>
        </p:txBody>
      </p:sp>
      <p:sp>
        <p:nvSpPr>
          <p:cNvPr id="8" name="Rounded Rectangle 7"/>
          <p:cNvSpPr/>
          <p:nvPr/>
        </p:nvSpPr>
        <p:spPr>
          <a:xfrm>
            <a:off x="6675120" y="2816352"/>
            <a:ext cx="5120640" cy="420624"/>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00" b="0" i="0">
                <a:solidFill>
                  <a:srgbClr val="FFFFFF"/>
                </a:solidFill>
              </a:rPr>
              <a:t>PA1 — ADC1 CH2 (TIA)</a:t>
            </a:r>
          </a:p>
        </p:txBody>
      </p:sp>
      <p:sp>
        <p:nvSpPr>
          <p:cNvPr id="9" name="Rounded Rectangle 8"/>
          <p:cNvSpPr/>
          <p:nvPr/>
        </p:nvSpPr>
        <p:spPr>
          <a:xfrm>
            <a:off x="6675120" y="3255264"/>
            <a:ext cx="5120640" cy="420624"/>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00" b="0" i="0">
                <a:solidFill>
                  <a:srgbClr val="FFFFFF"/>
                </a:solidFill>
              </a:rPr>
              <a:t>PA4 — AD9833 FSYNC</a:t>
            </a:r>
          </a:p>
        </p:txBody>
      </p:sp>
      <p:sp>
        <p:nvSpPr>
          <p:cNvPr id="10" name="Rounded Rectangle 9"/>
          <p:cNvSpPr/>
          <p:nvPr/>
        </p:nvSpPr>
        <p:spPr>
          <a:xfrm>
            <a:off x="6675120" y="3694176"/>
            <a:ext cx="5120640" cy="420624"/>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00" b="0" i="0">
                <a:solidFill>
                  <a:srgbClr val="FFFFFF"/>
                </a:solidFill>
              </a:rPr>
              <a:t>PA5/6/7 — SPI1 CLK/MISO/MOSI</a:t>
            </a:r>
          </a:p>
        </p:txBody>
      </p:sp>
      <p:sp>
        <p:nvSpPr>
          <p:cNvPr id="11" name="Rounded Rectangle 10"/>
          <p:cNvSpPr/>
          <p:nvPr/>
        </p:nvSpPr>
        <p:spPr>
          <a:xfrm>
            <a:off x="6675120" y="4133087"/>
            <a:ext cx="5120640" cy="420624"/>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00" b="0" i="0">
                <a:solidFill>
                  <a:srgbClr val="FFFFFF"/>
                </a:solidFill>
              </a:rPr>
              <a:t>PA9/PA10 — USART1 TX/RX</a:t>
            </a:r>
          </a:p>
        </p:txBody>
      </p:sp>
      <p:sp>
        <p:nvSpPr>
          <p:cNvPr id="12" name="Rounded Rectangle 11"/>
          <p:cNvSpPr/>
          <p:nvPr/>
        </p:nvSpPr>
        <p:spPr>
          <a:xfrm>
            <a:off x="6675120" y="4572000"/>
            <a:ext cx="5120640" cy="420624"/>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00" b="0" i="0">
                <a:solidFill>
                  <a:srgbClr val="FFFFFF"/>
                </a:solidFill>
              </a:rPr>
              <a:t>PB12 — W25Q32 CS</a:t>
            </a:r>
          </a:p>
        </p:txBody>
      </p:sp>
      <p:sp>
        <p:nvSpPr>
          <p:cNvPr id="13" name="Rounded Rectangle 12"/>
          <p:cNvSpPr/>
          <p:nvPr/>
        </p:nvSpPr>
        <p:spPr>
          <a:xfrm>
            <a:off x="6675120" y="5010912"/>
            <a:ext cx="5120640" cy="420624"/>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00" b="0" i="0">
                <a:solidFill>
                  <a:srgbClr val="FFFFFF"/>
                </a:solidFill>
              </a:rPr>
              <a:t>PB13 — Status LED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Analog Front-End &amp; Power Management</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OPA2140 op-amps, ADR4533 reference, and MCP1700 LDO regulator</a:t>
            </a:r>
          </a:p>
        </p:txBody>
      </p:sp>
      <p:sp>
        <p:nvSpPr>
          <p:cNvPr id="5" name="TextBox 4"/>
          <p:cNvSpPr txBox="1"/>
          <p:nvPr/>
        </p:nvSpPr>
        <p:spPr>
          <a:xfrm>
            <a:off x="365760" y="1261872"/>
            <a:ext cx="5943600" cy="5394960"/>
          </a:xfrm>
          <a:prstGeom prst="rect">
            <a:avLst/>
          </a:prstGeom>
          <a:noFill/>
        </p:spPr>
        <p:txBody>
          <a:bodyPr wrap="square">
            <a:spAutoFit/>
          </a:bodyPr>
          <a:lstStyle/>
          <a:p>
            <a:pPr algn="l"/>
            <a:r>
              <a:rPr sz="1300" b="1" i="0">
                <a:solidFill>
                  <a:srgbClr val="0F1F3D"/>
                </a:solidFill>
              </a:rPr>
              <a:t>OPA2140AID — Excitation Buffer (Amp1A)</a:t>
            </a:r>
          </a:p>
          <a:p>
            <a:pPr algn="l"/>
            <a:r>
              <a:rPr sz="1100" b="0" i="0">
                <a:solidFill>
                  <a:srgbClr val="374151"/>
                </a:solidFill>
              </a:rPr>
              <a:t>Unity-gain voltage follower. High input impedance (1 TOhm) prevents loading the AD9833 output. Low output impedance drives the electrode with minimal voltage drop.</a:t>
            </a:r>
          </a:p>
          <a:p>
            <a:pPr algn="l"/>
            <a:endParaRPr sz="1100" b="0" i="0">
              <a:solidFill>
                <a:srgbClr val="374151"/>
              </a:solidFill>
            </a:endParaRPr>
          </a:p>
          <a:p>
            <a:pPr algn="l"/>
            <a:r>
              <a:rPr sz="1300" b="1" i="0">
                <a:solidFill>
                  <a:srgbClr val="0F1F3D"/>
                </a:solidFill>
              </a:rPr>
              <a:t>OPA2140AID — Transimpedance Amplifier (Amp2A)</a:t>
            </a:r>
          </a:p>
          <a:p>
            <a:pPr algn="l"/>
            <a:r>
              <a:rPr sz="1100" b="0" i="0">
                <a:solidFill>
                  <a:srgbClr val="374151"/>
                </a:solidFill>
              </a:rPr>
              <a:t>Converts current through the DUT to voltage: V_out = -I_DUT x Rf. Rf is the feedback resistor (user-selectable). The inverting input is a virtual ground. Output connects to ADC1 CH2 (PA1).</a:t>
            </a:r>
          </a:p>
          <a:p>
            <a:pPr algn="l"/>
            <a:r>
              <a:rPr sz="1100" b="0" i="0">
                <a:solidFill>
                  <a:srgbClr val="374151"/>
                </a:solidFill>
              </a:rPr>
              <a:t>Impedance of DUT: |Z| = |V_ref| / |I_DUT| = (|V_ref| / |V_TIA|) x Rf.</a:t>
            </a:r>
          </a:p>
          <a:p>
            <a:pPr algn="l"/>
            <a:endParaRPr sz="1100" b="0" i="0">
              <a:solidFill>
                <a:srgbClr val="374151"/>
              </a:solidFill>
            </a:endParaRPr>
          </a:p>
          <a:p>
            <a:pPr algn="l"/>
            <a:r>
              <a:rPr sz="1300" b="1" i="0">
                <a:solidFill>
                  <a:srgbClr val="0F1F3D"/>
                </a:solidFill>
              </a:rPr>
              <a:t>ADR4533BRZ — Precision Voltage Reference</a:t>
            </a:r>
          </a:p>
          <a:p>
            <a:pPr algn="l"/>
            <a:r>
              <a:rPr sz="1100" b="0" i="0">
                <a:solidFill>
                  <a:srgbClr val="374151"/>
                </a:solidFill>
              </a:rPr>
              <a:t>Provides 3.3 V with &lt;25 uV/degC drift and &lt;0.02% initial accuracy. Connected to STM32 VDDA and VREF+ pins to set the ADC full-scale voltage. Critical for measurement accuracy — noise on VREF adds directly to impedance error.</a:t>
            </a:r>
          </a:p>
          <a:p>
            <a:pPr algn="l"/>
            <a:endParaRPr sz="1100" b="0" i="0">
              <a:solidFill>
                <a:srgbClr val="374151"/>
              </a:solidFill>
            </a:endParaRPr>
          </a:p>
          <a:p>
            <a:pPr algn="l"/>
            <a:r>
              <a:rPr sz="1300" b="1" i="0">
                <a:solidFill>
                  <a:srgbClr val="0F1F3D"/>
                </a:solidFill>
              </a:rPr>
              <a:t>MCP1700 — LDO Voltage Regulator</a:t>
            </a:r>
          </a:p>
          <a:p>
            <a:pPr algn="l"/>
            <a:r>
              <a:rPr sz="1100" b="0" i="0">
                <a:solidFill>
                  <a:srgbClr val="374151"/>
                </a:solidFill>
              </a:rPr>
              <a:t>USB-C VBUS (5 V) -&gt; MCP1700 -&gt; 3.3 V. Ultra-low quiescent current (1.6 uA typ.), 250 mA output. Provides clean 3.3 V supply for the entire board. Input capacitor 1 uF, output capacitor 1 uF (per datasheet).</a:t>
            </a:r>
          </a:p>
        </p:txBody>
      </p:sp>
      <p:sp>
        <p:nvSpPr>
          <p:cNvPr id="6" name="Rounded Rectangle 5"/>
          <p:cNvSpPr/>
          <p:nvPr/>
        </p:nvSpPr>
        <p:spPr>
          <a:xfrm>
            <a:off x="6675120" y="1298448"/>
            <a:ext cx="5120640" cy="68580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AD9833 Output</a:t>
            </a:r>
          </a:p>
          <a:p>
            <a:pPr algn="ctr"/>
            <a:r>
              <a:rPr sz="900" b="0">
                <a:solidFill>
                  <a:srgbClr val="FFFFFF"/>
                </a:solidFill>
              </a:rPr>
              <a:t>~0.6 Vpp sine</a:t>
            </a:r>
          </a:p>
        </p:txBody>
      </p:sp>
      <p:cxnSp>
        <p:nvCxnSpPr>
          <p:cNvPr id="7" name="Connector 6"/>
          <p:cNvCxnSpPr/>
          <p:nvPr/>
        </p:nvCxnSpPr>
        <p:spPr>
          <a:xfrm>
            <a:off x="9235440" y="1984248"/>
            <a:ext cx="0" cy="182880"/>
          </a:xfrm>
          <a:prstGeom prst="line">
            <a:avLst/>
          </a:prstGeom>
          <a:ln w="25400">
            <a:solidFill>
              <a:srgbClr val="1565C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235440" y="2852928"/>
            <a:ext cx="0" cy="182880"/>
          </a:xfrm>
          <a:prstGeom prst="line">
            <a:avLst/>
          </a:prstGeom>
          <a:ln w="25400">
            <a:solidFill>
              <a:srgbClr val="1565C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675120" y="3035808"/>
            <a:ext cx="5120640" cy="685800"/>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Electrode (DUT)</a:t>
            </a:r>
          </a:p>
          <a:p>
            <a:pPr algn="ctr"/>
            <a:r>
              <a:rPr sz="900" b="0">
                <a:solidFill>
                  <a:srgbClr val="FFFFFF"/>
                </a:solidFill>
              </a:rPr>
              <a:t>V_exc / Z_dut = I</a:t>
            </a:r>
          </a:p>
        </p:txBody>
      </p:sp>
      <p:cxnSp>
        <p:nvCxnSpPr>
          <p:cNvPr id="10" name="Connector 9"/>
          <p:cNvCxnSpPr/>
          <p:nvPr/>
        </p:nvCxnSpPr>
        <p:spPr>
          <a:xfrm>
            <a:off x="9235440" y="3721608"/>
            <a:ext cx="0" cy="182880"/>
          </a:xfrm>
          <a:prstGeom prst="line">
            <a:avLst/>
          </a:prstGeom>
          <a:ln w="25400">
            <a:solidFill>
              <a:srgbClr val="1565C0"/>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675120" y="3904488"/>
            <a:ext cx="5120640" cy="68580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OPA2140 TIA</a:t>
            </a:r>
          </a:p>
          <a:p>
            <a:pPr algn="ctr"/>
            <a:r>
              <a:rPr sz="900" b="0">
                <a:solidFill>
                  <a:srgbClr val="FFFFFF"/>
                </a:solidFill>
              </a:rPr>
              <a:t>V = I x Rf</a:t>
            </a:r>
          </a:p>
        </p:txBody>
      </p:sp>
      <p:cxnSp>
        <p:nvCxnSpPr>
          <p:cNvPr id="12" name="Connector 11"/>
          <p:cNvCxnSpPr/>
          <p:nvPr/>
        </p:nvCxnSpPr>
        <p:spPr>
          <a:xfrm>
            <a:off x="9235440" y="4590288"/>
            <a:ext cx="0" cy="182880"/>
          </a:xfrm>
          <a:prstGeom prst="line">
            <a:avLst/>
          </a:prstGeom>
          <a:ln w="25400">
            <a:solidFill>
              <a:srgbClr val="1565C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675120" y="4773168"/>
            <a:ext cx="5120640" cy="6858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ADC1 CH2 (PA1)</a:t>
            </a:r>
          </a:p>
          <a:p>
            <a:pPr algn="ctr"/>
            <a:r>
              <a:rPr sz="900" b="0">
                <a:solidFill>
                  <a:srgbClr val="FFFFFF"/>
                </a:solidFill>
              </a:rPr>
              <a:t>Digitize V_TIA</a:t>
            </a:r>
          </a:p>
        </p:txBody>
      </p:sp>
      <p:cxnSp>
        <p:nvCxnSpPr>
          <p:cNvPr id="14" name="Connector 13"/>
          <p:cNvCxnSpPr/>
          <p:nvPr/>
        </p:nvCxnSpPr>
        <p:spPr>
          <a:xfrm>
            <a:off x="9235440" y="5458968"/>
            <a:ext cx="0" cy="182880"/>
          </a:xfrm>
          <a:prstGeom prst="line">
            <a:avLst/>
          </a:prstGeom>
          <a:ln w="25400">
            <a:solidFill>
              <a:srgbClr val="1565C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675120" y="1298448"/>
            <a:ext cx="5120640" cy="68580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AD9833 Output</a:t>
            </a:r>
          </a:p>
          <a:p>
            <a:pPr algn="ctr"/>
            <a:r>
              <a:rPr sz="900" b="0">
                <a:solidFill>
                  <a:srgbClr val="FFFFFF"/>
                </a:solidFill>
              </a:rPr>
              <a:t>~0.6 Vpp sine wave</a:t>
            </a:r>
          </a:p>
        </p:txBody>
      </p:sp>
      <p:cxnSp>
        <p:nvCxnSpPr>
          <p:cNvPr id="16" name="Connector 15"/>
          <p:cNvCxnSpPr/>
          <p:nvPr/>
        </p:nvCxnSpPr>
        <p:spPr>
          <a:xfrm>
            <a:off x="9235440" y="1984248"/>
            <a:ext cx="0" cy="18288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675120" y="2167128"/>
            <a:ext cx="5120640" cy="6858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OPA2140 Buffer (Amp1A)</a:t>
            </a:r>
          </a:p>
          <a:p>
            <a:pPr algn="ctr"/>
            <a:r>
              <a:rPr sz="900" b="0">
                <a:solidFill>
                  <a:srgbClr val="FFFFFF"/>
                </a:solidFill>
              </a:rPr>
              <a:t>Unity gain, high-Z input -&gt; Electrode+</a:t>
            </a:r>
          </a:p>
        </p:txBody>
      </p:sp>
      <p:cxnSp>
        <p:nvCxnSpPr>
          <p:cNvPr id="18" name="Connector 17"/>
          <p:cNvCxnSpPr/>
          <p:nvPr/>
        </p:nvCxnSpPr>
        <p:spPr>
          <a:xfrm>
            <a:off x="9235440" y="2852928"/>
            <a:ext cx="0" cy="18288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675120" y="3035808"/>
            <a:ext cx="5120640" cy="685800"/>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Electrode / DUT</a:t>
            </a:r>
          </a:p>
          <a:p>
            <a:pPr algn="ctr"/>
            <a:r>
              <a:rPr sz="900" b="0">
                <a:solidFill>
                  <a:srgbClr val="FFFFFF"/>
                </a:solidFill>
              </a:rPr>
              <a:t>Current I = V_exc / Z_dut flows through cell</a:t>
            </a:r>
          </a:p>
        </p:txBody>
      </p:sp>
      <p:cxnSp>
        <p:nvCxnSpPr>
          <p:cNvPr id="20" name="Connector 19"/>
          <p:cNvCxnSpPr/>
          <p:nvPr/>
        </p:nvCxnSpPr>
        <p:spPr>
          <a:xfrm>
            <a:off x="9235440" y="3721608"/>
            <a:ext cx="0" cy="18288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675120" y="3904488"/>
            <a:ext cx="5120640" cy="68580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OPA2140 TIA (Amp2A)</a:t>
            </a:r>
          </a:p>
          <a:p>
            <a:pPr algn="ctr"/>
            <a:r>
              <a:rPr sz="900" b="0">
                <a:solidFill>
                  <a:srgbClr val="FFFFFF"/>
                </a:solidFill>
              </a:rPr>
              <a:t>V_TIA = I x Rf  (transimpedance conversion)</a:t>
            </a:r>
          </a:p>
        </p:txBody>
      </p:sp>
      <p:cxnSp>
        <p:nvCxnSpPr>
          <p:cNvPr id="22" name="Connector 21"/>
          <p:cNvCxnSpPr/>
          <p:nvPr/>
        </p:nvCxnSpPr>
        <p:spPr>
          <a:xfrm>
            <a:off x="9235440" y="4590288"/>
            <a:ext cx="0" cy="18288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675120" y="4773168"/>
            <a:ext cx="5120640" cy="6858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ADC1 CH2 — PA1</a:t>
            </a:r>
          </a:p>
          <a:p>
            <a:pPr algn="ctr"/>
            <a:r>
              <a:rPr sz="900" b="0">
                <a:solidFill>
                  <a:srgbClr val="FFFFFF"/>
                </a:solidFill>
              </a:rPr>
              <a:t>Digitizes V_TIA at 243 kHz, 256 samples</a:t>
            </a:r>
          </a:p>
        </p:txBody>
      </p:sp>
      <p:sp>
        <p:nvSpPr>
          <p:cNvPr id="24" name="TextBox 23"/>
          <p:cNvSpPr txBox="1"/>
          <p:nvPr/>
        </p:nvSpPr>
        <p:spPr>
          <a:xfrm>
            <a:off x="6675120" y="5687568"/>
            <a:ext cx="5120640" cy="411480"/>
          </a:xfrm>
          <a:prstGeom prst="rect">
            <a:avLst/>
          </a:prstGeom>
          <a:noFill/>
        </p:spPr>
        <p:txBody>
          <a:bodyPr wrap="square">
            <a:spAutoFit/>
          </a:bodyPr>
          <a:lstStyle/>
          <a:p>
            <a:pPr algn="l"/>
            <a:r>
              <a:rPr sz="950" b="0" i="1">
                <a:solidFill>
                  <a:srgbClr val="1565C0"/>
                </a:solidFill>
              </a:rPr>
              <a:t>ADC1 CH1 (PA0) also captures V_exc reference simultaneously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F3D"/>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85800"/>
          </a:xfrm>
          <a:prstGeom prst="rect">
            <a:avLst/>
          </a:prstGeom>
          <a:noFill/>
        </p:spPr>
        <p:txBody>
          <a:bodyPr wrap="square">
            <a:spAutoFit/>
          </a:bodyPr>
          <a:lstStyle/>
          <a:p>
            <a:pPr algn="l"/>
            <a:r>
              <a:rPr sz="3200" b="1" i="0">
                <a:solidFill>
                  <a:srgbClr val="FFFFFF"/>
                </a:solidFill>
              </a:rPr>
              <a:t>Circuit Schematic</a:t>
            </a:r>
          </a:p>
        </p:txBody>
      </p:sp>
      <p:sp>
        <p:nvSpPr>
          <p:cNvPr id="3" name="Rectangle 2"/>
          <p:cNvSpPr/>
          <p:nvPr/>
        </p:nvSpPr>
        <p:spPr>
          <a:xfrm>
            <a:off x="365760" y="841248"/>
            <a:ext cx="11457432"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960120"/>
            <a:ext cx="11274552" cy="5532120"/>
          </a:xfrm>
          <a:prstGeom prst="rect">
            <a:avLst/>
          </a:prstGeom>
          <a:solidFill>
            <a:srgbClr val="122848"/>
          </a:solidFill>
          <a:ln w="254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971800"/>
            <a:ext cx="11274552" cy="685800"/>
          </a:xfrm>
          <a:prstGeom prst="rect">
            <a:avLst/>
          </a:prstGeom>
          <a:noFill/>
        </p:spPr>
        <p:txBody>
          <a:bodyPr wrap="square">
            <a:spAutoFit/>
          </a:bodyPr>
          <a:lstStyle/>
          <a:p>
            <a:pPr algn="ctr"/>
            <a:r>
              <a:rPr sz="2000" b="0" i="0">
                <a:solidFill>
                  <a:srgbClr val="4C8CC4"/>
                </a:solidFill>
              </a:rPr>
              <a:t>[ Insert Circuit Schematic Here ]</a:t>
            </a:r>
          </a:p>
        </p:txBody>
      </p:sp>
      <p:sp>
        <p:nvSpPr>
          <p:cNvPr id="6" name="TextBox 5"/>
          <p:cNvSpPr txBox="1"/>
          <p:nvPr/>
        </p:nvSpPr>
        <p:spPr>
          <a:xfrm>
            <a:off x="457200" y="3749039"/>
            <a:ext cx="11274552" cy="457200"/>
          </a:xfrm>
          <a:prstGeom prst="rect">
            <a:avLst/>
          </a:prstGeom>
          <a:noFill/>
        </p:spPr>
        <p:txBody>
          <a:bodyPr wrap="square">
            <a:spAutoFit/>
          </a:bodyPr>
          <a:lstStyle/>
          <a:p>
            <a:pPr algn="ctr"/>
            <a:r>
              <a:rPr sz="1100" b="0" i="1">
                <a:solidFill>
                  <a:srgbClr val="64748B"/>
                </a:solidFill>
              </a:rPr>
              <a:t>Right-click this box -&gt; Change Picture -&gt; From File -&gt; select your schematic export (PNG/JPG)</a:t>
            </a:r>
          </a:p>
        </p:txBody>
      </p:sp>
      <p:pic>
        <p:nvPicPr>
          <p:cNvPr id="7" name="Picture 6"/>
          <p:cNvPicPr>
            <a:picLocks noChangeAspect="1"/>
          </p:cNvPicPr>
          <p:nvPr/>
        </p:nvPicPr>
        <p:blipFill>
          <a:blip r:embed="rId2"/>
          <a:stretch>
            <a:fillRect/>
          </a:stretch>
        </p:blipFill>
        <p:spPr>
          <a:xfrm>
            <a:off x="457201" y="960120"/>
            <a:ext cx="11587316" cy="55321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Excitation Signal Path</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From STM32 firmware command to electrode voltage — step by step</a:t>
            </a:r>
          </a:p>
        </p:txBody>
      </p:sp>
      <p:sp>
        <p:nvSpPr>
          <p:cNvPr id="5" name="TextBox 4"/>
          <p:cNvSpPr txBox="1"/>
          <p:nvPr/>
        </p:nvSpPr>
        <p:spPr>
          <a:xfrm>
            <a:off x="365760" y="1261872"/>
            <a:ext cx="5943600" cy="5394960"/>
          </a:xfrm>
          <a:prstGeom prst="rect">
            <a:avLst/>
          </a:prstGeom>
          <a:noFill/>
        </p:spPr>
        <p:txBody>
          <a:bodyPr wrap="square">
            <a:spAutoFit/>
          </a:bodyPr>
          <a:lstStyle/>
          <a:p>
            <a:pPr algn="l"/>
            <a:r>
              <a:rPr sz="1300" b="1" i="0">
                <a:solidFill>
                  <a:srgbClr val="0F1F3D"/>
                </a:solidFill>
              </a:rPr>
              <a:t>Step 1 — Firmware programs AD9833</a:t>
            </a:r>
          </a:p>
          <a:p>
            <a:pPr algn="l"/>
            <a:r>
              <a:rPr sz="1100" b="0" i="0">
                <a:solidFill>
                  <a:srgbClr val="374151"/>
                </a:solidFill>
              </a:rPr>
              <a:t>main.c calls AD9833_SetFrequency(freq). The function computes freqWord = freq x 268435456 / 25000000. FSYNC pulled LOW (PA4). Two 16-bit SPI writes sent: first word has D15=1, D14=0, carries bits[13:0] of freqWord. Second write carries bits[27:14]. FSYNC pulled HIGH to latch. AD9833 now outputs sine at requested frequency.</a:t>
            </a:r>
          </a:p>
          <a:p>
            <a:pPr algn="l"/>
            <a:endParaRPr sz="1100" b="0" i="0">
              <a:solidFill>
                <a:srgbClr val="374151"/>
              </a:solidFill>
            </a:endParaRPr>
          </a:p>
          <a:p>
            <a:pPr algn="l"/>
            <a:r>
              <a:rPr sz="1300" b="1" i="0">
                <a:solidFill>
                  <a:srgbClr val="0F1F3D"/>
                </a:solidFill>
              </a:rPr>
              <a:t>Step 2 — Settle time</a:t>
            </a:r>
          </a:p>
          <a:p>
            <a:pPr algn="l"/>
            <a:r>
              <a:rPr sz="1100" b="0" i="0">
                <a:solidFill>
                  <a:srgbClr val="374151"/>
                </a:solidFill>
              </a:rPr>
              <a:t>HAL_Delay(SWEEP_DELAY_MS) gives the AD9833 output and the electrode/cell time to reach steady state before ADC acquisition begins. Default SWEEP_DELAY_MS = 100 ms.</a:t>
            </a:r>
          </a:p>
          <a:p>
            <a:pPr algn="l"/>
            <a:endParaRPr sz="1100" b="0" i="0">
              <a:solidFill>
                <a:srgbClr val="374151"/>
              </a:solidFill>
            </a:endParaRPr>
          </a:p>
          <a:p>
            <a:pPr algn="l"/>
            <a:r>
              <a:rPr sz="1300" b="1" i="0">
                <a:solidFill>
                  <a:srgbClr val="0F1F3D"/>
                </a:solidFill>
              </a:rPr>
              <a:t>Step 3 — Signal buffered by OPA2140</a:t>
            </a:r>
          </a:p>
          <a:p>
            <a:pPr algn="l"/>
            <a:r>
              <a:rPr sz="1100" b="0" i="0">
                <a:solidFill>
                  <a:srgbClr val="374151"/>
                </a:solidFill>
              </a:rPr>
              <a:t>The AD9833 output (~0.6 Vpp centered near mid-supply) drives the non-inverting input of OPA2140 Amp1A wired as a unity-gain voltage follower. Output impedance drops to near zero, ensuring no amplitude error due to electrode loading.</a:t>
            </a:r>
          </a:p>
          <a:p>
            <a:pPr algn="l"/>
            <a:endParaRPr sz="1100" b="0" i="0">
              <a:solidFill>
                <a:srgbClr val="374151"/>
              </a:solidFill>
            </a:endParaRPr>
          </a:p>
          <a:p>
            <a:pPr algn="l"/>
            <a:r>
              <a:rPr sz="1300" b="1" i="0">
                <a:solidFill>
                  <a:srgbClr val="0F1F3D"/>
                </a:solidFill>
              </a:rPr>
              <a:t>Step 4 — Signal applied to DUT</a:t>
            </a:r>
          </a:p>
          <a:p>
            <a:pPr algn="l"/>
            <a:r>
              <a:rPr sz="1100" b="0" i="0">
                <a:solidFill>
                  <a:srgbClr val="374151"/>
                </a:solidFill>
              </a:rPr>
              <a:t>The buffered sine wave appears at the Electrode+ terminal. Current flows through the electrochemical cell (DUT) with magnitude I = V_excitation / Z_DUT(f).</a:t>
            </a:r>
          </a:p>
        </p:txBody>
      </p:sp>
      <p:sp>
        <p:nvSpPr>
          <p:cNvPr id="6" name="Rounded Rectangle 5"/>
          <p:cNvSpPr/>
          <p:nvPr/>
        </p:nvSpPr>
        <p:spPr>
          <a:xfrm>
            <a:off x="6675120" y="1371600"/>
            <a:ext cx="5120640" cy="914400"/>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STM32 SPI1
(PA4 FSYNC)</a:t>
            </a:r>
          </a:p>
          <a:p>
            <a:pPr algn="ctr"/>
            <a:r>
              <a:rPr sz="1000" b="0">
                <a:solidFill>
                  <a:srgbClr val="FFFFFF"/>
                </a:solidFill>
              </a:rPr>
              <a:t>SPI command</a:t>
            </a:r>
          </a:p>
        </p:txBody>
      </p:sp>
      <p:cxnSp>
        <p:nvCxnSpPr>
          <p:cNvPr id="7" name="Connector 6"/>
          <p:cNvCxnSpPr/>
          <p:nvPr/>
        </p:nvCxnSpPr>
        <p:spPr>
          <a:xfrm>
            <a:off x="9235440" y="2286000"/>
            <a:ext cx="0" cy="201168"/>
          </a:xfrm>
          <a:prstGeom prst="line">
            <a:avLst/>
          </a:prstGeom>
          <a:ln w="31750">
            <a:solidFill>
              <a:srgbClr val="1565C0"/>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675120" y="2487168"/>
            <a:ext cx="5120640" cy="91440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AD9833 DDS
(25 MHz MCLK)</a:t>
            </a:r>
          </a:p>
          <a:p>
            <a:pPr algn="ctr"/>
            <a:r>
              <a:rPr sz="1000" b="0">
                <a:solidFill>
                  <a:srgbClr val="FFFFFF"/>
                </a:solidFill>
              </a:rPr>
              <a:t>Sine wave output</a:t>
            </a:r>
          </a:p>
        </p:txBody>
      </p:sp>
      <p:cxnSp>
        <p:nvCxnSpPr>
          <p:cNvPr id="9" name="Connector 8"/>
          <p:cNvCxnSpPr/>
          <p:nvPr/>
        </p:nvCxnSpPr>
        <p:spPr>
          <a:xfrm>
            <a:off x="9235440" y="3401568"/>
            <a:ext cx="0" cy="201168"/>
          </a:xfrm>
          <a:prstGeom prst="line">
            <a:avLst/>
          </a:prstGeom>
          <a:ln w="31750">
            <a:solidFill>
              <a:srgbClr val="1565C0"/>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675120" y="3602735"/>
            <a:ext cx="5120640" cy="9144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OPA2140 Amp1A
(Unity-gain buffer)</a:t>
            </a:r>
          </a:p>
          <a:p>
            <a:pPr algn="ctr"/>
            <a:r>
              <a:rPr sz="1000" b="0">
                <a:solidFill>
                  <a:srgbClr val="FFFFFF"/>
                </a:solidFill>
              </a:rPr>
              <a:t>Low-Z sine drive</a:t>
            </a:r>
          </a:p>
        </p:txBody>
      </p:sp>
      <p:cxnSp>
        <p:nvCxnSpPr>
          <p:cNvPr id="11" name="Connector 10"/>
          <p:cNvCxnSpPr/>
          <p:nvPr/>
        </p:nvCxnSpPr>
        <p:spPr>
          <a:xfrm>
            <a:off x="9235440" y="4517136"/>
            <a:ext cx="0" cy="201167"/>
          </a:xfrm>
          <a:prstGeom prst="line">
            <a:avLst/>
          </a:prstGeom>
          <a:ln w="31750">
            <a:solidFill>
              <a:srgbClr val="1565C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675120" y="4718303"/>
            <a:ext cx="5120640" cy="914400"/>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Electrode+
(DUT terminal)</a:t>
            </a:r>
          </a:p>
          <a:p>
            <a:pPr algn="ctr"/>
            <a:r>
              <a:rPr sz="1000" b="0">
                <a:solidFill>
                  <a:srgbClr val="FFFFFF"/>
                </a:solidFill>
              </a:rPr>
              <a:t>V_exc applied</a:t>
            </a:r>
          </a:p>
        </p:txBody>
      </p:sp>
      <p:sp>
        <p:nvSpPr>
          <p:cNvPr id="13" name="TextBox 12"/>
          <p:cNvSpPr txBox="1"/>
          <p:nvPr/>
        </p:nvSpPr>
        <p:spPr>
          <a:xfrm>
            <a:off x="6675120" y="5925311"/>
            <a:ext cx="5120640" cy="365760"/>
          </a:xfrm>
          <a:prstGeom prst="rect">
            <a:avLst/>
          </a:prstGeom>
          <a:noFill/>
        </p:spPr>
        <p:txBody>
          <a:bodyPr wrap="square">
            <a:spAutoFit/>
          </a:bodyPr>
          <a:lstStyle/>
          <a:p>
            <a:pPr algn="ctr"/>
            <a:r>
              <a:rPr sz="1000" b="0" i="1">
                <a:solidFill>
                  <a:srgbClr val="EF6C00"/>
                </a:solidFill>
              </a:rPr>
              <a:t>Current I = V_exc / Z_DUT flows through cell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Measurement &amp; Digitization Path</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From electrode current to complex impedance — ADC + tone estimator</a:t>
            </a:r>
          </a:p>
        </p:txBody>
      </p:sp>
      <p:sp>
        <p:nvSpPr>
          <p:cNvPr id="5" name="TextBox 4"/>
          <p:cNvSpPr txBox="1"/>
          <p:nvPr/>
        </p:nvSpPr>
        <p:spPr>
          <a:xfrm>
            <a:off x="365760" y="1261872"/>
            <a:ext cx="5943600" cy="5394960"/>
          </a:xfrm>
          <a:prstGeom prst="rect">
            <a:avLst/>
          </a:prstGeom>
          <a:noFill/>
        </p:spPr>
        <p:txBody>
          <a:bodyPr wrap="square">
            <a:spAutoFit/>
          </a:bodyPr>
          <a:lstStyle/>
          <a:p>
            <a:pPr algn="l"/>
            <a:r>
              <a:rPr sz="1300" b="1" i="0">
                <a:solidFill>
                  <a:srgbClr val="0F1F3D"/>
                </a:solidFill>
              </a:rPr>
              <a:t>Step 1 — TIA converts current to voltage</a:t>
            </a:r>
          </a:p>
          <a:p>
            <a:pPr algn="l"/>
            <a:r>
              <a:rPr sz="1100" b="0" i="0">
                <a:solidFill>
                  <a:srgbClr val="374151"/>
                </a:solidFill>
              </a:rPr>
              <a:t>Cell current I flows into the inverting input of OPA2140 Amp2A (TIA). Feedback resistor Rf forces: V_TIA = -I x Rf = -(V_exc / Z_DUT) x Rf. V_TIA magnitude encodes |Z|; its phase relative to V_ref encodes the phase angle.</a:t>
            </a:r>
          </a:p>
          <a:p>
            <a:pPr algn="l"/>
            <a:endParaRPr sz="1100" b="0" i="0">
              <a:solidFill>
                <a:srgbClr val="374151"/>
              </a:solidFill>
            </a:endParaRPr>
          </a:p>
          <a:p>
            <a:pPr algn="l"/>
            <a:r>
              <a:rPr sz="1300" b="1" i="0">
                <a:solidFill>
                  <a:srgbClr val="0F1F3D"/>
                </a:solidFill>
              </a:rPr>
              <a:t>Step 2 — Dual-channel ADC acquisition via DMA</a:t>
            </a:r>
          </a:p>
          <a:p>
            <a:pPr algn="l"/>
            <a:r>
              <a:rPr sz="1100" b="0" i="0">
                <a:solidFill>
                  <a:srgbClr val="374151"/>
                </a:solidFill>
              </a:rPr>
              <a:t>ADC1 is configured in scan mode: CH1 (PA0 = V_ref) and CH2 (PA1 = V_TIA) sampled alternately. DMA transfers 512 half-words (256 per channel) to two separate buffers. Sample rate per channel = 72e6 / ((61.5+12.5) x 2) = 243 kHz.</a:t>
            </a:r>
          </a:p>
          <a:p>
            <a:pPr algn="l"/>
            <a:endParaRPr sz="1100" b="0" i="0">
              <a:solidFill>
                <a:srgbClr val="374151"/>
              </a:solidFill>
            </a:endParaRPr>
          </a:p>
          <a:p>
            <a:pPr algn="l"/>
            <a:r>
              <a:rPr sz="1300" b="1" i="0">
                <a:solidFill>
                  <a:srgbClr val="0F1F3D"/>
                </a:solidFill>
              </a:rPr>
              <a:t>Step 3 — Least-squares tone estimation</a:t>
            </a:r>
          </a:p>
          <a:p>
            <a:pPr algn="l"/>
            <a:r>
              <a:rPr sz="1100" b="0" i="0">
                <a:solidFill>
                  <a:srgbClr val="374151"/>
                </a:solidFill>
              </a:rPr>
              <a:t>For each channel, Estimate_Tone() projects the 256 samples onto cos(2*pi*f*t[i]) and sin(2*pi*f*t[i]) where t[i] = i / IMP_SAMPLE_RATE_HZ (actual hardware timing). Solving the 2x2 normal equations gives [a, b]. Magnitude = sqrt(a^2+b^2), Phase = atan2(b,a).</a:t>
            </a:r>
          </a:p>
          <a:p>
            <a:pPr algn="l"/>
            <a:endParaRPr sz="1100" b="0" i="0">
              <a:solidFill>
                <a:srgbClr val="374151"/>
              </a:solidFill>
            </a:endParaRPr>
          </a:p>
          <a:p>
            <a:pPr algn="l"/>
            <a:r>
              <a:rPr sz="1300" b="1" i="0">
                <a:solidFill>
                  <a:srgbClr val="0F1F3D"/>
                </a:solidFill>
              </a:rPr>
              <a:t>Step 4 — Impedance calculation</a:t>
            </a:r>
          </a:p>
          <a:p>
            <a:pPr algn="l"/>
            <a:r>
              <a:rPr sz="1100" b="0" i="0">
                <a:solidFill>
                  <a:srgbClr val="374151"/>
                </a:solidFill>
              </a:rPr>
              <a:t>|Z| = (|V_ref| / |V_TIA|) x Rf  [Ohms]
Phase = angle(V_TIA) - angle(V_ref)  [degrees]
Re(Z) = |Z| x cos(phase)
Im(Z) = |Z| x sin(phase)</a:t>
            </a:r>
          </a:p>
        </p:txBody>
      </p:sp>
      <p:sp>
        <p:nvSpPr>
          <p:cNvPr id="6" name="Rounded Rectangle 5"/>
          <p:cNvSpPr/>
          <p:nvPr/>
        </p:nvSpPr>
        <p:spPr>
          <a:xfrm>
            <a:off x="6675120" y="1371600"/>
            <a:ext cx="5120640" cy="841248"/>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Electrode- current</a:t>
            </a:r>
          </a:p>
          <a:p>
            <a:pPr algn="ctr"/>
            <a:r>
              <a:rPr sz="1000" b="0">
                <a:solidFill>
                  <a:srgbClr val="FFFFFF"/>
                </a:solidFill>
              </a:rPr>
              <a:t>I = V_exc/Z_DUT</a:t>
            </a:r>
          </a:p>
        </p:txBody>
      </p:sp>
      <p:cxnSp>
        <p:nvCxnSpPr>
          <p:cNvPr id="7" name="Connector 6"/>
          <p:cNvCxnSpPr/>
          <p:nvPr/>
        </p:nvCxnSpPr>
        <p:spPr>
          <a:xfrm>
            <a:off x="9235440" y="2212848"/>
            <a:ext cx="0" cy="164592"/>
          </a:xfrm>
          <a:prstGeom prst="line">
            <a:avLst/>
          </a:prstGeom>
          <a:ln w="31750">
            <a:solidFill>
              <a:srgbClr val="00897B"/>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675120" y="2377440"/>
            <a:ext cx="5120640" cy="841248"/>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OPA2140 Amp2A TIA</a:t>
            </a:r>
          </a:p>
          <a:p>
            <a:pPr algn="ctr"/>
            <a:r>
              <a:rPr sz="1000" b="0">
                <a:solidFill>
                  <a:srgbClr val="FFFFFF"/>
                </a:solidFill>
              </a:rPr>
              <a:t>V_TIA = -I x Rf</a:t>
            </a:r>
          </a:p>
        </p:txBody>
      </p:sp>
      <p:cxnSp>
        <p:nvCxnSpPr>
          <p:cNvPr id="9" name="Connector 8"/>
          <p:cNvCxnSpPr/>
          <p:nvPr/>
        </p:nvCxnSpPr>
        <p:spPr>
          <a:xfrm>
            <a:off x="9235440" y="3218688"/>
            <a:ext cx="0" cy="164592"/>
          </a:xfrm>
          <a:prstGeom prst="line">
            <a:avLst/>
          </a:prstGeom>
          <a:ln w="31750">
            <a:solidFill>
              <a:srgbClr val="00897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675120" y="3383280"/>
            <a:ext cx="5120640" cy="841248"/>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ADC1 CH2 (PA1)</a:t>
            </a:r>
          </a:p>
          <a:p>
            <a:pPr algn="ctr"/>
            <a:r>
              <a:rPr sz="1000" b="0">
                <a:solidFill>
                  <a:srgbClr val="FFFFFF"/>
                </a:solidFill>
              </a:rPr>
              <a:t>243 kHz, 256 samples</a:t>
            </a:r>
          </a:p>
        </p:txBody>
      </p:sp>
      <p:cxnSp>
        <p:nvCxnSpPr>
          <p:cNvPr id="11" name="Connector 10"/>
          <p:cNvCxnSpPr/>
          <p:nvPr/>
        </p:nvCxnSpPr>
        <p:spPr>
          <a:xfrm>
            <a:off x="9235440" y="4224528"/>
            <a:ext cx="0" cy="164592"/>
          </a:xfrm>
          <a:prstGeom prst="line">
            <a:avLst/>
          </a:prstGeom>
          <a:ln w="31750">
            <a:solidFill>
              <a:srgbClr val="00897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675120" y="4389120"/>
            <a:ext cx="5120640" cy="841248"/>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Tone Estimator</a:t>
            </a:r>
          </a:p>
          <a:p>
            <a:pPr algn="ctr"/>
            <a:r>
              <a:rPr sz="1000" b="0">
                <a:solidFill>
                  <a:srgbClr val="FFFFFF"/>
                </a:solidFill>
              </a:rPr>
              <a:t>a = proj(cos), b = proj(sin)</a:t>
            </a:r>
          </a:p>
        </p:txBody>
      </p:sp>
      <p:cxnSp>
        <p:nvCxnSpPr>
          <p:cNvPr id="13" name="Connector 12"/>
          <p:cNvCxnSpPr/>
          <p:nvPr/>
        </p:nvCxnSpPr>
        <p:spPr>
          <a:xfrm>
            <a:off x="9235440" y="5230368"/>
            <a:ext cx="0" cy="164592"/>
          </a:xfrm>
          <a:prstGeom prst="line">
            <a:avLst/>
          </a:prstGeom>
          <a:ln w="31750">
            <a:solidFill>
              <a:srgbClr val="00897B"/>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675120" y="5394960"/>
            <a:ext cx="5120640" cy="841248"/>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|Z|, Phase, Re, Im</a:t>
            </a:r>
          </a:p>
          <a:p>
            <a:pPr algn="ctr"/>
            <a:r>
              <a:rPr sz="1000" b="0">
                <a:solidFill>
                  <a:srgbClr val="FFFFFF"/>
                </a:solidFill>
              </a:rPr>
              <a:t>BodePoint computed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F3D"/>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85800"/>
          </a:xfrm>
          <a:prstGeom prst="rect">
            <a:avLst/>
          </a:prstGeom>
          <a:noFill/>
        </p:spPr>
        <p:txBody>
          <a:bodyPr wrap="square">
            <a:spAutoFit/>
          </a:bodyPr>
          <a:lstStyle/>
          <a:p>
            <a:pPr algn="l"/>
            <a:r>
              <a:rPr sz="3200" b="1" i="0">
                <a:solidFill>
                  <a:srgbClr val="FFFFFF"/>
                </a:solidFill>
              </a:rPr>
              <a:t>PCB Layout</a:t>
            </a:r>
          </a:p>
        </p:txBody>
      </p:sp>
      <p:sp>
        <p:nvSpPr>
          <p:cNvPr id="3" name="Rectangle 2"/>
          <p:cNvSpPr/>
          <p:nvPr/>
        </p:nvSpPr>
        <p:spPr>
          <a:xfrm>
            <a:off x="365760" y="841248"/>
            <a:ext cx="11457432"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960120"/>
            <a:ext cx="11274552" cy="5532120"/>
          </a:xfrm>
          <a:prstGeom prst="rect">
            <a:avLst/>
          </a:prstGeom>
          <a:solidFill>
            <a:srgbClr val="122848"/>
          </a:solidFill>
          <a:ln w="254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971800"/>
            <a:ext cx="11274552" cy="685800"/>
          </a:xfrm>
          <a:prstGeom prst="rect">
            <a:avLst/>
          </a:prstGeom>
          <a:noFill/>
        </p:spPr>
        <p:txBody>
          <a:bodyPr wrap="square">
            <a:spAutoFit/>
          </a:bodyPr>
          <a:lstStyle/>
          <a:p>
            <a:pPr algn="ctr"/>
            <a:r>
              <a:rPr sz="2000" b="0" i="0">
                <a:solidFill>
                  <a:srgbClr val="4C8CC4"/>
                </a:solidFill>
              </a:rPr>
              <a:t>[ Insert PCB Layout Image Here ]</a:t>
            </a:r>
          </a:p>
        </p:txBody>
      </p:sp>
      <p:sp>
        <p:nvSpPr>
          <p:cNvPr id="6" name="TextBox 5"/>
          <p:cNvSpPr txBox="1"/>
          <p:nvPr/>
        </p:nvSpPr>
        <p:spPr>
          <a:xfrm>
            <a:off x="457200" y="3749039"/>
            <a:ext cx="11274552" cy="457200"/>
          </a:xfrm>
          <a:prstGeom prst="rect">
            <a:avLst/>
          </a:prstGeom>
          <a:noFill/>
        </p:spPr>
        <p:txBody>
          <a:bodyPr wrap="square">
            <a:spAutoFit/>
          </a:bodyPr>
          <a:lstStyle/>
          <a:p>
            <a:pPr algn="ctr"/>
            <a:r>
              <a:rPr sz="1100" b="0" i="1">
                <a:solidFill>
                  <a:srgbClr val="64748B"/>
                </a:solidFill>
              </a:rPr>
              <a:t>Right-click -&gt; Change Picture -&gt; From File -&gt; select the PCB screenshot from KiCad/Altium</a:t>
            </a:r>
          </a:p>
        </p:txBody>
      </p:sp>
      <p:pic>
        <p:nvPicPr>
          <p:cNvPr id="7" name="Picture 6"/>
          <p:cNvPicPr>
            <a:picLocks noChangeAspect="1"/>
          </p:cNvPicPr>
          <p:nvPr/>
        </p:nvPicPr>
        <p:blipFill>
          <a:blip r:embed="rId2"/>
          <a:stretch>
            <a:fillRect/>
          </a:stretch>
        </p:blipFill>
        <p:spPr>
          <a:xfrm>
            <a:off x="457200" y="1042218"/>
            <a:ext cx="11274552" cy="545002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PCB Design Considerations</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Key design decisions that affect measurement accuracy and signal integrity</a:t>
            </a:r>
          </a:p>
        </p:txBody>
      </p:sp>
      <p:sp>
        <p:nvSpPr>
          <p:cNvPr id="5" name="Rounded Rectangle 4"/>
          <p:cNvSpPr/>
          <p:nvPr/>
        </p:nvSpPr>
        <p:spPr>
          <a:xfrm>
            <a:off x="365760" y="1280160"/>
            <a:ext cx="5682996" cy="1280160"/>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Analog/Digital Ground Plane</a:t>
            </a:r>
          </a:p>
          <a:p>
            <a:pPr algn="ctr"/>
            <a:r>
              <a:rPr sz="950" b="0">
                <a:solidFill>
                  <a:srgbClr val="FFFFFF"/>
                </a:solidFill>
              </a:rPr>
              <a:t>Analog and digital sections share a common ground but with careful layout to avoid digital switching noise coupling into the sensitive TIA output trace. Decoupling capacitors placed directly at each IC power pin.</a:t>
            </a:r>
          </a:p>
        </p:txBody>
      </p:sp>
      <p:sp>
        <p:nvSpPr>
          <p:cNvPr id="6" name="Rounded Rectangle 5"/>
          <p:cNvSpPr/>
          <p:nvPr/>
        </p:nvSpPr>
        <p:spPr>
          <a:xfrm>
            <a:off x="6140196" y="1280160"/>
            <a:ext cx="5682996" cy="128016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Short TIA Output Trace</a:t>
            </a:r>
          </a:p>
          <a:p>
            <a:pPr algn="ctr"/>
            <a:r>
              <a:rPr sz="950" b="0">
                <a:solidFill>
                  <a:srgbClr val="FFFFFF"/>
                </a:solidFill>
              </a:rPr>
              <a:t>The trace from OPA2140 Amp2A output to ADC1 CH2 (PA1) is kept as short as possible to minimize parasitic capacitance, which would add phase error and bandwidth limitation at high frequencies.</a:t>
            </a:r>
          </a:p>
        </p:txBody>
      </p:sp>
      <p:sp>
        <p:nvSpPr>
          <p:cNvPr id="7" name="Rounded Rectangle 6"/>
          <p:cNvSpPr/>
          <p:nvPr/>
        </p:nvSpPr>
        <p:spPr>
          <a:xfrm>
            <a:off x="365760" y="2651760"/>
            <a:ext cx="5682996" cy="128016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VREF+ Filtering</a:t>
            </a:r>
          </a:p>
          <a:p>
            <a:pPr algn="ctr"/>
            <a:r>
              <a:rPr sz="950" b="0">
                <a:solidFill>
                  <a:srgbClr val="FFFFFF"/>
                </a:solidFill>
              </a:rPr>
              <a:t>ADR4533BRZ output is decoupled with 100 nF + 1 uF capacitors directly at the STM32 VREF+ pin. Any ripple on the voltage reference appears directly as gain error in all ADC readings.</a:t>
            </a:r>
          </a:p>
        </p:txBody>
      </p:sp>
      <p:sp>
        <p:nvSpPr>
          <p:cNvPr id="8" name="Rounded Rectangle 7"/>
          <p:cNvSpPr/>
          <p:nvPr/>
        </p:nvSpPr>
        <p:spPr>
          <a:xfrm>
            <a:off x="6140196" y="2651760"/>
            <a:ext cx="5682996" cy="128016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SPI Bus Routing</a:t>
            </a:r>
          </a:p>
          <a:p>
            <a:pPr algn="ctr"/>
            <a:r>
              <a:rPr sz="950" b="0">
                <a:solidFill>
                  <a:srgbClr val="FFFFFF"/>
                </a:solidFill>
              </a:rPr>
              <a:t>SPI1 clock, MOSI, and MISO traces are routed with matched length where practical. Both AD9833 (CS=PA4) and W25Q32 (CS=PB12) share the three data lines — firmware ensures mutual exclusion.</a:t>
            </a:r>
          </a:p>
        </p:txBody>
      </p:sp>
      <p:sp>
        <p:nvSpPr>
          <p:cNvPr id="9" name="Rounded Rectangle 8"/>
          <p:cNvSpPr/>
          <p:nvPr/>
        </p:nvSpPr>
        <p:spPr>
          <a:xfrm>
            <a:off x="365760" y="4023360"/>
            <a:ext cx="5682996" cy="1280160"/>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Crystal Placement</a:t>
            </a:r>
          </a:p>
          <a:p>
            <a:pPr algn="ctr"/>
            <a:r>
              <a:rPr sz="950" b="0">
                <a:solidFill>
                  <a:srgbClr val="FFFFFF"/>
                </a:solidFill>
              </a:rPr>
              <a:t>The 8 MHz STM32 crystal (ABM3B) is placed very close to the HSE pins with guard traces. The 25 MHz AD9833 crystal (ASE-25.000MHz) is placed directly adjacent to the AD9833 MCLK pin.</a:t>
            </a:r>
          </a:p>
        </p:txBody>
      </p:sp>
      <p:sp>
        <p:nvSpPr>
          <p:cNvPr id="10" name="Rounded Rectangle 9"/>
          <p:cNvSpPr/>
          <p:nvPr/>
        </p:nvSpPr>
        <p:spPr>
          <a:xfrm>
            <a:off x="6140196" y="4023360"/>
            <a:ext cx="5682996" cy="1280160"/>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USB-C Power Path</a:t>
            </a:r>
          </a:p>
          <a:p>
            <a:pPr algn="ctr"/>
            <a:r>
              <a:rPr sz="950" b="0">
                <a:solidFill>
                  <a:srgbClr val="FFFFFF"/>
                </a:solidFill>
              </a:rPr>
              <a:t>USB-C VBUS enters through a 5.1 kOhm CC resistor for DFP detection, then into the MCP1700 LDO. Input bulk capacitor (10 uF) absorbs USB cable inductance transients before the LDO.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Component Placement &amp; Routing Strategy</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Where each IC sits on the PCB and why</a:t>
            </a:r>
          </a:p>
        </p:txBody>
      </p:sp>
      <p:sp>
        <p:nvSpPr>
          <p:cNvPr id="5" name="TextBox 4"/>
          <p:cNvSpPr txBox="1"/>
          <p:nvPr/>
        </p:nvSpPr>
        <p:spPr>
          <a:xfrm>
            <a:off x="365760" y="1261872"/>
            <a:ext cx="5943600" cy="5394960"/>
          </a:xfrm>
          <a:prstGeom prst="rect">
            <a:avLst/>
          </a:prstGeom>
          <a:noFill/>
        </p:spPr>
        <p:txBody>
          <a:bodyPr wrap="square">
            <a:spAutoFit/>
          </a:bodyPr>
          <a:lstStyle/>
          <a:p>
            <a:pPr algn="l"/>
            <a:r>
              <a:rPr sz="1300" b="1" i="0">
                <a:solidFill>
                  <a:srgbClr val="0F1F3D"/>
                </a:solidFill>
              </a:rPr>
              <a:t>STM32F303CCT6 — Center of Board</a:t>
            </a:r>
          </a:p>
          <a:p>
            <a:pPr algn="l"/>
            <a:r>
              <a:rPr sz="1100" b="0" i="0">
                <a:solidFill>
                  <a:srgbClr val="374151"/>
                </a:solidFill>
              </a:rPr>
              <a:t>Placed centrally so all peripheral connections (SPI, UART, ADC, GPIO) radiate outward with minimal trace length.</a:t>
            </a:r>
          </a:p>
          <a:p>
            <a:pPr algn="l"/>
            <a:endParaRPr sz="1100" b="0" i="0">
              <a:solidFill>
                <a:srgbClr val="374151"/>
              </a:solidFill>
            </a:endParaRPr>
          </a:p>
          <a:p>
            <a:pPr algn="l"/>
            <a:r>
              <a:rPr sz="1300" b="1" i="0">
                <a:solidFill>
                  <a:srgbClr val="1565C0"/>
                </a:solidFill>
              </a:rPr>
              <a:t>AD9833 DDS — Near STM32 SPI Pins</a:t>
            </a:r>
          </a:p>
          <a:p>
            <a:pPr algn="l"/>
            <a:r>
              <a:rPr sz="1100" b="0" i="0">
                <a:solidFill>
                  <a:srgbClr val="374151"/>
                </a:solidFill>
              </a:rPr>
              <a:t>Short SPI traces reduce impedance mismatch at 36 MHz SPI clock. FSYNC trace (PA4) goes directly to AD9833 SYNC pin.</a:t>
            </a:r>
          </a:p>
          <a:p>
            <a:pPr algn="l"/>
            <a:endParaRPr sz="1100" b="0" i="0">
              <a:solidFill>
                <a:srgbClr val="374151"/>
              </a:solidFill>
            </a:endParaRPr>
          </a:p>
          <a:p>
            <a:pPr algn="l"/>
            <a:r>
              <a:rPr sz="1300" b="1" i="0">
                <a:solidFill>
                  <a:srgbClr val="00897B"/>
                </a:solidFill>
              </a:rPr>
              <a:t>OPA2140 Pair — Near Electrode Connector</a:t>
            </a:r>
          </a:p>
          <a:p>
            <a:pPr algn="l"/>
            <a:r>
              <a:rPr sz="1100" b="0" i="0">
                <a:solidFill>
                  <a:srgbClr val="374151"/>
                </a:solidFill>
              </a:rPr>
              <a:t>Minimises trace length for the high-impedance TIA input (inverting node) and excitation output, reducing parasitic capacitance pickup from nearby digital traces.</a:t>
            </a:r>
          </a:p>
          <a:p>
            <a:pPr algn="l"/>
            <a:endParaRPr sz="1100" b="0" i="0">
              <a:solidFill>
                <a:srgbClr val="374151"/>
              </a:solidFill>
            </a:endParaRPr>
          </a:p>
          <a:p>
            <a:pPr algn="l"/>
            <a:r>
              <a:rPr sz="1300" b="1" i="0">
                <a:solidFill>
                  <a:srgbClr val="EF6C00"/>
                </a:solidFill>
              </a:rPr>
              <a:t>ADR4533BRZ — Adjacent to VREF+ Pin</a:t>
            </a:r>
          </a:p>
          <a:p>
            <a:pPr algn="l"/>
            <a:r>
              <a:rPr sz="1100" b="0" i="0">
                <a:solidFill>
                  <a:srgbClr val="374151"/>
                </a:solidFill>
              </a:rPr>
              <a:t>Direct routing from ADR4533 output to VREF+ with 100nF decoupling cap on the same net, with 1uF bulk cap to ground.</a:t>
            </a:r>
          </a:p>
          <a:p>
            <a:pPr algn="l"/>
            <a:endParaRPr sz="1100" b="0" i="0">
              <a:solidFill>
                <a:srgbClr val="374151"/>
              </a:solidFill>
            </a:endParaRPr>
          </a:p>
          <a:p>
            <a:pPr algn="l"/>
            <a:r>
              <a:rPr sz="1300" b="1" i="0">
                <a:solidFill>
                  <a:srgbClr val="2E7D32"/>
                </a:solidFill>
              </a:rPr>
              <a:t>W25Q32 Flash — On SPI1 Bus, Opposite Side from AD9833</a:t>
            </a:r>
          </a:p>
          <a:p>
            <a:pPr algn="l"/>
            <a:r>
              <a:rPr sz="1100" b="0" i="0">
                <a:solidFill>
                  <a:srgbClr val="374151"/>
                </a:solidFill>
              </a:rPr>
              <a:t>Separate chip-select (PB12) allows the firmware to select flash vs DDS independently. CS line pulled HIGH at power-on via pull-up resistor (PB12 pull-up).</a:t>
            </a:r>
          </a:p>
          <a:p>
            <a:pPr algn="l"/>
            <a:endParaRPr sz="1100" b="0" i="0">
              <a:solidFill>
                <a:srgbClr val="374151"/>
              </a:solidFill>
            </a:endParaRPr>
          </a:p>
          <a:p>
            <a:pPr algn="l"/>
            <a:r>
              <a:rPr sz="1300" b="1" i="0">
                <a:solidFill>
                  <a:srgbClr val="6A1B9A"/>
                </a:solidFill>
              </a:rPr>
              <a:t>CP2102 &amp; USB-C — Board Edge</a:t>
            </a:r>
          </a:p>
          <a:p>
            <a:pPr algn="l"/>
            <a:r>
              <a:rPr sz="1100" b="0" i="0">
                <a:solidFill>
                  <a:srgbClr val="374151"/>
                </a:solidFill>
              </a:rPr>
              <a:t>USB connector on board edge with ESD protection diodes. CP2102 placed adjacent to reduce UART trace length to STM32 PA9/PA10.</a:t>
            </a:r>
          </a:p>
        </p:txBody>
      </p:sp>
      <p:sp>
        <p:nvSpPr>
          <p:cNvPr id="6" name="Rectangle 5"/>
          <p:cNvSpPr/>
          <p:nvPr/>
        </p:nvSpPr>
        <p:spPr>
          <a:xfrm>
            <a:off x="6400800" y="1261872"/>
            <a:ext cx="5486400" cy="5394960"/>
          </a:xfrm>
          <a:prstGeom prst="rect">
            <a:avLst/>
          </a:prstGeom>
          <a:solidFill>
            <a:srgbClr val="0A2A10"/>
          </a:solidFill>
          <a:ln w="2540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92240" y="1325880"/>
            <a:ext cx="5303520" cy="320040"/>
          </a:xfrm>
          <a:prstGeom prst="rect">
            <a:avLst/>
          </a:prstGeom>
          <a:noFill/>
        </p:spPr>
        <p:txBody>
          <a:bodyPr wrap="square">
            <a:spAutoFit/>
          </a:bodyPr>
          <a:lstStyle/>
          <a:p>
            <a:pPr algn="ctr"/>
            <a:r>
              <a:rPr sz="1100" b="1" i="0">
                <a:solidFill>
                  <a:srgbClr val="00897B"/>
                </a:solidFill>
              </a:rPr>
              <a:t>PCB Top View (Abstract)</a:t>
            </a:r>
          </a:p>
        </p:txBody>
      </p:sp>
      <p:sp>
        <p:nvSpPr>
          <p:cNvPr id="8" name="Rounded Rectangle 7"/>
          <p:cNvSpPr/>
          <p:nvPr/>
        </p:nvSpPr>
        <p:spPr>
          <a:xfrm>
            <a:off x="8686800" y="3200400"/>
            <a:ext cx="1463040" cy="914400"/>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i="0">
                <a:solidFill>
                  <a:srgbClr val="FFFFFF"/>
                </a:solidFill>
              </a:rPr>
              <a:t>STM32F303</a:t>
            </a:r>
          </a:p>
        </p:txBody>
      </p:sp>
      <p:sp>
        <p:nvSpPr>
          <p:cNvPr id="9" name="Rounded Rectangle 8"/>
          <p:cNvSpPr/>
          <p:nvPr/>
        </p:nvSpPr>
        <p:spPr>
          <a:xfrm>
            <a:off x="6858000" y="1828800"/>
            <a:ext cx="1280160" cy="64008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i="0">
                <a:solidFill>
                  <a:srgbClr val="FFFFFF"/>
                </a:solidFill>
              </a:rPr>
              <a:t>AD9833</a:t>
            </a:r>
          </a:p>
        </p:txBody>
      </p:sp>
      <p:sp>
        <p:nvSpPr>
          <p:cNvPr id="10" name="Rounded Rectangle 9"/>
          <p:cNvSpPr/>
          <p:nvPr/>
        </p:nvSpPr>
        <p:spPr>
          <a:xfrm>
            <a:off x="6858000" y="4114800"/>
            <a:ext cx="1280160" cy="64008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i="0">
                <a:solidFill>
                  <a:srgbClr val="FFFFFF"/>
                </a:solidFill>
              </a:rPr>
              <a:t>OPA2140x2</a:t>
            </a:r>
          </a:p>
        </p:txBody>
      </p:sp>
      <p:sp>
        <p:nvSpPr>
          <p:cNvPr id="11" name="Rounded Rectangle 10"/>
          <p:cNvSpPr/>
          <p:nvPr/>
        </p:nvSpPr>
        <p:spPr>
          <a:xfrm>
            <a:off x="10058400" y="1828800"/>
            <a:ext cx="1188720" cy="640080"/>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i="0">
                <a:solidFill>
                  <a:srgbClr val="FFFFFF"/>
                </a:solidFill>
              </a:rPr>
              <a:t>ADR4533</a:t>
            </a:r>
          </a:p>
        </p:txBody>
      </p:sp>
      <p:sp>
        <p:nvSpPr>
          <p:cNvPr id="12" name="Rounded Rectangle 11"/>
          <p:cNvSpPr/>
          <p:nvPr/>
        </p:nvSpPr>
        <p:spPr>
          <a:xfrm>
            <a:off x="10058400" y="4114800"/>
            <a:ext cx="1188720" cy="64008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i="0">
                <a:solidFill>
                  <a:srgbClr val="FFFFFF"/>
                </a:solidFill>
              </a:rPr>
              <a:t>W25Q32</a:t>
            </a:r>
          </a:p>
        </p:txBody>
      </p:sp>
      <p:sp>
        <p:nvSpPr>
          <p:cNvPr id="13" name="Rounded Rectangle 12"/>
          <p:cNvSpPr/>
          <p:nvPr/>
        </p:nvSpPr>
        <p:spPr>
          <a:xfrm>
            <a:off x="10058400" y="3108960"/>
            <a:ext cx="1188720" cy="64008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i="0">
                <a:solidFill>
                  <a:srgbClr val="FFFFFF"/>
                </a:solidFill>
              </a:rPr>
              <a:t>CP2102</a:t>
            </a:r>
          </a:p>
        </p:txBody>
      </p:sp>
      <p:sp>
        <p:nvSpPr>
          <p:cNvPr id="14" name="Rounded Rectangle 13"/>
          <p:cNvSpPr/>
          <p:nvPr/>
        </p:nvSpPr>
        <p:spPr>
          <a:xfrm>
            <a:off x="6858000" y="3017520"/>
            <a:ext cx="1097280" cy="548640"/>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i="0">
                <a:solidFill>
                  <a:srgbClr val="FFFFFF"/>
                </a:solidFill>
              </a:rPr>
              <a:t>MCP1700</a:t>
            </a:r>
          </a:p>
        </p:txBody>
      </p:sp>
      <p:sp>
        <p:nvSpPr>
          <p:cNvPr id="15" name="Rounded Rectangle 14"/>
          <p:cNvSpPr/>
          <p:nvPr/>
        </p:nvSpPr>
        <p:spPr>
          <a:xfrm>
            <a:off x="8229600" y="1828800"/>
            <a:ext cx="914400" cy="502920"/>
          </a:xfrm>
          <a:prstGeom prst="roundRect">
            <a:avLst/>
          </a:prstGeom>
          <a:solidFill>
            <a:srgbClr val="4E342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i="0">
                <a:solidFill>
                  <a:srgbClr val="FFFFFF"/>
                </a:solidFill>
              </a:rPr>
              <a:t>8MHz Xtal</a:t>
            </a:r>
          </a:p>
        </p:txBody>
      </p:sp>
      <p:sp>
        <p:nvSpPr>
          <p:cNvPr id="16" name="Rounded Rectangle 15"/>
          <p:cNvSpPr/>
          <p:nvPr/>
        </p:nvSpPr>
        <p:spPr>
          <a:xfrm>
            <a:off x="7589520" y="3749039"/>
            <a:ext cx="1005840" cy="502920"/>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i="0">
                <a:solidFill>
                  <a:srgbClr val="FFFFFF"/>
                </a:solidFill>
              </a:rPr>
              <a:t>25MHz Xtal</a:t>
            </a:r>
          </a:p>
        </p:txBody>
      </p:sp>
      <p:sp>
        <p:nvSpPr>
          <p:cNvPr id="17" name="Rounded Rectangle 16"/>
          <p:cNvSpPr/>
          <p:nvPr/>
        </p:nvSpPr>
        <p:spPr>
          <a:xfrm>
            <a:off x="6583680" y="5029200"/>
            <a:ext cx="1097280" cy="548640"/>
          </a:xfrm>
          <a:prstGeom prst="round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i="0">
                <a:solidFill>
                  <a:srgbClr val="FFFFFF"/>
                </a:solidFill>
              </a:rPr>
              <a:t>Electrode
Connector</a:t>
            </a:r>
          </a:p>
        </p:txBody>
      </p:sp>
      <p:sp>
        <p:nvSpPr>
          <p:cNvPr id="18" name="Rounded Rectangle 17"/>
          <p:cNvSpPr/>
          <p:nvPr/>
        </p:nvSpPr>
        <p:spPr>
          <a:xfrm>
            <a:off x="10607040" y="5029200"/>
            <a:ext cx="1005840" cy="548640"/>
          </a:xfrm>
          <a:prstGeom prst="round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i="0">
                <a:solidFill>
                  <a:srgbClr val="FFFFFF"/>
                </a:solidFill>
              </a:rPr>
              <a:t>USB-C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Firmware &amp; Software</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STM32 HAL-based C firmware  |  Python 3 desktop application</a:t>
            </a:r>
          </a:p>
        </p:txBody>
      </p:sp>
      <p:sp>
        <p:nvSpPr>
          <p:cNvPr id="5" name="TextBox 4"/>
          <p:cNvSpPr txBox="1"/>
          <p:nvPr/>
        </p:nvSpPr>
        <p:spPr>
          <a:xfrm>
            <a:off x="365760" y="1261872"/>
            <a:ext cx="5943600" cy="5394960"/>
          </a:xfrm>
          <a:prstGeom prst="rect">
            <a:avLst/>
          </a:prstGeom>
          <a:noFill/>
        </p:spPr>
        <p:txBody>
          <a:bodyPr wrap="square">
            <a:spAutoFit/>
          </a:bodyPr>
          <a:lstStyle/>
          <a:p>
            <a:pPr algn="l"/>
            <a:r>
              <a:rPr sz="1300" b="1" i="0">
                <a:solidFill>
                  <a:srgbClr val="0F1F3D"/>
                </a:solidFill>
              </a:rPr>
              <a:t>STM32 Firmware (C / HAL)</a:t>
            </a:r>
          </a:p>
          <a:p>
            <a:pPr algn="l"/>
            <a:r>
              <a:rPr sz="1000" b="0" i="0">
                <a:solidFill>
                  <a:srgbClr val="374151"/>
                </a:solidFill>
              </a:rPr>
              <a:t>The firmware initialises SPI1, configures dual-channel ADC1 with DMA (486 kHz effective rate, 256 samples), and enters a UART command loop at 115 200 baud. On receiving START it iterates through the user-specified frequency sweep calling AD9833 to set each frequency.</a:t>
            </a:r>
          </a:p>
          <a:p>
            <a:pPr algn="l"/>
            <a:endParaRPr sz="1000" b="0" i="0">
              <a:solidFill>
                <a:srgbClr val="374151"/>
              </a:solidFill>
            </a:endParaRPr>
          </a:p>
          <a:p>
            <a:pPr algn="l"/>
            <a:r>
              <a:rPr sz="1000" b="0" i="0">
                <a:solidFill>
                  <a:srgbClr val="374151"/>
                </a:solidFill>
              </a:rPr>
              <a:t>At each frequency step, 512 ADC samples (256 x ref + 256 x TIA) are collected via DMA. A least-squares 2x2 sinusoidal tone estimator projects onto the exact measurement frequency yielding true complex voltage for both channels. Z = (V_ref/V_sig) x Rf.</a:t>
            </a:r>
          </a:p>
          <a:p>
            <a:pPr algn="l"/>
            <a:endParaRPr sz="1000" b="0" i="0">
              <a:solidFill>
                <a:srgbClr val="374151"/>
              </a:solidFill>
            </a:endParaRPr>
          </a:p>
          <a:p>
            <a:pPr algn="l"/>
            <a:r>
              <a:rPr sz="1000" b="0" i="0">
                <a:solidFill>
                  <a:srgbClr val="374151"/>
                </a:solidFill>
              </a:rPr>
              <a:t>Each BodePoint (|Z|, phase, Re, Im) is transmitted over UART and simultaneously written to W25Q32 SPI flash. DUMP_FLASH replays stored records to the GUI.</a:t>
            </a:r>
          </a:p>
          <a:p>
            <a:pPr algn="l"/>
            <a:endParaRPr sz="1000" b="0" i="0">
              <a:solidFill>
                <a:srgbClr val="374151"/>
              </a:solidFill>
            </a:endParaRPr>
          </a:p>
          <a:p>
            <a:pPr algn="l"/>
            <a:r>
              <a:rPr sz="1300" b="1" i="0">
                <a:solidFill>
                  <a:srgbClr val="0F1F3D"/>
                </a:solidFill>
              </a:rPr>
              <a:t>Python GUI (PyQt5)</a:t>
            </a:r>
          </a:p>
          <a:p>
            <a:pPr algn="l"/>
            <a:r>
              <a:rPr sz="1000" b="0" i="0">
                <a:solidFill>
                  <a:srgbClr val="374151"/>
                </a:solidFill>
              </a:rPr>
              <a:t>A background QThread reads UART lines at 115200 baud. The main thread parses DATA/STATUS/FLASH responses and updates three live Matplotlib canvases (Bode |Z|, phase, Nyquist). ConfigPanel manages sweep parameters and displays live measurement state.</a:t>
            </a:r>
          </a:p>
        </p:txBody>
      </p:sp>
      <p:sp>
        <p:nvSpPr>
          <p:cNvPr id="6" name="Rounded Rectangle 5"/>
          <p:cNvSpPr/>
          <p:nvPr/>
        </p:nvSpPr>
        <p:spPr>
          <a:xfrm>
            <a:off x="6583680" y="1261872"/>
            <a:ext cx="5239512" cy="402336"/>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i="0">
                <a:solidFill>
                  <a:srgbClr val="FFFFFF"/>
                </a:solidFill>
              </a:rPr>
              <a:t>Firmware Modules</a:t>
            </a:r>
          </a:p>
        </p:txBody>
      </p:sp>
      <p:sp>
        <p:nvSpPr>
          <p:cNvPr id="7" name="Rounded Rectangle 6"/>
          <p:cNvSpPr/>
          <p:nvPr/>
        </p:nvSpPr>
        <p:spPr>
          <a:xfrm>
            <a:off x="6583680" y="1664207"/>
            <a:ext cx="5239512" cy="493776"/>
          </a:xfrm>
          <a:prstGeom prst="roundRect">
            <a:avLst/>
          </a:prstGeom>
          <a:solidFill>
            <a:srgbClr val="E8F0FE"/>
          </a:solidFill>
          <a:ln w="9525">
            <a:solidFill>
              <a:srgbClr val="0F1F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main.c</a:t>
            </a:r>
          </a:p>
          <a:p>
            <a:pPr algn="ctr"/>
            <a:r>
              <a:rPr sz="850" b="0">
                <a:solidFill>
                  <a:srgbClr val="374151"/>
                </a:solidFill>
              </a:rPr>
              <a:t>Sweep orchestration, flash init, status reporting</a:t>
            </a:r>
          </a:p>
        </p:txBody>
      </p:sp>
      <p:sp>
        <p:nvSpPr>
          <p:cNvPr id="8" name="Rounded Rectangle 7"/>
          <p:cNvSpPr/>
          <p:nvPr/>
        </p:nvSpPr>
        <p:spPr>
          <a:xfrm>
            <a:off x="6583680" y="2167128"/>
            <a:ext cx="5239512" cy="493776"/>
          </a:xfrm>
          <a:prstGeom prst="roundRect">
            <a:avLst/>
          </a:prstGeom>
          <a:solidFill>
            <a:srgbClr val="E8F0FE"/>
          </a:solidFill>
          <a:ln w="9525">
            <a:solidFill>
              <a:srgbClr val="0F1F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impedance.c</a:t>
            </a:r>
          </a:p>
          <a:p>
            <a:pPr algn="ctr"/>
            <a:r>
              <a:rPr sz="850" b="0">
                <a:solidFill>
                  <a:srgbClr val="374151"/>
                </a:solidFill>
              </a:rPr>
              <a:t>Least-squares tone estimator, BodePoint calc</a:t>
            </a:r>
          </a:p>
        </p:txBody>
      </p:sp>
      <p:sp>
        <p:nvSpPr>
          <p:cNvPr id="9" name="Rounded Rectangle 8"/>
          <p:cNvSpPr/>
          <p:nvPr/>
        </p:nvSpPr>
        <p:spPr>
          <a:xfrm>
            <a:off x="6583680" y="2670048"/>
            <a:ext cx="5239512" cy="493776"/>
          </a:xfrm>
          <a:prstGeom prst="roundRect">
            <a:avLst/>
          </a:prstGeom>
          <a:solidFill>
            <a:srgbClr val="E8F0FE"/>
          </a:solidFill>
          <a:ln w="9525">
            <a:solidFill>
              <a:srgbClr val="0F1F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ad9833.c</a:t>
            </a:r>
          </a:p>
          <a:p>
            <a:pPr algn="ctr"/>
            <a:r>
              <a:rPr sz="850" b="0">
                <a:solidFill>
                  <a:srgbClr val="374151"/>
                </a:solidFill>
              </a:rPr>
              <a:t>DDS SPI driver: freq word -&gt; 2 x SPI writes</a:t>
            </a:r>
          </a:p>
        </p:txBody>
      </p:sp>
      <p:sp>
        <p:nvSpPr>
          <p:cNvPr id="10" name="Rounded Rectangle 9"/>
          <p:cNvSpPr/>
          <p:nvPr/>
        </p:nvSpPr>
        <p:spPr>
          <a:xfrm>
            <a:off x="6583680" y="3172968"/>
            <a:ext cx="5239512" cy="493776"/>
          </a:xfrm>
          <a:prstGeom prst="roundRect">
            <a:avLst/>
          </a:prstGeom>
          <a:solidFill>
            <a:srgbClr val="E8F0FE"/>
          </a:solidFill>
          <a:ln w="9525">
            <a:solidFill>
              <a:srgbClr val="0F1F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w25q32.c</a:t>
            </a:r>
          </a:p>
          <a:p>
            <a:pPr algn="ctr"/>
            <a:r>
              <a:rPr sz="850" b="0">
                <a:solidFill>
                  <a:srgbClr val="374151"/>
                </a:solidFill>
              </a:rPr>
              <a:t>Low-level SPI flash: page write, sector erase</a:t>
            </a:r>
          </a:p>
        </p:txBody>
      </p:sp>
      <p:sp>
        <p:nvSpPr>
          <p:cNvPr id="11" name="Rounded Rectangle 10"/>
          <p:cNvSpPr/>
          <p:nvPr/>
        </p:nvSpPr>
        <p:spPr>
          <a:xfrm>
            <a:off x="6583680" y="3675887"/>
            <a:ext cx="5239512" cy="493776"/>
          </a:xfrm>
          <a:prstGeom prst="roundRect">
            <a:avLst/>
          </a:prstGeom>
          <a:solidFill>
            <a:srgbClr val="E8F0FE"/>
          </a:solidFill>
          <a:ln w="9525">
            <a:solidFill>
              <a:srgbClr val="0F1F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flash_log.c</a:t>
            </a:r>
          </a:p>
          <a:p>
            <a:pPr algn="ctr"/>
            <a:r>
              <a:rPr sz="850" b="0">
                <a:solidFill>
                  <a:srgbClr val="374151"/>
                </a:solidFill>
              </a:rPr>
              <a:t>Structured log: BeginSweep, WritePoint, Dump</a:t>
            </a:r>
          </a:p>
        </p:txBody>
      </p:sp>
      <p:sp>
        <p:nvSpPr>
          <p:cNvPr id="12" name="Rounded Rectangle 11"/>
          <p:cNvSpPr/>
          <p:nvPr/>
        </p:nvSpPr>
        <p:spPr>
          <a:xfrm>
            <a:off x="6583680" y="4178807"/>
            <a:ext cx="5239512" cy="493776"/>
          </a:xfrm>
          <a:prstGeom prst="roundRect">
            <a:avLst/>
          </a:prstGeom>
          <a:solidFill>
            <a:srgbClr val="E8F0FE"/>
          </a:solidFill>
          <a:ln w="9525">
            <a:solidFill>
              <a:srgbClr val="0F1F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uart_comm.c</a:t>
            </a:r>
          </a:p>
          <a:p>
            <a:pPr algn="ctr"/>
            <a:r>
              <a:rPr sz="850" b="0">
                <a:solidFill>
                  <a:srgbClr val="374151"/>
                </a:solidFill>
              </a:rPr>
              <a:t>ASCII command parser: START/STOP/STATUS/FLASH</a:t>
            </a:r>
          </a:p>
        </p:txBody>
      </p:sp>
      <p:sp>
        <p:nvSpPr>
          <p:cNvPr id="13" name="Rounded Rectangle 12"/>
          <p:cNvSpPr/>
          <p:nvPr/>
        </p:nvSpPr>
        <p:spPr>
          <a:xfrm>
            <a:off x="6583680" y="4791455"/>
            <a:ext cx="5239512" cy="402336"/>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i="0">
                <a:solidFill>
                  <a:srgbClr val="FFFFFF"/>
                </a:solidFill>
              </a:rPr>
              <a:t>Python Modules</a:t>
            </a:r>
          </a:p>
        </p:txBody>
      </p:sp>
      <p:sp>
        <p:nvSpPr>
          <p:cNvPr id="14" name="Rounded Rectangle 13"/>
          <p:cNvSpPr/>
          <p:nvPr/>
        </p:nvSpPr>
        <p:spPr>
          <a:xfrm>
            <a:off x="6583680" y="5193792"/>
            <a:ext cx="5239512" cy="493776"/>
          </a:xfrm>
          <a:prstGeom prst="roundRect">
            <a:avLst/>
          </a:prstGeom>
          <a:solidFill>
            <a:srgbClr val="E8F0FE"/>
          </a:solidFill>
          <a:ln w="9525">
            <a:solidFill>
              <a:srgbClr val="00897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main.py</a:t>
            </a:r>
          </a:p>
          <a:p>
            <a:pPr algn="ctr"/>
            <a:r>
              <a:rPr sz="850" b="0">
                <a:solidFill>
                  <a:srgbClr val="374151"/>
                </a:solidFill>
              </a:rPr>
              <a:t>QMainWindow; toolbar; UART line parser</a:t>
            </a:r>
          </a:p>
        </p:txBody>
      </p:sp>
      <p:sp>
        <p:nvSpPr>
          <p:cNvPr id="15" name="Rounded Rectangle 14"/>
          <p:cNvSpPr/>
          <p:nvPr/>
        </p:nvSpPr>
        <p:spPr>
          <a:xfrm>
            <a:off x="6583680" y="5696712"/>
            <a:ext cx="5239512" cy="493776"/>
          </a:xfrm>
          <a:prstGeom prst="roundRect">
            <a:avLst/>
          </a:prstGeom>
          <a:solidFill>
            <a:srgbClr val="E8F0FE"/>
          </a:solidFill>
          <a:ln w="9525">
            <a:solidFill>
              <a:srgbClr val="00897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serial_worker.py</a:t>
            </a:r>
          </a:p>
          <a:p>
            <a:pPr algn="ctr"/>
            <a:r>
              <a:rPr sz="850" b="0">
                <a:solidFill>
                  <a:srgbClr val="374151"/>
                </a:solidFill>
              </a:rPr>
              <a:t>QThread; COM port open/close; line reader</a:t>
            </a:r>
          </a:p>
        </p:txBody>
      </p:sp>
      <p:sp>
        <p:nvSpPr>
          <p:cNvPr id="16" name="Rounded Rectangle 15"/>
          <p:cNvSpPr/>
          <p:nvPr/>
        </p:nvSpPr>
        <p:spPr>
          <a:xfrm>
            <a:off x="6583680" y="6199631"/>
            <a:ext cx="5239512" cy="493776"/>
          </a:xfrm>
          <a:prstGeom prst="roundRect">
            <a:avLst/>
          </a:prstGeom>
          <a:solidFill>
            <a:srgbClr val="E8F0FE"/>
          </a:solidFill>
          <a:ln w="9525">
            <a:solidFill>
              <a:srgbClr val="00897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data_model.py</a:t>
            </a:r>
          </a:p>
          <a:p>
            <a:pPr algn="ctr"/>
            <a:r>
              <a:rPr sz="850" b="0">
                <a:solidFill>
                  <a:srgbClr val="374151"/>
                </a:solidFill>
              </a:rPr>
              <a:t>ImpedancePoint list; CSV export</a:t>
            </a:r>
          </a:p>
        </p:txBody>
      </p:sp>
      <p:sp>
        <p:nvSpPr>
          <p:cNvPr id="17" name="Rounded Rectangle 16"/>
          <p:cNvSpPr/>
          <p:nvPr/>
        </p:nvSpPr>
        <p:spPr>
          <a:xfrm>
            <a:off x="6583680" y="6702551"/>
            <a:ext cx="5239512" cy="493776"/>
          </a:xfrm>
          <a:prstGeom prst="roundRect">
            <a:avLst/>
          </a:prstGeom>
          <a:solidFill>
            <a:srgbClr val="E8F0FE"/>
          </a:solidFill>
          <a:ln w="9525">
            <a:solidFill>
              <a:srgbClr val="00897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plot_widget.py</a:t>
            </a:r>
          </a:p>
          <a:p>
            <a:pPr algn="ctr"/>
            <a:r>
              <a:rPr sz="850" b="0">
                <a:solidFill>
                  <a:srgbClr val="374151"/>
                </a:solidFill>
              </a:rPr>
              <a:t>3x Matplotlib FigureCanvas</a:t>
            </a:r>
          </a:p>
        </p:txBody>
      </p:sp>
      <p:sp>
        <p:nvSpPr>
          <p:cNvPr id="18" name="Rounded Rectangle 17"/>
          <p:cNvSpPr/>
          <p:nvPr/>
        </p:nvSpPr>
        <p:spPr>
          <a:xfrm>
            <a:off x="6583680" y="7205471"/>
            <a:ext cx="5239512" cy="493776"/>
          </a:xfrm>
          <a:prstGeom prst="roundRect">
            <a:avLst/>
          </a:prstGeom>
          <a:solidFill>
            <a:srgbClr val="E8F0FE"/>
          </a:solidFill>
          <a:ln w="9525">
            <a:solidFill>
              <a:srgbClr val="00897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config_panel.py</a:t>
            </a:r>
          </a:p>
          <a:p>
            <a:pPr algn="ctr"/>
            <a:r>
              <a:rPr sz="850" b="0">
                <a:solidFill>
                  <a:srgbClr val="374151"/>
                </a:solidFill>
              </a:rPr>
              <a:t>Sweep settings; live status; last point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ADC Configuration &amp; DMA Transfer</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How the STM32 ADC1 is set up for simultaneous dual-channel acquisition</a:t>
            </a:r>
          </a:p>
        </p:txBody>
      </p:sp>
      <p:sp>
        <p:nvSpPr>
          <p:cNvPr id="5" name="TextBox 4"/>
          <p:cNvSpPr txBox="1"/>
          <p:nvPr/>
        </p:nvSpPr>
        <p:spPr>
          <a:xfrm>
            <a:off x="365760" y="1261872"/>
            <a:ext cx="5943600" cy="5394960"/>
          </a:xfrm>
          <a:prstGeom prst="rect">
            <a:avLst/>
          </a:prstGeom>
          <a:noFill/>
        </p:spPr>
        <p:txBody>
          <a:bodyPr wrap="square">
            <a:spAutoFit/>
          </a:bodyPr>
          <a:lstStyle/>
          <a:p>
            <a:pPr algn="l"/>
            <a:r>
              <a:rPr sz="1300" b="1" i="0">
                <a:solidFill>
                  <a:srgbClr val="0F1F3D"/>
                </a:solidFill>
              </a:rPr>
              <a:t>ADC1 Configuration</a:t>
            </a:r>
          </a:p>
          <a:p>
            <a:pPr algn="l"/>
            <a:r>
              <a:rPr sz="1100" b="0" i="0">
                <a:solidFill>
                  <a:srgbClr val="374151"/>
                </a:solidFill>
              </a:rPr>
              <a:t>Mode: Scan conversion — ADC1 cycles through CH1 (PA0) and CH2 (PA1) in sequence.</a:t>
            </a:r>
          </a:p>
          <a:p>
            <a:pPr algn="l"/>
            <a:r>
              <a:rPr sz="1100" b="0" i="0">
                <a:solidFill>
                  <a:srgbClr val="374151"/>
                </a:solidFill>
              </a:rPr>
              <a:t>Resolution: 12-bit (0–4095), right-aligned.</a:t>
            </a:r>
          </a:p>
          <a:p>
            <a:pPr algn="l"/>
            <a:r>
              <a:rPr sz="1100" b="0" i="0">
                <a:solidFill>
                  <a:srgbClr val="374151"/>
                </a:solidFill>
              </a:rPr>
              <a:t>Sample time: 61.5 ADC clock cycles per channel.</a:t>
            </a:r>
          </a:p>
          <a:p>
            <a:pPr algn="l"/>
            <a:r>
              <a:rPr sz="1100" b="0" i="0">
                <a:solidFill>
                  <a:srgbClr val="374151"/>
                </a:solidFill>
              </a:rPr>
              <a:t>Conversion time: 12.5 ADC clock cycles per channel.</a:t>
            </a:r>
          </a:p>
          <a:p>
            <a:pPr algn="l"/>
            <a:r>
              <a:rPr sz="1100" b="0" i="0">
                <a:solidFill>
                  <a:srgbClr val="374151"/>
                </a:solidFill>
              </a:rPr>
              <a:t>ADC clock = 72 MHz / 1 = 72 MHz (AHB, no prescaler in this config).</a:t>
            </a:r>
          </a:p>
          <a:p>
            <a:pPr algn="l"/>
            <a:r>
              <a:rPr sz="1100" b="0" i="0">
                <a:solidFill>
                  <a:srgbClr val="374151"/>
                </a:solidFill>
              </a:rPr>
              <a:t>Time per sample = (61.5 + 12.5) / 72e6 = 1.028 us.</a:t>
            </a:r>
          </a:p>
          <a:p>
            <a:pPr algn="l"/>
            <a:r>
              <a:rPr sz="1100" b="0" i="0">
                <a:solidFill>
                  <a:srgbClr val="374151"/>
                </a:solidFill>
              </a:rPr>
              <a:t>Effective rate per channel = 1 / (2 x 1.028 us) = 486 kHz total / 2 = 243 kHz.</a:t>
            </a:r>
          </a:p>
          <a:p>
            <a:pPr algn="l"/>
            <a:endParaRPr sz="1100" b="0" i="0">
              <a:solidFill>
                <a:srgbClr val="374151"/>
              </a:solidFill>
            </a:endParaRPr>
          </a:p>
          <a:p>
            <a:pPr algn="l"/>
            <a:r>
              <a:rPr sz="1300" b="1" i="0">
                <a:solidFill>
                  <a:srgbClr val="0F1F3D"/>
                </a:solidFill>
              </a:rPr>
              <a:t>DMA Configuration</a:t>
            </a:r>
          </a:p>
          <a:p>
            <a:pPr algn="l"/>
            <a:r>
              <a:rPr sz="1100" b="0" i="0">
                <a:solidFill>
                  <a:srgbClr val="374151"/>
                </a:solidFill>
              </a:rPr>
              <a:t>DMA1 Channel 1 is mapped to ADC1. Transfer size = 512 half-words (uint16_t).</a:t>
            </a:r>
          </a:p>
          <a:p>
            <a:pPr algn="l"/>
            <a:r>
              <a:rPr sz="1100" b="0" i="0">
                <a:solidFill>
                  <a:srgbClr val="374151"/>
                </a:solidFill>
              </a:rPr>
              <a:t>Memory layout: [CH1[0], CH2[0], CH1[1], CH2[1], ..., CH1[255], CH2[255]]</a:t>
            </a:r>
          </a:p>
          <a:p>
            <a:pPr algn="l"/>
            <a:r>
              <a:rPr sz="1100" b="0" i="0">
                <a:solidFill>
                  <a:srgbClr val="374151"/>
                </a:solidFill>
              </a:rPr>
              <a:t>After DMA complete interrupt, firmware separates interleaved samples into two float arrays: ref[256] and sig[256] before calling Estimate_Tone().</a:t>
            </a:r>
          </a:p>
          <a:p>
            <a:pPr algn="l"/>
            <a:endParaRPr sz="1100" b="0" i="0">
              <a:solidFill>
                <a:srgbClr val="374151"/>
              </a:solidFill>
            </a:endParaRPr>
          </a:p>
          <a:p>
            <a:pPr algn="l"/>
            <a:r>
              <a:rPr sz="1300" b="1" i="0">
                <a:solidFill>
                  <a:srgbClr val="0F1F3D"/>
                </a:solidFill>
              </a:rPr>
              <a:t>Timing per frequency step</a:t>
            </a:r>
          </a:p>
          <a:p>
            <a:pPr algn="l"/>
            <a:r>
              <a:rPr sz="1100" b="0" i="0">
                <a:solidFill>
                  <a:srgbClr val="374151"/>
                </a:solidFill>
              </a:rPr>
              <a:t>Settle delay: SWEEP_DELAY_MS (default 100 ms). DMA acquisition: 512 / 486k = 1.05 ms. Tone estimation: &lt; 1 ms. Flash write: ~2 ms. Total: ~104 ms/step.</a:t>
            </a:r>
          </a:p>
        </p:txBody>
      </p:sp>
      <p:sp>
        <p:nvSpPr>
          <p:cNvPr id="6" name="Rounded Rectangle 5"/>
          <p:cNvSpPr/>
          <p:nvPr/>
        </p:nvSpPr>
        <p:spPr>
          <a:xfrm>
            <a:off x="6583680" y="1371600"/>
            <a:ext cx="5303520" cy="5029200"/>
          </a:xfrm>
          <a:prstGeom prst="roundRect">
            <a:avLst/>
          </a:prstGeom>
          <a:solidFill>
            <a:srgbClr val="FFFFFF"/>
          </a:solidFill>
          <a:ln w="127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766560" y="1463040"/>
            <a:ext cx="4937760" cy="320040"/>
          </a:xfrm>
          <a:prstGeom prst="rect">
            <a:avLst/>
          </a:prstGeom>
          <a:noFill/>
        </p:spPr>
        <p:txBody>
          <a:bodyPr wrap="square">
            <a:spAutoFit/>
          </a:bodyPr>
          <a:lstStyle/>
          <a:p>
            <a:pPr algn="ctr"/>
            <a:r>
              <a:rPr sz="1200" b="1" i="0">
                <a:solidFill>
                  <a:srgbClr val="0F1F3D"/>
                </a:solidFill>
              </a:rPr>
              <a:t>DMA Buffer Layout (512 half-words)</a:t>
            </a:r>
          </a:p>
        </p:txBody>
      </p:sp>
      <p:sp>
        <p:nvSpPr>
          <p:cNvPr id="8" name="Rounded Rectangle 7"/>
          <p:cNvSpPr/>
          <p:nvPr/>
        </p:nvSpPr>
        <p:spPr>
          <a:xfrm>
            <a:off x="6675120" y="1920240"/>
            <a:ext cx="1197864" cy="68580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50" b="1" i="0">
                <a:solidFill>
                  <a:srgbClr val="FFFFFF"/>
                </a:solidFill>
              </a:rPr>
              <a:t>CH1[0]
Ref</a:t>
            </a:r>
          </a:p>
        </p:txBody>
      </p:sp>
      <p:sp>
        <p:nvSpPr>
          <p:cNvPr id="9" name="Rounded Rectangle 8"/>
          <p:cNvSpPr/>
          <p:nvPr/>
        </p:nvSpPr>
        <p:spPr>
          <a:xfrm>
            <a:off x="7909560" y="1920240"/>
            <a:ext cx="1197864" cy="6858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50" b="1" i="0">
                <a:solidFill>
                  <a:srgbClr val="FFFFFF"/>
                </a:solidFill>
              </a:rPr>
              <a:t>CH2[0]
Sig</a:t>
            </a:r>
          </a:p>
        </p:txBody>
      </p:sp>
      <p:sp>
        <p:nvSpPr>
          <p:cNvPr id="10" name="Rounded Rectangle 9"/>
          <p:cNvSpPr/>
          <p:nvPr/>
        </p:nvSpPr>
        <p:spPr>
          <a:xfrm>
            <a:off x="9144000" y="1920240"/>
            <a:ext cx="1197864" cy="68580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50" b="1" i="0">
                <a:solidFill>
                  <a:srgbClr val="FFFFFF"/>
                </a:solidFill>
              </a:rPr>
              <a:t>CH1[1]
Ref</a:t>
            </a:r>
          </a:p>
        </p:txBody>
      </p:sp>
      <p:sp>
        <p:nvSpPr>
          <p:cNvPr id="11" name="Rounded Rectangle 10"/>
          <p:cNvSpPr/>
          <p:nvPr/>
        </p:nvSpPr>
        <p:spPr>
          <a:xfrm>
            <a:off x="10378440" y="1920240"/>
            <a:ext cx="1197864" cy="6858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50" b="1" i="0">
                <a:solidFill>
                  <a:srgbClr val="FFFFFF"/>
                </a:solidFill>
              </a:rPr>
              <a:t>CH2[1]
Sig</a:t>
            </a:r>
          </a:p>
        </p:txBody>
      </p:sp>
      <p:sp>
        <p:nvSpPr>
          <p:cNvPr id="12" name="Rounded Rectangle 11"/>
          <p:cNvSpPr/>
          <p:nvPr/>
        </p:nvSpPr>
        <p:spPr>
          <a:xfrm>
            <a:off x="6675120" y="2679192"/>
            <a:ext cx="1197864" cy="685800"/>
          </a:xfrm>
          <a:prstGeom prst="round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50" b="1" i="0">
                <a:solidFill>
                  <a:srgbClr val="FFFFFF"/>
                </a:solidFill>
              </a:rPr>
              <a:t>...</a:t>
            </a:r>
          </a:p>
        </p:txBody>
      </p:sp>
      <p:sp>
        <p:nvSpPr>
          <p:cNvPr id="13" name="Rounded Rectangle 12"/>
          <p:cNvSpPr/>
          <p:nvPr/>
        </p:nvSpPr>
        <p:spPr>
          <a:xfrm>
            <a:off x="7909560" y="2679192"/>
            <a:ext cx="1197864" cy="685800"/>
          </a:xfrm>
          <a:prstGeom prst="round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50" b="1" i="0">
                <a:solidFill>
                  <a:srgbClr val="FFFFFF"/>
                </a:solidFill>
              </a:rPr>
              <a:t>...</a:t>
            </a:r>
          </a:p>
        </p:txBody>
      </p:sp>
      <p:sp>
        <p:nvSpPr>
          <p:cNvPr id="14" name="Rounded Rectangle 13"/>
          <p:cNvSpPr/>
          <p:nvPr/>
        </p:nvSpPr>
        <p:spPr>
          <a:xfrm>
            <a:off x="9144000" y="2679192"/>
            <a:ext cx="1197864" cy="68580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50" b="1" i="0">
                <a:solidFill>
                  <a:srgbClr val="FFFFFF"/>
                </a:solidFill>
              </a:rPr>
              <a:t>CH1[255]
Ref</a:t>
            </a:r>
          </a:p>
        </p:txBody>
      </p:sp>
      <p:sp>
        <p:nvSpPr>
          <p:cNvPr id="15" name="Rounded Rectangle 14"/>
          <p:cNvSpPr/>
          <p:nvPr/>
        </p:nvSpPr>
        <p:spPr>
          <a:xfrm>
            <a:off x="10378440" y="2679192"/>
            <a:ext cx="1197864" cy="6858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50" b="1" i="0">
                <a:solidFill>
                  <a:srgbClr val="FFFFFF"/>
                </a:solidFill>
              </a:rPr>
              <a:t>CH2[255]
Sig</a:t>
            </a:r>
          </a:p>
        </p:txBody>
      </p:sp>
      <p:sp>
        <p:nvSpPr>
          <p:cNvPr id="16" name="TextBox 15"/>
          <p:cNvSpPr txBox="1"/>
          <p:nvPr/>
        </p:nvSpPr>
        <p:spPr>
          <a:xfrm>
            <a:off x="6675120" y="3520440"/>
            <a:ext cx="5212080" cy="365760"/>
          </a:xfrm>
          <a:prstGeom prst="rect">
            <a:avLst/>
          </a:prstGeom>
          <a:noFill/>
        </p:spPr>
        <p:txBody>
          <a:bodyPr wrap="square">
            <a:spAutoFit/>
          </a:bodyPr>
          <a:lstStyle/>
          <a:p>
            <a:pPr algn="ctr"/>
            <a:r>
              <a:rPr sz="1000" b="1" i="0">
                <a:solidFill>
                  <a:srgbClr val="0F1F3D"/>
                </a:solidFill>
              </a:rPr>
              <a:t>After DMA complete -&gt; separate into ref[] and sig[]</a:t>
            </a:r>
          </a:p>
        </p:txBody>
      </p:sp>
      <p:sp>
        <p:nvSpPr>
          <p:cNvPr id="17" name="Rounded Rectangle 16"/>
          <p:cNvSpPr/>
          <p:nvPr/>
        </p:nvSpPr>
        <p:spPr>
          <a:xfrm>
            <a:off x="6675120" y="3950208"/>
            <a:ext cx="2514600" cy="59436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FFFFFF"/>
                </a:solidFill>
              </a:rPr>
              <a:t>ref[0..255]  =  even indices</a:t>
            </a:r>
          </a:p>
        </p:txBody>
      </p:sp>
      <p:sp>
        <p:nvSpPr>
          <p:cNvPr id="18" name="Rounded Rectangle 17"/>
          <p:cNvSpPr/>
          <p:nvPr/>
        </p:nvSpPr>
        <p:spPr>
          <a:xfrm>
            <a:off x="9326880" y="3950208"/>
            <a:ext cx="2514600" cy="59436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FFFFFF"/>
                </a:solidFill>
              </a:rPr>
              <a:t>sig[0..255]  =  odd indices</a:t>
            </a:r>
          </a:p>
        </p:txBody>
      </p:sp>
      <p:cxnSp>
        <p:nvCxnSpPr>
          <p:cNvPr id="19" name="Connector 18"/>
          <p:cNvCxnSpPr/>
          <p:nvPr/>
        </p:nvCxnSpPr>
        <p:spPr>
          <a:xfrm>
            <a:off x="9235440" y="4617720"/>
            <a:ext cx="0" cy="22860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675120" y="4864608"/>
            <a:ext cx="2514600" cy="59436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Estimate_Tone(ref, freq) -&gt; V_ref (mag, phase)</a:t>
            </a:r>
          </a:p>
        </p:txBody>
      </p:sp>
      <p:sp>
        <p:nvSpPr>
          <p:cNvPr id="21" name="Rounded Rectangle 20"/>
          <p:cNvSpPr/>
          <p:nvPr/>
        </p:nvSpPr>
        <p:spPr>
          <a:xfrm>
            <a:off x="9326880" y="4864608"/>
            <a:ext cx="2514600" cy="59436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Estimate_Tone(sig, freq) -&gt; V_sig (mag, phase)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Least-Squares Tone Estimator Algorithm</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Why naive DFT fails and how the LS projector solves it</a:t>
            </a:r>
          </a:p>
        </p:txBody>
      </p:sp>
      <p:sp>
        <p:nvSpPr>
          <p:cNvPr id="5" name="TextBox 4"/>
          <p:cNvSpPr txBox="1"/>
          <p:nvPr/>
        </p:nvSpPr>
        <p:spPr>
          <a:xfrm>
            <a:off x="365760" y="1261872"/>
            <a:ext cx="5943600" cy="5394960"/>
          </a:xfrm>
          <a:prstGeom prst="rect">
            <a:avLst/>
          </a:prstGeom>
          <a:noFill/>
        </p:spPr>
        <p:txBody>
          <a:bodyPr wrap="square">
            <a:spAutoFit/>
          </a:bodyPr>
          <a:lstStyle/>
          <a:p>
            <a:pPr algn="l"/>
            <a:r>
              <a:rPr sz="1300" b="1" i="0">
                <a:solidFill>
                  <a:srgbClr val="C62828"/>
                </a:solidFill>
              </a:rPr>
              <a:t>Problem with Naive DFT</a:t>
            </a:r>
          </a:p>
          <a:p>
            <a:pPr algn="l"/>
            <a:r>
              <a:rPr sz="1100" b="0" i="0">
                <a:solidFill>
                  <a:srgbClr val="374151"/>
                </a:solidFill>
              </a:rPr>
              <a:t>Standard DFT assumes the signal frequency is exactly k/N (a normalized bin). For EIS, the measurement frequency f is arbitrary and typically not a bin. This causes spectral leakage: the computed magnitude is too low and the phase is wrong.</a:t>
            </a:r>
          </a:p>
          <a:p>
            <a:pPr algn="l"/>
            <a:endParaRPr sz="1100" b="0" i="0">
              <a:solidFill>
                <a:srgbClr val="374151"/>
              </a:solidFill>
            </a:endParaRPr>
          </a:p>
          <a:p>
            <a:pPr algn="l"/>
            <a:r>
              <a:rPr sz="1300" b="1" i="0">
                <a:solidFill>
                  <a:srgbClr val="0F1F3D"/>
                </a:solidFill>
              </a:rPr>
              <a:t>Least-Squares Projection Solution</a:t>
            </a:r>
          </a:p>
          <a:p>
            <a:pPr algn="l"/>
            <a:r>
              <a:rPr sz="1100" b="0" i="0">
                <a:solidFill>
                  <a:srgbClr val="374151"/>
                </a:solidFill>
              </a:rPr>
              <a:t>Model: x[i] = a*cos(2*pi*f*t[i]) + b*sin(2*pi*f*t[i])  where t[i] = i / IMP_SAMPLE_RATE_HZ</a:t>
            </a:r>
          </a:p>
          <a:p>
            <a:pPr algn="l"/>
            <a:r>
              <a:rPr sz="1100" b="0" i="0">
                <a:solidFill>
                  <a:srgbClr val="374151"/>
                </a:solidFill>
              </a:rPr>
              <a:t>Build sums:  Scc = sum(cos^2),  Sss = sum(sin^2),  Scs = sum(cos*sin)</a:t>
            </a:r>
          </a:p>
          <a:p>
            <a:pPr algn="l"/>
            <a:r>
              <a:rPr sz="1100" b="0" i="0">
                <a:solidFill>
                  <a:srgbClr val="374151"/>
                </a:solidFill>
              </a:rPr>
              <a:t>            Scx = sum(x[i]*cos(2pi*f*t[i])),  Ssx = sum(x[i]*sin(2pi*f*t[i]))</a:t>
            </a:r>
          </a:p>
          <a:p>
            <a:pPr algn="l"/>
            <a:r>
              <a:rPr sz="1100" b="0" i="0">
                <a:solidFill>
                  <a:srgbClr val="374151"/>
                </a:solidFill>
              </a:rPr>
              <a:t>Solve 2x2 system:  [Scc Scs] [a]   [Scx]</a:t>
            </a:r>
          </a:p>
          <a:p>
            <a:pPr algn="l"/>
            <a:r>
              <a:rPr sz="1100" b="0" i="0">
                <a:solidFill>
                  <a:srgbClr val="374151"/>
                </a:solidFill>
              </a:rPr>
              <a:t>                   [Scs Sss] [b] = [Ssx]</a:t>
            </a:r>
          </a:p>
          <a:p>
            <a:pPr algn="l"/>
            <a:r>
              <a:rPr sz="1100" b="0" i="0">
                <a:solidFill>
                  <a:srgbClr val="374151"/>
                </a:solidFill>
              </a:rPr>
              <a:t>Determinant D = Scc*Sss - Scs^2</a:t>
            </a:r>
          </a:p>
          <a:p>
            <a:pPr algn="l"/>
            <a:r>
              <a:rPr sz="1100" b="0" i="0">
                <a:solidFill>
                  <a:srgbClr val="374151"/>
                </a:solidFill>
              </a:rPr>
              <a:t>Solution:  a = (Sss*Scx - Scs*Ssx) / D</a:t>
            </a:r>
          </a:p>
          <a:p>
            <a:pPr algn="l"/>
            <a:r>
              <a:rPr sz="1100" b="0" i="0">
                <a:solidFill>
                  <a:srgbClr val="374151"/>
                </a:solidFill>
              </a:rPr>
              <a:t>           b = (Scc*Ssx - Scs*Scx) / D</a:t>
            </a:r>
          </a:p>
          <a:p>
            <a:pPr algn="l"/>
            <a:endParaRPr sz="1100" b="0" i="0">
              <a:solidFill>
                <a:srgbClr val="374151"/>
              </a:solidFill>
            </a:endParaRPr>
          </a:p>
          <a:p>
            <a:pPr algn="l"/>
            <a:r>
              <a:rPr sz="1300" b="1" i="0">
                <a:solidFill>
                  <a:srgbClr val="0F1F3D"/>
                </a:solidFill>
              </a:rPr>
              <a:t>Result</a:t>
            </a:r>
          </a:p>
          <a:p>
            <a:pPr algn="l"/>
            <a:r>
              <a:rPr sz="1100" b="0" i="0">
                <a:solidFill>
                  <a:srgbClr val="374151"/>
                </a:solidFill>
              </a:rPr>
              <a:t>magnitude = sqrt(a^2 + b^2)     [proportional to channel voltage amplitude]</a:t>
            </a:r>
          </a:p>
          <a:p>
            <a:pPr algn="l"/>
            <a:r>
              <a:rPr sz="1100" b="0" i="0">
                <a:solidFill>
                  <a:srgbClr val="374151"/>
                </a:solidFill>
              </a:rPr>
              <a:t>phaseRad  = atan2(b, a)          [phase of the signal relative to t=0]</a:t>
            </a:r>
          </a:p>
          <a:p>
            <a:pPr algn="l"/>
            <a:r>
              <a:rPr sz="1100" b="0" i="0">
                <a:solidFill>
                  <a:srgbClr val="374151"/>
                </a:solidFill>
              </a:rPr>
              <a:t>Z = (ref.magnitude / sig.magnitude) * Rf   [Ohms]</a:t>
            </a:r>
          </a:p>
          <a:p>
            <a:pPr algn="l"/>
            <a:r>
              <a:rPr sz="1100" b="0" i="0">
                <a:solidFill>
                  <a:srgbClr val="374151"/>
                </a:solidFill>
              </a:rPr>
              <a:t>phi = (sig.phaseRad - ref.phaseRad) * 180/pi  [degrees]</a:t>
            </a:r>
          </a:p>
        </p:txBody>
      </p:sp>
      <p:sp>
        <p:nvSpPr>
          <p:cNvPr id="6" name="Rounded Rectangle 5"/>
          <p:cNvSpPr/>
          <p:nvPr/>
        </p:nvSpPr>
        <p:spPr>
          <a:xfrm>
            <a:off x="6583680" y="1325880"/>
            <a:ext cx="5303520" cy="2377440"/>
          </a:xfrm>
          <a:prstGeom prst="roundRect">
            <a:avLst/>
          </a:prstGeom>
          <a:solidFill>
            <a:srgbClr val="FFFFFF"/>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766560" y="1389888"/>
            <a:ext cx="4937760" cy="320040"/>
          </a:xfrm>
          <a:prstGeom prst="rect">
            <a:avLst/>
          </a:prstGeom>
          <a:noFill/>
        </p:spPr>
        <p:txBody>
          <a:bodyPr wrap="square">
            <a:spAutoFit/>
          </a:bodyPr>
          <a:lstStyle/>
          <a:p>
            <a:pPr algn="ctr"/>
            <a:r>
              <a:rPr sz="1100" b="1" i="0">
                <a:solidFill>
                  <a:srgbClr val="C62828"/>
                </a:solidFill>
              </a:rPr>
              <a:t>Naive DFT (wrong at non-bin freq)</a:t>
            </a:r>
          </a:p>
        </p:txBody>
      </p:sp>
      <p:sp>
        <p:nvSpPr>
          <p:cNvPr id="8" name="TextBox 7"/>
          <p:cNvSpPr txBox="1"/>
          <p:nvPr/>
        </p:nvSpPr>
        <p:spPr>
          <a:xfrm>
            <a:off x="6766560" y="1737360"/>
            <a:ext cx="4937760" cy="914400"/>
          </a:xfrm>
          <a:prstGeom prst="rect">
            <a:avLst/>
          </a:prstGeom>
          <a:noFill/>
        </p:spPr>
        <p:txBody>
          <a:bodyPr wrap="square">
            <a:spAutoFit/>
          </a:bodyPr>
          <a:lstStyle/>
          <a:p>
            <a:pPr algn="l"/>
            <a:r>
              <a:rPr sz="1000" b="0" i="0">
                <a:solidFill>
                  <a:srgbClr val="374151"/>
                </a:solidFill>
              </a:rPr>
              <a:t>Projects onto cos(2pi*k/N*i) — correct only if f = k*Fs/N
At other frequencies: amplitude error + phase error
Can give |Z| error &gt;10% at typical EIS frequencies</a:t>
            </a:r>
          </a:p>
        </p:txBody>
      </p:sp>
      <p:sp>
        <p:nvSpPr>
          <p:cNvPr id="9" name="Rounded Rectangle 8"/>
          <p:cNvSpPr/>
          <p:nvPr/>
        </p:nvSpPr>
        <p:spPr>
          <a:xfrm>
            <a:off x="6583680" y="3840480"/>
            <a:ext cx="5303520" cy="2377440"/>
          </a:xfrm>
          <a:prstGeom prst="roundRect">
            <a:avLst/>
          </a:prstGeom>
          <a:solidFill>
            <a:srgbClr val="FFFFFF"/>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766560" y="3904487"/>
            <a:ext cx="4937760" cy="320040"/>
          </a:xfrm>
          <a:prstGeom prst="rect">
            <a:avLst/>
          </a:prstGeom>
          <a:noFill/>
        </p:spPr>
        <p:txBody>
          <a:bodyPr wrap="square">
            <a:spAutoFit/>
          </a:bodyPr>
          <a:lstStyle/>
          <a:p>
            <a:pPr algn="ctr"/>
            <a:r>
              <a:rPr sz="1100" b="1" i="0">
                <a:solidFill>
                  <a:srgbClr val="2E7D32"/>
                </a:solidFill>
              </a:rPr>
              <a:t>LS Tone Estimator (correct at any freq)</a:t>
            </a:r>
          </a:p>
        </p:txBody>
      </p:sp>
      <p:sp>
        <p:nvSpPr>
          <p:cNvPr id="11" name="TextBox 10"/>
          <p:cNvSpPr txBox="1"/>
          <p:nvPr/>
        </p:nvSpPr>
        <p:spPr>
          <a:xfrm>
            <a:off x="6766560" y="4251960"/>
            <a:ext cx="4937760" cy="1097280"/>
          </a:xfrm>
          <a:prstGeom prst="rect">
            <a:avLst/>
          </a:prstGeom>
          <a:noFill/>
        </p:spPr>
        <p:txBody>
          <a:bodyPr wrap="square">
            <a:spAutoFit/>
          </a:bodyPr>
          <a:lstStyle/>
          <a:p>
            <a:pPr algn="l"/>
            <a:r>
              <a:rPr sz="1000" b="0" i="0">
                <a:solidFill>
                  <a:srgbClr val="374151"/>
                </a:solidFill>
              </a:rPr>
              <a:t>Projects onto cos(2pi*f*i/Fs) using real hardware timing
No spectral leakage assumption
Amplitude and phase accurate at any f within Nyquist
Cost: ~4*N multiplications per channel</a:t>
            </a:r>
          </a:p>
        </p:txBody>
      </p:sp>
      <p:sp>
        <p:nvSpPr>
          <p:cNvPr id="12" name="Rectangle 11"/>
          <p:cNvSpPr/>
          <p:nvPr/>
        </p:nvSpPr>
        <p:spPr>
          <a:xfrm>
            <a:off x="8778240" y="3767328"/>
            <a:ext cx="731520"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778240" y="3520440"/>
            <a:ext cx="1280160" cy="256032"/>
          </a:xfrm>
          <a:prstGeom prst="rect">
            <a:avLst/>
          </a:prstGeom>
          <a:noFill/>
        </p:spPr>
        <p:txBody>
          <a:bodyPr wrap="square">
            <a:spAutoFit/>
          </a:bodyPr>
          <a:lstStyle/>
          <a:p>
            <a:pPr algn="ctr"/>
            <a:r>
              <a:rPr sz="900" b="1" i="0">
                <a:solidFill>
                  <a:srgbClr val="2E7D32"/>
                </a:solidFill>
              </a:rPr>
              <a:t>CORRECT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Software: Data Flow &amp; Module Interactions</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Left: command/data pipeline  |  Right: module dependency graph</a:t>
            </a:r>
          </a:p>
        </p:txBody>
      </p:sp>
      <p:sp>
        <p:nvSpPr>
          <p:cNvPr id="5" name="Rounded Rectangle 4"/>
          <p:cNvSpPr/>
          <p:nvPr/>
        </p:nvSpPr>
        <p:spPr>
          <a:xfrm>
            <a:off x="320040" y="1261872"/>
            <a:ext cx="3474720" cy="493776"/>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FFFFFF"/>
                </a:solidFill>
              </a:rPr>
              <a:t>GUI: user clicks Start Sweep</a:t>
            </a:r>
          </a:p>
        </p:txBody>
      </p:sp>
      <p:cxnSp>
        <p:nvCxnSpPr>
          <p:cNvPr id="6" name="Connector 5"/>
          <p:cNvCxnSpPr/>
          <p:nvPr/>
        </p:nvCxnSpPr>
        <p:spPr>
          <a:xfrm>
            <a:off x="2057400" y="1755648"/>
            <a:ext cx="0" cy="155447"/>
          </a:xfrm>
          <a:prstGeom prst="line">
            <a:avLst/>
          </a:prstGeom>
          <a:ln w="22860">
            <a:solidFill>
              <a:srgbClr val="1565C0"/>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20040" y="1901952"/>
            <a:ext cx="3474720" cy="493776"/>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FFFFFF"/>
                </a:solidFill>
              </a:rPr>
              <a:t>SerialWorker: send 'START' over UART</a:t>
            </a:r>
          </a:p>
        </p:txBody>
      </p:sp>
      <p:cxnSp>
        <p:nvCxnSpPr>
          <p:cNvPr id="8" name="Connector 7"/>
          <p:cNvCxnSpPr/>
          <p:nvPr/>
        </p:nvCxnSpPr>
        <p:spPr>
          <a:xfrm>
            <a:off x="2057400" y="2395728"/>
            <a:ext cx="0" cy="155448"/>
          </a:xfrm>
          <a:prstGeom prst="line">
            <a:avLst/>
          </a:prstGeom>
          <a:ln w="22860">
            <a:solidFill>
              <a:srgbClr val="1565C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20040" y="2542032"/>
            <a:ext cx="3474720" cy="493776"/>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FFFFFF"/>
                </a:solidFill>
              </a:rPr>
              <a:t>STM32 parser: enter sweep loop</a:t>
            </a:r>
          </a:p>
        </p:txBody>
      </p:sp>
      <p:cxnSp>
        <p:nvCxnSpPr>
          <p:cNvPr id="10" name="Connector 9"/>
          <p:cNvCxnSpPr/>
          <p:nvPr/>
        </p:nvCxnSpPr>
        <p:spPr>
          <a:xfrm>
            <a:off x="2057400" y="3035808"/>
            <a:ext cx="0" cy="155448"/>
          </a:xfrm>
          <a:prstGeom prst="line">
            <a:avLst/>
          </a:prstGeom>
          <a:ln w="22860">
            <a:solidFill>
              <a:srgbClr val="1565C0"/>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20040" y="3182112"/>
            <a:ext cx="3474720" cy="493776"/>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FFFFFF"/>
                </a:solidFill>
              </a:rPr>
              <a:t>AD9833: program frequency (SPI x 2)</a:t>
            </a:r>
          </a:p>
        </p:txBody>
      </p:sp>
      <p:cxnSp>
        <p:nvCxnSpPr>
          <p:cNvPr id="12" name="Connector 11"/>
          <p:cNvCxnSpPr/>
          <p:nvPr/>
        </p:nvCxnSpPr>
        <p:spPr>
          <a:xfrm>
            <a:off x="2057400" y="3675888"/>
            <a:ext cx="0" cy="155448"/>
          </a:xfrm>
          <a:prstGeom prst="line">
            <a:avLst/>
          </a:prstGeom>
          <a:ln w="22860">
            <a:solidFill>
              <a:srgbClr val="1565C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20040" y="3822192"/>
            <a:ext cx="3474720" cy="493776"/>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FFFFFF"/>
                </a:solidFill>
              </a:rPr>
              <a:t>ADC DMA: capture 256 x 2 samples</a:t>
            </a:r>
          </a:p>
        </p:txBody>
      </p:sp>
      <p:cxnSp>
        <p:nvCxnSpPr>
          <p:cNvPr id="14" name="Connector 13"/>
          <p:cNvCxnSpPr/>
          <p:nvPr/>
        </p:nvCxnSpPr>
        <p:spPr>
          <a:xfrm>
            <a:off x="2057400" y="4315968"/>
            <a:ext cx="0" cy="155448"/>
          </a:xfrm>
          <a:prstGeom prst="line">
            <a:avLst/>
          </a:prstGeom>
          <a:ln w="22860">
            <a:solidFill>
              <a:srgbClr val="1565C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20040" y="4462272"/>
            <a:ext cx="3474720" cy="493776"/>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FFFFFF"/>
                </a:solidFill>
              </a:rPr>
              <a:t>Tone estimator: solve 2x2 LS at f</a:t>
            </a:r>
          </a:p>
        </p:txBody>
      </p:sp>
      <p:cxnSp>
        <p:nvCxnSpPr>
          <p:cNvPr id="16" name="Connector 15"/>
          <p:cNvCxnSpPr/>
          <p:nvPr/>
        </p:nvCxnSpPr>
        <p:spPr>
          <a:xfrm>
            <a:off x="2057400" y="4956048"/>
            <a:ext cx="0" cy="155448"/>
          </a:xfrm>
          <a:prstGeom prst="line">
            <a:avLst/>
          </a:prstGeom>
          <a:ln w="22860">
            <a:solidFill>
              <a:srgbClr val="1565C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20040" y="5102352"/>
            <a:ext cx="3474720" cy="493776"/>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FFFFFF"/>
                </a:solidFill>
              </a:rPr>
              <a:t>Compute |Z|, Phase, Re(Z), Im(Z)</a:t>
            </a:r>
          </a:p>
        </p:txBody>
      </p:sp>
      <p:cxnSp>
        <p:nvCxnSpPr>
          <p:cNvPr id="18" name="Connector 17"/>
          <p:cNvCxnSpPr/>
          <p:nvPr/>
        </p:nvCxnSpPr>
        <p:spPr>
          <a:xfrm>
            <a:off x="2057400" y="5596128"/>
            <a:ext cx="0" cy="155448"/>
          </a:xfrm>
          <a:prstGeom prst="line">
            <a:avLst/>
          </a:prstGeom>
          <a:ln w="22860">
            <a:solidFill>
              <a:srgbClr val="1565C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20040" y="5742432"/>
            <a:ext cx="3474720" cy="493776"/>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FFFFFF"/>
                </a:solidFill>
              </a:rPr>
              <a:t>UART TX: DATA,f,|Z|,phase + Flash write</a:t>
            </a:r>
          </a:p>
        </p:txBody>
      </p:sp>
      <p:cxnSp>
        <p:nvCxnSpPr>
          <p:cNvPr id="20" name="Connector 19"/>
          <p:cNvCxnSpPr/>
          <p:nvPr/>
        </p:nvCxnSpPr>
        <p:spPr>
          <a:xfrm>
            <a:off x="2057400" y="6236208"/>
            <a:ext cx="0" cy="155448"/>
          </a:xfrm>
          <a:prstGeom prst="line">
            <a:avLst/>
          </a:prstGeom>
          <a:ln w="22860">
            <a:solidFill>
              <a:srgbClr val="1565C0"/>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20040" y="6382512"/>
            <a:ext cx="3474720" cy="493776"/>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FFFFFF"/>
                </a:solidFill>
              </a:rPr>
              <a:t>GUI parser: update Bode + Nyquist</a:t>
            </a:r>
          </a:p>
        </p:txBody>
      </p:sp>
      <p:sp>
        <p:nvSpPr>
          <p:cNvPr id="22" name="Rounded Rectangle 21"/>
          <p:cNvSpPr/>
          <p:nvPr/>
        </p:nvSpPr>
        <p:spPr>
          <a:xfrm>
            <a:off x="4251960" y="1261872"/>
            <a:ext cx="2011680" cy="530352"/>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Python GUI</a:t>
            </a:r>
          </a:p>
        </p:txBody>
      </p:sp>
      <p:sp>
        <p:nvSpPr>
          <p:cNvPr id="23" name="Rounded Rectangle 22"/>
          <p:cNvSpPr/>
          <p:nvPr/>
        </p:nvSpPr>
        <p:spPr>
          <a:xfrm>
            <a:off x="6720840" y="1261872"/>
            <a:ext cx="2011680" cy="530352"/>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uart_comm.c</a:t>
            </a:r>
          </a:p>
        </p:txBody>
      </p:sp>
      <p:sp>
        <p:nvSpPr>
          <p:cNvPr id="24" name="Rounded Rectangle 23"/>
          <p:cNvSpPr/>
          <p:nvPr/>
        </p:nvSpPr>
        <p:spPr>
          <a:xfrm>
            <a:off x="5074920" y="2331720"/>
            <a:ext cx="2011680" cy="530352"/>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main.c</a:t>
            </a:r>
          </a:p>
        </p:txBody>
      </p:sp>
      <p:sp>
        <p:nvSpPr>
          <p:cNvPr id="25" name="Rounded Rectangle 24"/>
          <p:cNvSpPr/>
          <p:nvPr/>
        </p:nvSpPr>
        <p:spPr>
          <a:xfrm>
            <a:off x="7452360" y="2331720"/>
            <a:ext cx="2011680" cy="530352"/>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flash_log.c</a:t>
            </a:r>
          </a:p>
        </p:txBody>
      </p:sp>
      <p:sp>
        <p:nvSpPr>
          <p:cNvPr id="26" name="Rounded Rectangle 25"/>
          <p:cNvSpPr/>
          <p:nvPr/>
        </p:nvSpPr>
        <p:spPr>
          <a:xfrm>
            <a:off x="3931920" y="3401568"/>
            <a:ext cx="2011680" cy="530352"/>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ad9833.c</a:t>
            </a:r>
          </a:p>
        </p:txBody>
      </p:sp>
      <p:sp>
        <p:nvSpPr>
          <p:cNvPr id="27" name="Rounded Rectangle 26"/>
          <p:cNvSpPr/>
          <p:nvPr/>
        </p:nvSpPr>
        <p:spPr>
          <a:xfrm>
            <a:off x="6217920" y="3401568"/>
            <a:ext cx="2011680" cy="530352"/>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impedance.c</a:t>
            </a:r>
          </a:p>
        </p:txBody>
      </p:sp>
      <p:sp>
        <p:nvSpPr>
          <p:cNvPr id="28" name="Rounded Rectangle 27"/>
          <p:cNvSpPr/>
          <p:nvPr/>
        </p:nvSpPr>
        <p:spPr>
          <a:xfrm>
            <a:off x="8503920" y="3401568"/>
            <a:ext cx="2011680" cy="530352"/>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w25q32.c</a:t>
            </a:r>
          </a:p>
        </p:txBody>
      </p:sp>
      <p:sp>
        <p:nvSpPr>
          <p:cNvPr id="29" name="Rounded Rectangle 28"/>
          <p:cNvSpPr/>
          <p:nvPr/>
        </p:nvSpPr>
        <p:spPr>
          <a:xfrm>
            <a:off x="3931920" y="4471416"/>
            <a:ext cx="2011680" cy="530352"/>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AD9833 (HW)</a:t>
            </a:r>
          </a:p>
        </p:txBody>
      </p:sp>
      <p:sp>
        <p:nvSpPr>
          <p:cNvPr id="30" name="Rounded Rectangle 29"/>
          <p:cNvSpPr/>
          <p:nvPr/>
        </p:nvSpPr>
        <p:spPr>
          <a:xfrm>
            <a:off x="6217920" y="4471416"/>
            <a:ext cx="2011680" cy="530352"/>
          </a:xfrm>
          <a:prstGeom prst="roundRect">
            <a:avLst/>
          </a:prstGeom>
          <a:solidFill>
            <a:srgbClr val="4E342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ADC1/DMA</a:t>
            </a:r>
          </a:p>
        </p:txBody>
      </p:sp>
      <p:sp>
        <p:nvSpPr>
          <p:cNvPr id="31" name="Rounded Rectangle 30"/>
          <p:cNvSpPr/>
          <p:nvPr/>
        </p:nvSpPr>
        <p:spPr>
          <a:xfrm>
            <a:off x="8503920" y="4471416"/>
            <a:ext cx="2011680" cy="530352"/>
          </a:xfrm>
          <a:prstGeom prst="round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W25Q32 (HW)</a:t>
            </a:r>
          </a:p>
        </p:txBody>
      </p:sp>
      <p:cxnSp>
        <p:nvCxnSpPr>
          <p:cNvPr id="32" name="Connector 31"/>
          <p:cNvCxnSpPr/>
          <p:nvPr/>
        </p:nvCxnSpPr>
        <p:spPr>
          <a:xfrm>
            <a:off x="5257800" y="1527048"/>
            <a:ext cx="2468879" cy="0"/>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6080760" y="1527048"/>
            <a:ext cx="1645919" cy="106984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080760" y="2596896"/>
            <a:ext cx="2377440" cy="0"/>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4937760" y="2596896"/>
            <a:ext cx="1143000" cy="106984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080760" y="2596896"/>
            <a:ext cx="1143000" cy="106984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458200" y="2596896"/>
            <a:ext cx="1051560" cy="106984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223760" y="3666744"/>
            <a:ext cx="0" cy="106984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937760" y="3666744"/>
            <a:ext cx="0" cy="106984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509760" y="3666744"/>
            <a:ext cx="0" cy="106984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Python GUI — Data Pipeline Detail</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How incoming UART bytes become live plot updates</a:t>
            </a:r>
          </a:p>
        </p:txBody>
      </p:sp>
      <p:sp>
        <p:nvSpPr>
          <p:cNvPr id="5" name="TextBox 4"/>
          <p:cNvSpPr txBox="1"/>
          <p:nvPr/>
        </p:nvSpPr>
        <p:spPr>
          <a:xfrm>
            <a:off x="365760" y="1261872"/>
            <a:ext cx="5943600" cy="5394960"/>
          </a:xfrm>
          <a:prstGeom prst="rect">
            <a:avLst/>
          </a:prstGeom>
          <a:noFill/>
        </p:spPr>
        <p:txBody>
          <a:bodyPr wrap="square">
            <a:spAutoFit/>
          </a:bodyPr>
          <a:lstStyle/>
          <a:p>
            <a:pPr algn="l"/>
            <a:r>
              <a:rPr sz="1300" b="1" i="0">
                <a:solidFill>
                  <a:srgbClr val="0F1F3D"/>
                </a:solidFill>
              </a:rPr>
              <a:t>1. SerialWorker.run() — Background Thread</a:t>
            </a:r>
          </a:p>
          <a:p>
            <a:pPr algn="l"/>
            <a:r>
              <a:rPr sz="1100" b="0" i="0">
                <a:solidFill>
                  <a:srgbClr val="374151"/>
                </a:solidFill>
              </a:rPr>
              <a:t>Reads available bytes from PySerial port (non-blocking, 10 ms sleep if empty). Appends bytes to a buffer. On each \n found, strips the line and emits line_received(str) signal. Thread-safe: Qt signals cross threads automatically.</a:t>
            </a:r>
          </a:p>
          <a:p>
            <a:pPr algn="l"/>
            <a:endParaRPr sz="1100" b="0" i="0">
              <a:solidFill>
                <a:srgbClr val="374151"/>
              </a:solidFill>
            </a:endParaRPr>
          </a:p>
          <a:p>
            <a:pPr algn="l"/>
            <a:r>
              <a:rPr sz="1300" b="1" i="0">
                <a:solidFill>
                  <a:srgbClr val="0F1F3D"/>
                </a:solidFill>
              </a:rPr>
              <a:t>2. MainWindow._on_line_received() — Main Thread</a:t>
            </a:r>
          </a:p>
          <a:p>
            <a:pPr algn="l"/>
            <a:r>
              <a:rPr sz="1100" b="0" i="0">
                <a:solidFill>
                  <a:srgbClr val="374151"/>
                </a:solidFill>
              </a:rPr>
              <a:t>Routes by prefix: DATA -&gt; _parse_data(), FLASH_DATA -&gt; _parse_flash_data(), STATUS -&gt; _parse_status(), FLASH_STATUS -&gt; _parse_flash_status(), SWEEP,BEGIN / SWEEP,DONE -&gt; state update, ERROR -&gt; red console log.</a:t>
            </a:r>
          </a:p>
          <a:p>
            <a:pPr algn="l"/>
            <a:endParaRPr sz="1100" b="0" i="0">
              <a:solidFill>
                <a:srgbClr val="374151"/>
              </a:solidFill>
            </a:endParaRPr>
          </a:p>
          <a:p>
            <a:pPr algn="l"/>
            <a:r>
              <a:rPr sz="1300" b="1" i="0">
                <a:solidFill>
                  <a:srgbClr val="0F1F3D"/>
                </a:solidFill>
              </a:rPr>
              <a:t>3. _parse_data() — For each DATA line</a:t>
            </a:r>
          </a:p>
          <a:p>
            <a:pPr algn="l"/>
            <a:r>
              <a:rPr sz="1100" b="0" i="0">
                <a:solidFill>
                  <a:srgbClr val="374151"/>
                </a:solidFill>
              </a:rPr>
              <a:t>Splits CSV: freq, |Z|, phase. Computes Re = |Z|*cos(phase), Im = |Z|*sin(phase). Calls DataModel.add_point(). Updates points counter. Calls ConfigPanel.update_last_point() and update_status(). Calls PlotWidget.update_plots() with full arrays.</a:t>
            </a:r>
          </a:p>
          <a:p>
            <a:pPr algn="l"/>
            <a:endParaRPr sz="1100" b="0" i="0">
              <a:solidFill>
                <a:srgbClr val="374151"/>
              </a:solidFill>
            </a:endParaRPr>
          </a:p>
          <a:p>
            <a:pPr algn="l"/>
            <a:r>
              <a:rPr sz="1300" b="1" i="0">
                <a:solidFill>
                  <a:srgbClr val="0F1F3D"/>
                </a:solidFill>
              </a:rPr>
              <a:t>4. PlotWidget.update_plots() — Redraw</a:t>
            </a:r>
          </a:p>
          <a:p>
            <a:pPr algn="l"/>
            <a:r>
              <a:rPr sz="1100" b="0" i="0">
                <a:solidFill>
                  <a:srgbClr val="374151"/>
                </a:solidFill>
              </a:rPr>
              <a:t>Clears all three axes, replots with current full dataset, calls canvas.draw(). Bode |Z| is log-log, Bode phase is log-x linear, Nyquist plots Re vs -Im with equal aspect.</a:t>
            </a:r>
          </a:p>
          <a:p>
            <a:pPr algn="l"/>
            <a:endParaRPr sz="1100" b="0" i="0">
              <a:solidFill>
                <a:srgbClr val="374151"/>
              </a:solidFill>
            </a:endParaRPr>
          </a:p>
          <a:p>
            <a:pPr algn="l"/>
            <a:r>
              <a:rPr sz="1300" b="1" i="0">
                <a:solidFill>
                  <a:srgbClr val="0F1F3D"/>
                </a:solidFill>
              </a:rPr>
              <a:t>5. Export</a:t>
            </a:r>
          </a:p>
          <a:p>
            <a:pPr algn="l"/>
            <a:r>
              <a:rPr sz="1100" b="0" i="0">
                <a:solidFill>
                  <a:srgbClr val="374151"/>
                </a:solidFill>
              </a:rPr>
              <a:t>DataModel.export_csv(path) writes a header row then one CSV row per ImpedancePoint. Works on live or flash-dumped data identically.</a:t>
            </a:r>
          </a:p>
        </p:txBody>
      </p:sp>
      <p:sp>
        <p:nvSpPr>
          <p:cNvPr id="6" name="Rounded Rectangle 5"/>
          <p:cNvSpPr/>
          <p:nvPr/>
        </p:nvSpPr>
        <p:spPr>
          <a:xfrm>
            <a:off x="6583680" y="1325880"/>
            <a:ext cx="5303520" cy="594360"/>
          </a:xfrm>
          <a:prstGeom prst="round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Serial port bytes</a:t>
            </a:r>
          </a:p>
          <a:p>
            <a:pPr algn="ctr"/>
            <a:r>
              <a:rPr sz="900" b="0">
                <a:solidFill>
                  <a:srgbClr val="FFFFFF"/>
                </a:solidFill>
              </a:rPr>
              <a:t>PySerial read</a:t>
            </a:r>
          </a:p>
        </p:txBody>
      </p:sp>
      <p:cxnSp>
        <p:nvCxnSpPr>
          <p:cNvPr id="7" name="Connector 6"/>
          <p:cNvCxnSpPr/>
          <p:nvPr/>
        </p:nvCxnSpPr>
        <p:spPr>
          <a:xfrm>
            <a:off x="9235440" y="1920240"/>
            <a:ext cx="0" cy="128016"/>
          </a:xfrm>
          <a:prstGeom prst="line">
            <a:avLst/>
          </a:prstGeom>
          <a:ln w="25400">
            <a:solidFill>
              <a:srgbClr val="1565C0"/>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0" y="2048256"/>
            <a:ext cx="5303520" cy="594360"/>
          </a:xfrm>
          <a:prstGeom prst="round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SerialWorker buffer</a:t>
            </a:r>
          </a:p>
          <a:p>
            <a:pPr algn="ctr"/>
            <a:r>
              <a:rPr sz="900" b="0">
                <a:solidFill>
                  <a:srgbClr val="FFFFFF"/>
                </a:solidFill>
              </a:rPr>
              <a:t>Byte accumulation</a:t>
            </a:r>
          </a:p>
        </p:txBody>
      </p:sp>
      <p:cxnSp>
        <p:nvCxnSpPr>
          <p:cNvPr id="9" name="Connector 8"/>
          <p:cNvCxnSpPr/>
          <p:nvPr/>
        </p:nvCxnSpPr>
        <p:spPr>
          <a:xfrm>
            <a:off x="9235440" y="2642616"/>
            <a:ext cx="0" cy="128016"/>
          </a:xfrm>
          <a:prstGeom prst="line">
            <a:avLst/>
          </a:prstGeom>
          <a:ln w="25400">
            <a:solidFill>
              <a:srgbClr val="1565C0"/>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583680" y="2770632"/>
            <a:ext cx="5303520" cy="59436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line_received(str)</a:t>
            </a:r>
          </a:p>
          <a:p>
            <a:pPr algn="ctr"/>
            <a:r>
              <a:rPr sz="900" b="0">
                <a:solidFill>
                  <a:srgbClr val="FFFFFF"/>
                </a:solidFill>
              </a:rPr>
              <a:t>Qt signal across threads</a:t>
            </a:r>
          </a:p>
        </p:txBody>
      </p:sp>
      <p:cxnSp>
        <p:nvCxnSpPr>
          <p:cNvPr id="11" name="Connector 10"/>
          <p:cNvCxnSpPr/>
          <p:nvPr/>
        </p:nvCxnSpPr>
        <p:spPr>
          <a:xfrm>
            <a:off x="9235440" y="3364992"/>
            <a:ext cx="0" cy="128016"/>
          </a:xfrm>
          <a:prstGeom prst="line">
            <a:avLst/>
          </a:prstGeom>
          <a:ln w="25400">
            <a:solidFill>
              <a:srgbClr val="1565C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583680" y="3493008"/>
            <a:ext cx="5303520" cy="594360"/>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_on_line_received()</a:t>
            </a:r>
          </a:p>
          <a:p>
            <a:pPr algn="ctr"/>
            <a:r>
              <a:rPr sz="900" b="0">
                <a:solidFill>
                  <a:srgbClr val="FFFFFF"/>
                </a:solidFill>
              </a:rPr>
              <a:t>Route by prefix</a:t>
            </a:r>
          </a:p>
        </p:txBody>
      </p:sp>
      <p:cxnSp>
        <p:nvCxnSpPr>
          <p:cNvPr id="13" name="Connector 12"/>
          <p:cNvCxnSpPr/>
          <p:nvPr/>
        </p:nvCxnSpPr>
        <p:spPr>
          <a:xfrm>
            <a:off x="9235440" y="4087368"/>
            <a:ext cx="0" cy="128016"/>
          </a:xfrm>
          <a:prstGeom prst="line">
            <a:avLst/>
          </a:prstGeom>
          <a:ln w="25400">
            <a:solidFill>
              <a:srgbClr val="1565C0"/>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583680" y="4215384"/>
            <a:ext cx="5303520" cy="59436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_parse_data()</a:t>
            </a:r>
          </a:p>
          <a:p>
            <a:pPr algn="ctr"/>
            <a:r>
              <a:rPr sz="900" b="0">
                <a:solidFill>
                  <a:srgbClr val="FFFFFF"/>
                </a:solidFill>
              </a:rPr>
              <a:t>Split CSV, compute Re/Im</a:t>
            </a:r>
          </a:p>
        </p:txBody>
      </p:sp>
      <p:cxnSp>
        <p:nvCxnSpPr>
          <p:cNvPr id="15" name="Connector 14"/>
          <p:cNvCxnSpPr/>
          <p:nvPr/>
        </p:nvCxnSpPr>
        <p:spPr>
          <a:xfrm>
            <a:off x="9235440" y="4809744"/>
            <a:ext cx="0" cy="128016"/>
          </a:xfrm>
          <a:prstGeom prst="line">
            <a:avLst/>
          </a:prstGeom>
          <a:ln w="25400">
            <a:solidFill>
              <a:srgbClr val="1565C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583680" y="4937760"/>
            <a:ext cx="5303520" cy="59436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DataModel</a:t>
            </a:r>
          </a:p>
          <a:p>
            <a:pPr algn="ctr"/>
            <a:r>
              <a:rPr sz="900" b="0">
                <a:solidFill>
                  <a:srgbClr val="FFFFFF"/>
                </a:solidFill>
              </a:rPr>
              <a:t>add_point()</a:t>
            </a:r>
          </a:p>
        </p:txBody>
      </p:sp>
      <p:cxnSp>
        <p:nvCxnSpPr>
          <p:cNvPr id="17" name="Connector 16"/>
          <p:cNvCxnSpPr/>
          <p:nvPr/>
        </p:nvCxnSpPr>
        <p:spPr>
          <a:xfrm>
            <a:off x="9235440" y="5532120"/>
            <a:ext cx="0" cy="128016"/>
          </a:xfrm>
          <a:prstGeom prst="line">
            <a:avLst/>
          </a:prstGeom>
          <a:ln w="25400">
            <a:solidFill>
              <a:srgbClr val="1565C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583680" y="5660136"/>
            <a:ext cx="5303520" cy="594360"/>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PlotWidget</a:t>
            </a:r>
          </a:p>
          <a:p>
            <a:pPr algn="ctr"/>
            <a:r>
              <a:rPr sz="900" b="0">
                <a:solidFill>
                  <a:srgbClr val="FFFFFF"/>
                </a:solidFill>
              </a:rPr>
              <a:t>update_plots()</a:t>
            </a:r>
          </a:p>
        </p:txBody>
      </p:sp>
      <p:cxnSp>
        <p:nvCxnSpPr>
          <p:cNvPr id="19" name="Connector 18"/>
          <p:cNvCxnSpPr/>
          <p:nvPr/>
        </p:nvCxnSpPr>
        <p:spPr>
          <a:xfrm>
            <a:off x="9235440" y="6254496"/>
            <a:ext cx="0" cy="128016"/>
          </a:xfrm>
          <a:prstGeom prst="line">
            <a:avLst/>
          </a:prstGeom>
          <a:ln w="25400">
            <a:solidFill>
              <a:srgbClr val="1565C0"/>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583680" y="6382512"/>
            <a:ext cx="5303520" cy="594360"/>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ConfigPanel</a:t>
            </a:r>
          </a:p>
          <a:p>
            <a:pPr algn="ctr"/>
            <a:r>
              <a:rPr sz="900" b="0">
                <a:solidFill>
                  <a:srgbClr val="FFFFFF"/>
                </a:solidFill>
              </a:rPr>
              <a:t>update_last_point()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Firmware UART Command Reference</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Complete ASCII protocol — commands sent by GUI and responses from STM32</a:t>
            </a:r>
          </a:p>
        </p:txBody>
      </p:sp>
      <p:sp>
        <p:nvSpPr>
          <p:cNvPr id="5" name="Rounded Rectangle 4"/>
          <p:cNvSpPr/>
          <p:nvPr/>
        </p:nvSpPr>
        <p:spPr>
          <a:xfrm>
            <a:off x="365760" y="1261872"/>
            <a:ext cx="2286000" cy="411480"/>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i="0">
                <a:solidFill>
                  <a:srgbClr val="FFFFFF"/>
                </a:solidFill>
              </a:rPr>
              <a:t>Command</a:t>
            </a:r>
          </a:p>
        </p:txBody>
      </p:sp>
      <p:sp>
        <p:nvSpPr>
          <p:cNvPr id="6" name="Rounded Rectangle 5"/>
          <p:cNvSpPr/>
          <p:nvPr/>
        </p:nvSpPr>
        <p:spPr>
          <a:xfrm>
            <a:off x="2651760" y="1261872"/>
            <a:ext cx="4114800" cy="411480"/>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i="0">
                <a:solidFill>
                  <a:srgbClr val="FFFFFF"/>
                </a:solidFill>
              </a:rPr>
              <a:t>Action</a:t>
            </a:r>
          </a:p>
        </p:txBody>
      </p:sp>
      <p:sp>
        <p:nvSpPr>
          <p:cNvPr id="7" name="Rounded Rectangle 6"/>
          <p:cNvSpPr/>
          <p:nvPr/>
        </p:nvSpPr>
        <p:spPr>
          <a:xfrm>
            <a:off x="6766560" y="1261872"/>
            <a:ext cx="5029200" cy="411480"/>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i="0">
                <a:solidFill>
                  <a:srgbClr val="FFFFFF"/>
                </a:solidFill>
              </a:rPr>
              <a:t>Response</a:t>
            </a:r>
          </a:p>
        </p:txBody>
      </p:sp>
      <p:sp>
        <p:nvSpPr>
          <p:cNvPr id="8" name="Rounded Rectangle 7"/>
          <p:cNvSpPr/>
          <p:nvPr/>
        </p:nvSpPr>
        <p:spPr>
          <a:xfrm>
            <a:off x="365760" y="1673351"/>
            <a:ext cx="2286000" cy="475488"/>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START</a:t>
            </a:r>
          </a:p>
        </p:txBody>
      </p:sp>
      <p:sp>
        <p:nvSpPr>
          <p:cNvPr id="9" name="Rounded Rectangle 8"/>
          <p:cNvSpPr/>
          <p:nvPr/>
        </p:nvSpPr>
        <p:spPr>
          <a:xfrm>
            <a:off x="2651760" y="1673351"/>
            <a:ext cx="4114800" cy="475488"/>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374151"/>
                </a:solidFill>
              </a:rPr>
              <a:t>Begin frequency sweep. Calls FlashLog_BeginSweep() then iterates sweep loop.</a:t>
            </a:r>
          </a:p>
        </p:txBody>
      </p:sp>
      <p:sp>
        <p:nvSpPr>
          <p:cNvPr id="10" name="Rounded Rectangle 9"/>
          <p:cNvSpPr/>
          <p:nvPr/>
        </p:nvSpPr>
        <p:spPr>
          <a:xfrm>
            <a:off x="6766560" y="1673351"/>
            <a:ext cx="5029200" cy="475488"/>
          </a:xfrm>
          <a:prstGeom prst="round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00" b="0" i="0">
                <a:solidFill>
                  <a:srgbClr val="374151"/>
                </a:solidFill>
              </a:rPr>
              <a:t>SWEEP,BEGIN -&gt; DATA,f,|Z|,phase (per step) -&gt; SWEEP,DONE</a:t>
            </a:r>
          </a:p>
        </p:txBody>
      </p:sp>
      <p:sp>
        <p:nvSpPr>
          <p:cNvPr id="11" name="Rounded Rectangle 10"/>
          <p:cNvSpPr/>
          <p:nvPr/>
        </p:nvSpPr>
        <p:spPr>
          <a:xfrm>
            <a:off x="365760" y="2148839"/>
            <a:ext cx="2286000" cy="475488"/>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STOP</a:t>
            </a:r>
          </a:p>
        </p:txBody>
      </p:sp>
      <p:sp>
        <p:nvSpPr>
          <p:cNvPr id="12" name="Rounded Rectangle 11"/>
          <p:cNvSpPr/>
          <p:nvPr/>
        </p:nvSpPr>
        <p:spPr>
          <a:xfrm>
            <a:off x="2651760" y="2148839"/>
            <a:ext cx="4114800" cy="475488"/>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374151"/>
                </a:solidFill>
              </a:rPr>
              <a:t>Sets measurement_running=0. Current step completes before stopping.</a:t>
            </a:r>
          </a:p>
        </p:txBody>
      </p:sp>
      <p:sp>
        <p:nvSpPr>
          <p:cNvPr id="13" name="Rounded Rectangle 12"/>
          <p:cNvSpPr/>
          <p:nvPr/>
        </p:nvSpPr>
        <p:spPr>
          <a:xfrm>
            <a:off x="6766560" y="2148839"/>
            <a:ext cx="5029200" cy="475488"/>
          </a:xfrm>
          <a:prstGeom prst="round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00" b="0" i="0">
                <a:solidFill>
                  <a:srgbClr val="374151"/>
                </a:solidFill>
              </a:rPr>
              <a:t>(no explicit response; next STATUS will show IDLE)</a:t>
            </a:r>
          </a:p>
        </p:txBody>
      </p:sp>
      <p:sp>
        <p:nvSpPr>
          <p:cNvPr id="14" name="Rounded Rectangle 13"/>
          <p:cNvSpPr/>
          <p:nvPr/>
        </p:nvSpPr>
        <p:spPr>
          <a:xfrm>
            <a:off x="365760" y="2624327"/>
            <a:ext cx="2286000" cy="475488"/>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STATUS</a:t>
            </a:r>
          </a:p>
        </p:txBody>
      </p:sp>
      <p:sp>
        <p:nvSpPr>
          <p:cNvPr id="15" name="Rounded Rectangle 14"/>
          <p:cNvSpPr/>
          <p:nvPr/>
        </p:nvSpPr>
        <p:spPr>
          <a:xfrm>
            <a:off x="2651760" y="2624327"/>
            <a:ext cx="4114800" cy="475488"/>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374151"/>
                </a:solidFill>
              </a:rPr>
              <a:t>Report current operating state and sweep parameters.</a:t>
            </a:r>
          </a:p>
        </p:txBody>
      </p:sp>
      <p:sp>
        <p:nvSpPr>
          <p:cNvPr id="16" name="Rounded Rectangle 15"/>
          <p:cNvSpPr/>
          <p:nvPr/>
        </p:nvSpPr>
        <p:spPr>
          <a:xfrm>
            <a:off x="6766560" y="2624327"/>
            <a:ext cx="5029200" cy="475488"/>
          </a:xfrm>
          <a:prstGeom prst="round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00" b="0" i="0">
                <a:solidFill>
                  <a:srgbClr val="374151"/>
                </a:solidFill>
              </a:rPr>
              <a:t>STATUS,IDLE|RUNNING,START=n,STOP=n,STEP=n,RF=n,FLASH_COUNT=n</a:t>
            </a:r>
          </a:p>
        </p:txBody>
      </p:sp>
      <p:sp>
        <p:nvSpPr>
          <p:cNvPr id="17" name="Rounded Rectangle 16"/>
          <p:cNvSpPr/>
          <p:nvPr/>
        </p:nvSpPr>
        <p:spPr>
          <a:xfrm>
            <a:off x="365760" y="3099815"/>
            <a:ext cx="2286000" cy="475488"/>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SET_START_FREQ,n</a:t>
            </a:r>
          </a:p>
        </p:txBody>
      </p:sp>
      <p:sp>
        <p:nvSpPr>
          <p:cNvPr id="18" name="Rounded Rectangle 17"/>
          <p:cNvSpPr/>
          <p:nvPr/>
        </p:nvSpPr>
        <p:spPr>
          <a:xfrm>
            <a:off x="2651760" y="3099815"/>
            <a:ext cx="4114800" cy="475488"/>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374151"/>
                </a:solidFill>
              </a:rPr>
              <a:t>Set sweep start frequency to n Hz.</a:t>
            </a:r>
          </a:p>
        </p:txBody>
      </p:sp>
      <p:sp>
        <p:nvSpPr>
          <p:cNvPr id="19" name="Rounded Rectangle 18"/>
          <p:cNvSpPr/>
          <p:nvPr/>
        </p:nvSpPr>
        <p:spPr>
          <a:xfrm>
            <a:off x="6766560" y="3099815"/>
            <a:ext cx="5029200" cy="475488"/>
          </a:xfrm>
          <a:prstGeom prst="round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00" b="0" i="0">
                <a:solidFill>
                  <a:srgbClr val="374151"/>
                </a:solidFill>
              </a:rPr>
              <a:t>+OK or no response</a:t>
            </a:r>
          </a:p>
        </p:txBody>
      </p:sp>
      <p:sp>
        <p:nvSpPr>
          <p:cNvPr id="20" name="Rounded Rectangle 19"/>
          <p:cNvSpPr/>
          <p:nvPr/>
        </p:nvSpPr>
        <p:spPr>
          <a:xfrm>
            <a:off x="365760" y="3575303"/>
            <a:ext cx="2286000" cy="475488"/>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SET_STOP_FREQ,n</a:t>
            </a:r>
          </a:p>
        </p:txBody>
      </p:sp>
      <p:sp>
        <p:nvSpPr>
          <p:cNvPr id="21" name="Rounded Rectangle 20"/>
          <p:cNvSpPr/>
          <p:nvPr/>
        </p:nvSpPr>
        <p:spPr>
          <a:xfrm>
            <a:off x="2651760" y="3575303"/>
            <a:ext cx="4114800" cy="475488"/>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374151"/>
                </a:solidFill>
              </a:rPr>
              <a:t>Set sweep stop frequency to n Hz.</a:t>
            </a:r>
          </a:p>
        </p:txBody>
      </p:sp>
      <p:sp>
        <p:nvSpPr>
          <p:cNvPr id="22" name="Rounded Rectangle 21"/>
          <p:cNvSpPr/>
          <p:nvPr/>
        </p:nvSpPr>
        <p:spPr>
          <a:xfrm>
            <a:off x="6766560" y="3575303"/>
            <a:ext cx="5029200" cy="475488"/>
          </a:xfrm>
          <a:prstGeom prst="round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00" b="0" i="0">
                <a:solidFill>
                  <a:srgbClr val="374151"/>
                </a:solidFill>
              </a:rPr>
              <a:t>+OK or no response</a:t>
            </a:r>
          </a:p>
        </p:txBody>
      </p:sp>
      <p:sp>
        <p:nvSpPr>
          <p:cNvPr id="23" name="Rounded Rectangle 22"/>
          <p:cNvSpPr/>
          <p:nvPr/>
        </p:nvSpPr>
        <p:spPr>
          <a:xfrm>
            <a:off x="365760" y="4050791"/>
            <a:ext cx="2286000" cy="475488"/>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SET_STEP_FREQ,n</a:t>
            </a:r>
          </a:p>
        </p:txBody>
      </p:sp>
      <p:sp>
        <p:nvSpPr>
          <p:cNvPr id="24" name="Rounded Rectangle 23"/>
          <p:cNvSpPr/>
          <p:nvPr/>
        </p:nvSpPr>
        <p:spPr>
          <a:xfrm>
            <a:off x="2651760" y="4050791"/>
            <a:ext cx="4114800" cy="475488"/>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374151"/>
                </a:solidFill>
              </a:rPr>
              <a:t>Set sweep frequency step to n Hz.</a:t>
            </a:r>
          </a:p>
        </p:txBody>
      </p:sp>
      <p:sp>
        <p:nvSpPr>
          <p:cNvPr id="25" name="Rounded Rectangle 24"/>
          <p:cNvSpPr/>
          <p:nvPr/>
        </p:nvSpPr>
        <p:spPr>
          <a:xfrm>
            <a:off x="6766560" y="4050791"/>
            <a:ext cx="5029200" cy="475488"/>
          </a:xfrm>
          <a:prstGeom prst="round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00" b="0" i="0">
                <a:solidFill>
                  <a:srgbClr val="374151"/>
                </a:solidFill>
              </a:rPr>
              <a:t>+OK or no response</a:t>
            </a:r>
          </a:p>
        </p:txBody>
      </p:sp>
      <p:sp>
        <p:nvSpPr>
          <p:cNvPr id="26" name="Rounded Rectangle 25"/>
          <p:cNvSpPr/>
          <p:nvPr/>
        </p:nvSpPr>
        <p:spPr>
          <a:xfrm>
            <a:off x="365760" y="4526279"/>
            <a:ext cx="2286000" cy="475488"/>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SET_RF,n.n</a:t>
            </a:r>
          </a:p>
        </p:txBody>
      </p:sp>
      <p:sp>
        <p:nvSpPr>
          <p:cNvPr id="27" name="Rounded Rectangle 26"/>
          <p:cNvSpPr/>
          <p:nvPr/>
        </p:nvSpPr>
        <p:spPr>
          <a:xfrm>
            <a:off x="2651760" y="4526279"/>
            <a:ext cx="4114800" cy="475488"/>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374151"/>
                </a:solidFill>
              </a:rPr>
              <a:t>Set TIA feedback resistor value to n.n Ohms.</a:t>
            </a:r>
          </a:p>
        </p:txBody>
      </p:sp>
      <p:sp>
        <p:nvSpPr>
          <p:cNvPr id="28" name="Rounded Rectangle 27"/>
          <p:cNvSpPr/>
          <p:nvPr/>
        </p:nvSpPr>
        <p:spPr>
          <a:xfrm>
            <a:off x="6766560" y="4526279"/>
            <a:ext cx="5029200" cy="475488"/>
          </a:xfrm>
          <a:prstGeom prst="round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00" b="0" i="0">
                <a:solidFill>
                  <a:srgbClr val="374151"/>
                </a:solidFill>
              </a:rPr>
              <a:t>+OK or no response</a:t>
            </a:r>
          </a:p>
        </p:txBody>
      </p:sp>
      <p:sp>
        <p:nvSpPr>
          <p:cNvPr id="29" name="Rounded Rectangle 28"/>
          <p:cNvSpPr/>
          <p:nvPr/>
        </p:nvSpPr>
        <p:spPr>
          <a:xfrm>
            <a:off x="365760" y="5001767"/>
            <a:ext cx="2286000" cy="475488"/>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FLASH_STATUS</a:t>
            </a:r>
          </a:p>
        </p:txBody>
      </p:sp>
      <p:sp>
        <p:nvSpPr>
          <p:cNvPr id="30" name="Rounded Rectangle 29"/>
          <p:cNvSpPr/>
          <p:nvPr/>
        </p:nvSpPr>
        <p:spPr>
          <a:xfrm>
            <a:off x="2651760" y="5001767"/>
            <a:ext cx="4114800" cy="475488"/>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374151"/>
                </a:solidFill>
              </a:rPr>
              <a:t>Query flash log record count and capacity.</a:t>
            </a:r>
          </a:p>
        </p:txBody>
      </p:sp>
      <p:sp>
        <p:nvSpPr>
          <p:cNvPr id="31" name="Rounded Rectangle 30"/>
          <p:cNvSpPr/>
          <p:nvPr/>
        </p:nvSpPr>
        <p:spPr>
          <a:xfrm>
            <a:off x="6766560" y="5001767"/>
            <a:ext cx="5029200" cy="475488"/>
          </a:xfrm>
          <a:prstGeom prst="round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00" b="0" i="0">
                <a:solidFill>
                  <a:srgbClr val="374151"/>
                </a:solidFill>
              </a:rPr>
              <a:t>FLASH_STATUS,COUNT=n,CAPACITY=m</a:t>
            </a:r>
          </a:p>
        </p:txBody>
      </p:sp>
      <p:sp>
        <p:nvSpPr>
          <p:cNvPr id="32" name="Rounded Rectangle 31"/>
          <p:cNvSpPr/>
          <p:nvPr/>
        </p:nvSpPr>
        <p:spPr>
          <a:xfrm>
            <a:off x="365760" y="5477255"/>
            <a:ext cx="2286000" cy="475488"/>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DUMP_FLASH</a:t>
            </a:r>
          </a:p>
        </p:txBody>
      </p:sp>
      <p:sp>
        <p:nvSpPr>
          <p:cNvPr id="33" name="Rounded Rectangle 32"/>
          <p:cNvSpPr/>
          <p:nvPr/>
        </p:nvSpPr>
        <p:spPr>
          <a:xfrm>
            <a:off x="2651760" y="5477255"/>
            <a:ext cx="4114800" cy="475488"/>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374151"/>
                </a:solidFill>
              </a:rPr>
              <a:t>Replay all stored flash records to UART.</a:t>
            </a:r>
          </a:p>
        </p:txBody>
      </p:sp>
      <p:sp>
        <p:nvSpPr>
          <p:cNvPr id="34" name="Rounded Rectangle 33"/>
          <p:cNvSpPr/>
          <p:nvPr/>
        </p:nvSpPr>
        <p:spPr>
          <a:xfrm>
            <a:off x="6766560" y="5477255"/>
            <a:ext cx="5029200" cy="475488"/>
          </a:xfrm>
          <a:prstGeom prst="round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00" b="0" i="0">
                <a:solidFill>
                  <a:srgbClr val="374151"/>
                </a:solidFill>
              </a:rPr>
              <a:t>FLASH_DATA,f,|Z|x100,phasex100,Rex100,Imx100 (per record)</a:t>
            </a:r>
          </a:p>
        </p:txBody>
      </p:sp>
      <p:sp>
        <p:nvSpPr>
          <p:cNvPr id="35" name="Rounded Rectangle 34"/>
          <p:cNvSpPr/>
          <p:nvPr/>
        </p:nvSpPr>
        <p:spPr>
          <a:xfrm>
            <a:off x="365760" y="5952743"/>
            <a:ext cx="2286000" cy="475488"/>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ERASE_FLASH</a:t>
            </a:r>
          </a:p>
        </p:txBody>
      </p:sp>
      <p:sp>
        <p:nvSpPr>
          <p:cNvPr id="36" name="Rounded Rectangle 35"/>
          <p:cNvSpPr/>
          <p:nvPr/>
        </p:nvSpPr>
        <p:spPr>
          <a:xfrm>
            <a:off x="2651760" y="5952743"/>
            <a:ext cx="4114800" cy="475488"/>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374151"/>
                </a:solidFill>
              </a:rPr>
              <a:t>Erase the flash log region (4 sectors x 4 KB = 16 KB).</a:t>
            </a:r>
          </a:p>
        </p:txBody>
      </p:sp>
      <p:sp>
        <p:nvSpPr>
          <p:cNvPr id="37" name="Rounded Rectangle 36"/>
          <p:cNvSpPr/>
          <p:nvPr/>
        </p:nvSpPr>
        <p:spPr>
          <a:xfrm>
            <a:off x="6766560" y="5952743"/>
            <a:ext cx="5029200" cy="475488"/>
          </a:xfrm>
          <a:prstGeom prst="round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00" b="0" i="0">
                <a:solidFill>
                  <a:srgbClr val="374151"/>
                </a:solidFill>
              </a:rPr>
              <a:t>FLASH_ERASE_OK or FLASH_ERASE_ERROR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Hardware Component Interactions</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All peripherals connected to STM32F303CCT6</a:t>
            </a:r>
          </a:p>
        </p:txBody>
      </p:sp>
      <p:sp>
        <p:nvSpPr>
          <p:cNvPr id="5" name="Rounded Rectangle 4"/>
          <p:cNvSpPr/>
          <p:nvPr/>
        </p:nvSpPr>
        <p:spPr>
          <a:xfrm>
            <a:off x="4572000" y="2743200"/>
            <a:ext cx="3108960" cy="1051560"/>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rPr>
              <a:t>STM32F303CCT6
72 MHz Cortex-M4</a:t>
            </a:r>
          </a:p>
        </p:txBody>
      </p:sp>
      <p:sp>
        <p:nvSpPr>
          <p:cNvPr id="6" name="Rounded Rectangle 5"/>
          <p:cNvSpPr/>
          <p:nvPr/>
        </p:nvSpPr>
        <p:spPr>
          <a:xfrm>
            <a:off x="182880" y="1005840"/>
            <a:ext cx="1920240" cy="658368"/>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AD9833
DDS</a:t>
            </a:r>
          </a:p>
        </p:txBody>
      </p:sp>
      <p:cxnSp>
        <p:nvCxnSpPr>
          <p:cNvPr id="7" name="Connector 6"/>
          <p:cNvCxnSpPr/>
          <p:nvPr/>
        </p:nvCxnSpPr>
        <p:spPr>
          <a:xfrm>
            <a:off x="1143000" y="1335024"/>
            <a:ext cx="4983480" cy="1933956"/>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040380" y="2155698"/>
            <a:ext cx="1371600" cy="274320"/>
          </a:xfrm>
          <a:prstGeom prst="rect">
            <a:avLst/>
          </a:prstGeom>
          <a:noFill/>
        </p:spPr>
        <p:txBody>
          <a:bodyPr wrap="square">
            <a:spAutoFit/>
          </a:bodyPr>
          <a:lstStyle/>
          <a:p>
            <a:pPr algn="l"/>
            <a:r>
              <a:rPr sz="700" b="0" i="1">
                <a:solidFill>
                  <a:srgbClr val="64748B"/>
                </a:solidFill>
              </a:rPr>
              <a:t>SPI1  PA4 FSYNC</a:t>
            </a:r>
          </a:p>
        </p:txBody>
      </p:sp>
      <p:sp>
        <p:nvSpPr>
          <p:cNvPr id="9" name="Rounded Rectangle 8"/>
          <p:cNvSpPr/>
          <p:nvPr/>
        </p:nvSpPr>
        <p:spPr>
          <a:xfrm>
            <a:off x="3840480" y="457200"/>
            <a:ext cx="1920240" cy="658368"/>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8 MHz Crystal
(HSE)</a:t>
            </a:r>
          </a:p>
        </p:txBody>
      </p:sp>
      <p:cxnSp>
        <p:nvCxnSpPr>
          <p:cNvPr id="10" name="Connector 9"/>
          <p:cNvCxnSpPr/>
          <p:nvPr/>
        </p:nvCxnSpPr>
        <p:spPr>
          <a:xfrm>
            <a:off x="4800600" y="786384"/>
            <a:ext cx="1325880" cy="2482596"/>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869179" y="1881378"/>
            <a:ext cx="1371600" cy="274320"/>
          </a:xfrm>
          <a:prstGeom prst="rect">
            <a:avLst/>
          </a:prstGeom>
          <a:noFill/>
        </p:spPr>
        <p:txBody>
          <a:bodyPr wrap="square">
            <a:spAutoFit/>
          </a:bodyPr>
          <a:lstStyle/>
          <a:p>
            <a:pPr algn="l"/>
            <a:r>
              <a:rPr sz="700" b="0" i="1">
                <a:solidFill>
                  <a:srgbClr val="64748B"/>
                </a:solidFill>
              </a:rPr>
              <a:t>PF0/PF1</a:t>
            </a:r>
          </a:p>
        </p:txBody>
      </p:sp>
      <p:sp>
        <p:nvSpPr>
          <p:cNvPr id="12" name="Rounded Rectangle 11"/>
          <p:cNvSpPr/>
          <p:nvPr/>
        </p:nvSpPr>
        <p:spPr>
          <a:xfrm>
            <a:off x="6858000" y="1005840"/>
            <a:ext cx="1920240" cy="658368"/>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W25Q32 Flash
32 Mbit</a:t>
            </a:r>
          </a:p>
        </p:txBody>
      </p:sp>
      <p:cxnSp>
        <p:nvCxnSpPr>
          <p:cNvPr id="13" name="Connector 12"/>
          <p:cNvCxnSpPr/>
          <p:nvPr/>
        </p:nvCxnSpPr>
        <p:spPr>
          <a:xfrm flipH="1">
            <a:off x="6126480" y="1335024"/>
            <a:ext cx="1691640" cy="1933956"/>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377940" y="2155698"/>
            <a:ext cx="1371600" cy="274320"/>
          </a:xfrm>
          <a:prstGeom prst="rect">
            <a:avLst/>
          </a:prstGeom>
          <a:noFill/>
        </p:spPr>
        <p:txBody>
          <a:bodyPr wrap="square">
            <a:spAutoFit/>
          </a:bodyPr>
          <a:lstStyle/>
          <a:p>
            <a:pPr algn="l"/>
            <a:r>
              <a:rPr sz="700" b="0" i="1">
                <a:solidFill>
                  <a:srgbClr val="64748B"/>
                </a:solidFill>
              </a:rPr>
              <a:t>SPI1  PB12 CS</a:t>
            </a:r>
          </a:p>
        </p:txBody>
      </p:sp>
      <p:sp>
        <p:nvSpPr>
          <p:cNvPr id="15" name="Rounded Rectangle 14"/>
          <p:cNvSpPr/>
          <p:nvPr/>
        </p:nvSpPr>
        <p:spPr>
          <a:xfrm>
            <a:off x="9875520" y="1005840"/>
            <a:ext cx="1920240" cy="658368"/>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CP2102
USB-UART</a:t>
            </a:r>
          </a:p>
        </p:txBody>
      </p:sp>
      <p:cxnSp>
        <p:nvCxnSpPr>
          <p:cNvPr id="16" name="Connector 15"/>
          <p:cNvCxnSpPr/>
          <p:nvPr/>
        </p:nvCxnSpPr>
        <p:spPr>
          <a:xfrm flipH="1">
            <a:off x="6126480" y="1335024"/>
            <a:ext cx="4709160" cy="1933956"/>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886700" y="2155698"/>
            <a:ext cx="1371600" cy="274320"/>
          </a:xfrm>
          <a:prstGeom prst="rect">
            <a:avLst/>
          </a:prstGeom>
          <a:noFill/>
        </p:spPr>
        <p:txBody>
          <a:bodyPr wrap="square">
            <a:spAutoFit/>
          </a:bodyPr>
          <a:lstStyle/>
          <a:p>
            <a:pPr algn="l"/>
            <a:r>
              <a:rPr sz="700" b="0" i="1">
                <a:solidFill>
                  <a:srgbClr val="64748B"/>
                </a:solidFill>
              </a:rPr>
              <a:t>USART1 PA9/PA10</a:t>
            </a:r>
          </a:p>
        </p:txBody>
      </p:sp>
      <p:sp>
        <p:nvSpPr>
          <p:cNvPr id="18" name="Rounded Rectangle 17"/>
          <p:cNvSpPr/>
          <p:nvPr/>
        </p:nvSpPr>
        <p:spPr>
          <a:xfrm>
            <a:off x="182880" y="3200400"/>
            <a:ext cx="1920240" cy="658368"/>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MCP1700
LDO 3.3V</a:t>
            </a:r>
          </a:p>
        </p:txBody>
      </p:sp>
      <p:cxnSp>
        <p:nvCxnSpPr>
          <p:cNvPr id="19" name="Connector 18"/>
          <p:cNvCxnSpPr/>
          <p:nvPr/>
        </p:nvCxnSpPr>
        <p:spPr>
          <a:xfrm flipV="1">
            <a:off x="1143000" y="3268980"/>
            <a:ext cx="4983480" cy="260604"/>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040380" y="3252978"/>
            <a:ext cx="1371600" cy="274320"/>
          </a:xfrm>
          <a:prstGeom prst="rect">
            <a:avLst/>
          </a:prstGeom>
          <a:noFill/>
        </p:spPr>
        <p:txBody>
          <a:bodyPr wrap="square">
            <a:spAutoFit/>
          </a:bodyPr>
          <a:lstStyle/>
          <a:p>
            <a:pPr algn="l"/>
            <a:r>
              <a:rPr sz="700" b="0" i="1">
                <a:solidFill>
                  <a:srgbClr val="64748B"/>
                </a:solidFill>
              </a:rPr>
              <a:t>3.3V power rail</a:t>
            </a:r>
          </a:p>
        </p:txBody>
      </p:sp>
      <p:sp>
        <p:nvSpPr>
          <p:cNvPr id="21" name="Rounded Rectangle 20"/>
          <p:cNvSpPr/>
          <p:nvPr/>
        </p:nvSpPr>
        <p:spPr>
          <a:xfrm>
            <a:off x="182880" y="4754880"/>
            <a:ext cx="1920240" cy="658368"/>
          </a:xfrm>
          <a:prstGeom prst="round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OPA2140
Excit. Buffer</a:t>
            </a:r>
          </a:p>
        </p:txBody>
      </p:sp>
      <p:cxnSp>
        <p:nvCxnSpPr>
          <p:cNvPr id="22" name="Connector 21"/>
          <p:cNvCxnSpPr/>
          <p:nvPr/>
        </p:nvCxnSpPr>
        <p:spPr>
          <a:xfrm flipV="1">
            <a:off x="1143000" y="3268980"/>
            <a:ext cx="4983480" cy="1815084"/>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40380" y="4030218"/>
            <a:ext cx="1371600" cy="274320"/>
          </a:xfrm>
          <a:prstGeom prst="rect">
            <a:avLst/>
          </a:prstGeom>
          <a:noFill/>
        </p:spPr>
        <p:txBody>
          <a:bodyPr wrap="square">
            <a:spAutoFit/>
          </a:bodyPr>
          <a:lstStyle/>
          <a:p>
            <a:pPr algn="l"/>
            <a:r>
              <a:rPr sz="700" b="0" i="1">
                <a:solidFill>
                  <a:srgbClr val="64748B"/>
                </a:solidFill>
              </a:rPr>
              <a:t>DAC Out-&gt;Electrode</a:t>
            </a:r>
          </a:p>
        </p:txBody>
      </p:sp>
      <p:sp>
        <p:nvSpPr>
          <p:cNvPr id="24" name="Rounded Rectangle 23"/>
          <p:cNvSpPr/>
          <p:nvPr/>
        </p:nvSpPr>
        <p:spPr>
          <a:xfrm>
            <a:off x="9875520" y="3200400"/>
            <a:ext cx="1920240" cy="658368"/>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ADR4533
3.3V Ref</a:t>
            </a:r>
          </a:p>
        </p:txBody>
      </p:sp>
      <p:cxnSp>
        <p:nvCxnSpPr>
          <p:cNvPr id="25" name="Connector 24"/>
          <p:cNvCxnSpPr/>
          <p:nvPr/>
        </p:nvCxnSpPr>
        <p:spPr>
          <a:xfrm flipH="1" flipV="1">
            <a:off x="6126480" y="3268980"/>
            <a:ext cx="4709160" cy="260604"/>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886700" y="3252978"/>
            <a:ext cx="1371600" cy="274320"/>
          </a:xfrm>
          <a:prstGeom prst="rect">
            <a:avLst/>
          </a:prstGeom>
          <a:noFill/>
        </p:spPr>
        <p:txBody>
          <a:bodyPr wrap="square">
            <a:spAutoFit/>
          </a:bodyPr>
          <a:lstStyle/>
          <a:p>
            <a:pPr algn="l"/>
            <a:r>
              <a:rPr sz="700" b="0" i="1">
                <a:solidFill>
                  <a:srgbClr val="64748B"/>
                </a:solidFill>
              </a:rPr>
              <a:t>VDDA/VREF+</a:t>
            </a:r>
          </a:p>
        </p:txBody>
      </p:sp>
      <p:sp>
        <p:nvSpPr>
          <p:cNvPr id="27" name="Rounded Rectangle 26"/>
          <p:cNvSpPr/>
          <p:nvPr/>
        </p:nvSpPr>
        <p:spPr>
          <a:xfrm>
            <a:off x="9875520" y="4754880"/>
            <a:ext cx="1920240" cy="658368"/>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OPA2140
TIA (I-&gt;V)</a:t>
            </a:r>
          </a:p>
        </p:txBody>
      </p:sp>
      <p:cxnSp>
        <p:nvCxnSpPr>
          <p:cNvPr id="28" name="Connector 27"/>
          <p:cNvCxnSpPr/>
          <p:nvPr/>
        </p:nvCxnSpPr>
        <p:spPr>
          <a:xfrm flipH="1" flipV="1">
            <a:off x="6126480" y="3268980"/>
            <a:ext cx="4709160" cy="1815084"/>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886700" y="4030218"/>
            <a:ext cx="1371600" cy="274320"/>
          </a:xfrm>
          <a:prstGeom prst="rect">
            <a:avLst/>
          </a:prstGeom>
          <a:noFill/>
        </p:spPr>
        <p:txBody>
          <a:bodyPr wrap="square">
            <a:spAutoFit/>
          </a:bodyPr>
          <a:lstStyle/>
          <a:p>
            <a:pPr algn="l"/>
            <a:r>
              <a:rPr sz="700" b="0" i="1">
                <a:solidFill>
                  <a:srgbClr val="64748B"/>
                </a:solidFill>
              </a:rPr>
              <a:t>ADC1 CH2 PA1</a:t>
            </a:r>
          </a:p>
        </p:txBody>
      </p:sp>
      <p:sp>
        <p:nvSpPr>
          <p:cNvPr id="30" name="Rounded Rectangle 29"/>
          <p:cNvSpPr/>
          <p:nvPr/>
        </p:nvSpPr>
        <p:spPr>
          <a:xfrm>
            <a:off x="3840480" y="5120640"/>
            <a:ext cx="1920240" cy="658368"/>
          </a:xfrm>
          <a:prstGeom prst="roundRect">
            <a:avLst/>
          </a:prstGeom>
          <a:solidFill>
            <a:srgbClr val="4E342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ADC1 (DMA)
2ch 256 smp</a:t>
            </a:r>
          </a:p>
        </p:txBody>
      </p:sp>
      <p:cxnSp>
        <p:nvCxnSpPr>
          <p:cNvPr id="31" name="Connector 30"/>
          <p:cNvCxnSpPr/>
          <p:nvPr/>
        </p:nvCxnSpPr>
        <p:spPr>
          <a:xfrm flipV="1">
            <a:off x="4800600" y="3268980"/>
            <a:ext cx="1325880" cy="2180844"/>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869179" y="4213098"/>
            <a:ext cx="1371600" cy="274320"/>
          </a:xfrm>
          <a:prstGeom prst="rect">
            <a:avLst/>
          </a:prstGeom>
          <a:noFill/>
        </p:spPr>
        <p:txBody>
          <a:bodyPr wrap="square">
            <a:spAutoFit/>
          </a:bodyPr>
          <a:lstStyle/>
          <a:p>
            <a:pPr algn="l"/>
            <a:r>
              <a:rPr sz="700" b="0" i="1">
                <a:solidFill>
                  <a:srgbClr val="64748B"/>
                </a:solidFill>
              </a:rPr>
              <a:t>PA0  PA1  486kHz</a:t>
            </a:r>
          </a:p>
        </p:txBody>
      </p:sp>
      <p:sp>
        <p:nvSpPr>
          <p:cNvPr id="33" name="Rounded Rectangle 32"/>
          <p:cNvSpPr/>
          <p:nvPr/>
        </p:nvSpPr>
        <p:spPr>
          <a:xfrm>
            <a:off x="6858000" y="5120640"/>
            <a:ext cx="1920240" cy="658368"/>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rPr>
              <a:t>25 MHz Crystal
(AD9833 MCLK)</a:t>
            </a:r>
          </a:p>
        </p:txBody>
      </p:sp>
      <p:cxnSp>
        <p:nvCxnSpPr>
          <p:cNvPr id="34" name="Connector 33"/>
          <p:cNvCxnSpPr/>
          <p:nvPr/>
        </p:nvCxnSpPr>
        <p:spPr>
          <a:xfrm flipH="1" flipV="1">
            <a:off x="6126480" y="3268980"/>
            <a:ext cx="1691640" cy="2180844"/>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377940" y="4213098"/>
            <a:ext cx="1371600" cy="274320"/>
          </a:xfrm>
          <a:prstGeom prst="rect">
            <a:avLst/>
          </a:prstGeom>
          <a:noFill/>
        </p:spPr>
        <p:txBody>
          <a:bodyPr wrap="square">
            <a:spAutoFit/>
          </a:bodyPr>
          <a:lstStyle/>
          <a:p>
            <a:pPr algn="l"/>
            <a:r>
              <a:rPr sz="700" b="0" i="1">
                <a:solidFill>
                  <a:srgbClr val="64748B"/>
                </a:solidFill>
              </a:rPr>
              <a:t>CLKIN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SPI Bus Sharing: AD9833 + W25Q32</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How two SPI devices share one bus with independent chip-selects</a:t>
            </a:r>
          </a:p>
        </p:txBody>
      </p:sp>
      <p:sp>
        <p:nvSpPr>
          <p:cNvPr id="5" name="TextBox 4"/>
          <p:cNvSpPr txBox="1"/>
          <p:nvPr/>
        </p:nvSpPr>
        <p:spPr>
          <a:xfrm>
            <a:off x="365760" y="1261872"/>
            <a:ext cx="5943600" cy="5394960"/>
          </a:xfrm>
          <a:prstGeom prst="rect">
            <a:avLst/>
          </a:prstGeom>
          <a:noFill/>
        </p:spPr>
        <p:txBody>
          <a:bodyPr wrap="square">
            <a:spAutoFit/>
          </a:bodyPr>
          <a:lstStyle/>
          <a:p>
            <a:pPr algn="l"/>
            <a:r>
              <a:rPr sz="1300" b="1" i="0">
                <a:solidFill>
                  <a:srgbClr val="0F1F3D"/>
                </a:solidFill>
              </a:rPr>
              <a:t>SPI1 Bus Configuration</a:t>
            </a:r>
          </a:p>
          <a:p>
            <a:pPr algn="l"/>
            <a:r>
              <a:rPr sz="1100" b="0" i="0">
                <a:solidFill>
                  <a:srgbClr val="374151"/>
                </a:solidFill>
              </a:rPr>
              <a:t>SPI1 pins: PA5=SCK, PA6=MISO, PA7=MOSI. Hardware SPI at 36 MHz (72 MHz / prescaler 2). Mode 2 (CPOL=1, CPHA=0) compatible with both AD9833 and W25Q32.</a:t>
            </a:r>
          </a:p>
          <a:p>
            <a:pPr algn="l"/>
            <a:endParaRPr sz="1100" b="0" i="0">
              <a:solidFill>
                <a:srgbClr val="374151"/>
              </a:solidFill>
            </a:endParaRPr>
          </a:p>
          <a:p>
            <a:pPr algn="l"/>
            <a:r>
              <a:rPr sz="1300" b="1" i="0">
                <a:solidFill>
                  <a:srgbClr val="1565C0"/>
                </a:solidFill>
              </a:rPr>
              <a:t>AD9833 Chip-Select: PA4 (FSYNC)</a:t>
            </a:r>
          </a:p>
          <a:p>
            <a:pPr algn="l"/>
            <a:r>
              <a:rPr sz="1100" b="0" i="0">
                <a:solidFill>
                  <a:srgbClr val="374151"/>
                </a:solidFill>
              </a:rPr>
              <a:t>Controlled as GPIO output. FSYNC_LOW() macro pulls PA4 low before SPI transfer. FSYNC_HIGH() pulls PA4 high after transfer to latch the frequency word. AD9833 is write-only — no MISO data is returned.</a:t>
            </a:r>
          </a:p>
          <a:p>
            <a:pPr algn="l"/>
            <a:endParaRPr sz="1100" b="0" i="0">
              <a:solidFill>
                <a:srgbClr val="374151"/>
              </a:solidFill>
            </a:endParaRPr>
          </a:p>
          <a:p>
            <a:pPr algn="l"/>
            <a:r>
              <a:rPr sz="1300" b="1" i="0">
                <a:solidFill>
                  <a:srgbClr val="2E7D32"/>
                </a:solidFill>
              </a:rPr>
              <a:t>W25Q32 Chip-Select: PB12</a:t>
            </a:r>
          </a:p>
          <a:p>
            <a:pPr algn="l"/>
            <a:r>
              <a:rPr sz="1100" b="0" i="0">
                <a:solidFill>
                  <a:srgbClr val="374151"/>
                </a:solidFill>
              </a:rPr>
              <a:t>Controlled as GPIO output. W25Q32_CS_LOW() pulls PB12 low, W25Q32_CS_HIGH() releases. W25Q32 supports full-duplex: MOSI carries commands/data, MISO returns read data. Software pull-up on PB12 at boot to keep flash deselected during STM32 startup.</a:t>
            </a:r>
          </a:p>
          <a:p>
            <a:pPr algn="l"/>
            <a:endParaRPr sz="1100" b="0" i="0">
              <a:solidFill>
                <a:srgbClr val="374151"/>
              </a:solidFill>
            </a:endParaRPr>
          </a:p>
          <a:p>
            <a:pPr algn="l"/>
            <a:r>
              <a:rPr sz="1300" b="1" i="0">
                <a:solidFill>
                  <a:srgbClr val="0F1F3D"/>
                </a:solidFill>
              </a:rPr>
              <a:t>Mutual Exclusion</a:t>
            </a:r>
          </a:p>
          <a:p>
            <a:pPr algn="l"/>
            <a:r>
              <a:rPr sz="1100" b="0" i="0">
                <a:solidFill>
                  <a:srgbClr val="374151"/>
                </a:solidFill>
              </a:rPr>
              <a:t>Firmware never asserts both CS lines simultaneously. AD9833 operations (AD9833_SetFrequency) complete before any W25Q32 operation (FlashLog_WritePoint) begins. No RTOS mutex needed since the single sweep thread owns both devices.</a:t>
            </a:r>
          </a:p>
          <a:p>
            <a:pPr algn="l"/>
            <a:endParaRPr sz="1100" b="0" i="0">
              <a:solidFill>
                <a:srgbClr val="374151"/>
              </a:solidFill>
            </a:endParaRPr>
          </a:p>
          <a:p>
            <a:pPr algn="l"/>
            <a:r>
              <a:rPr sz="1300" b="1" i="0">
                <a:solidFill>
                  <a:srgbClr val="00897B"/>
                </a:solidFill>
              </a:rPr>
              <a:t>Bus Sharing Protocol</a:t>
            </a:r>
          </a:p>
          <a:p>
            <a:pPr algn="l"/>
            <a:r>
              <a:rPr sz="1100" b="0" i="0">
                <a:solidFill>
                  <a:srgbClr val="374151"/>
                </a:solidFill>
              </a:rPr>
              <a:t>1. Assert AD9833 FSYNC (PA4 LOW)  2. SPI transfer  3. Deassert FSYNC (PA4 HIGH)
4. Assert W25Q32 CS (PB12 LOW)    5. SPI transfer  6. Deassert CS (PB12 HIGH)</a:t>
            </a:r>
          </a:p>
        </p:txBody>
      </p:sp>
      <p:sp>
        <p:nvSpPr>
          <p:cNvPr id="6" name="Rounded Rectangle 5"/>
          <p:cNvSpPr/>
          <p:nvPr/>
        </p:nvSpPr>
        <p:spPr>
          <a:xfrm>
            <a:off x="6583680" y="1371600"/>
            <a:ext cx="5303520" cy="777240"/>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i="0">
                <a:solidFill>
                  <a:srgbClr val="FFFFFF"/>
                </a:solidFill>
              </a:rPr>
              <a:t>SPI1 Bus
PA5=SCK  PA6=MISO  PA7=MOSI</a:t>
            </a:r>
          </a:p>
        </p:txBody>
      </p:sp>
      <p:cxnSp>
        <p:nvCxnSpPr>
          <p:cNvPr id="7" name="Connector 6"/>
          <p:cNvCxnSpPr/>
          <p:nvPr/>
        </p:nvCxnSpPr>
        <p:spPr>
          <a:xfrm>
            <a:off x="8595360" y="2148840"/>
            <a:ext cx="0" cy="365760"/>
          </a:xfrm>
          <a:prstGeom prst="line">
            <a:avLst/>
          </a:prstGeom>
          <a:ln w="25400">
            <a:solidFill>
              <a:srgbClr val="0F1F3D"/>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0" y="2514600"/>
            <a:ext cx="2468880" cy="777240"/>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FFFFFF"/>
                </a:solidFill>
              </a:rPr>
              <a:t>AD9833 DDS
(PA4=FSYNC, write-only)</a:t>
            </a:r>
          </a:p>
        </p:txBody>
      </p:sp>
      <p:sp>
        <p:nvSpPr>
          <p:cNvPr id="9" name="Rounded Rectangle 8"/>
          <p:cNvSpPr/>
          <p:nvPr/>
        </p:nvSpPr>
        <p:spPr>
          <a:xfrm>
            <a:off x="9235440" y="2514600"/>
            <a:ext cx="2651760" cy="77724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FFFFFF"/>
                </a:solidFill>
              </a:rPr>
              <a:t>W25Q32 Flash
(PB12=CS, read/write)</a:t>
            </a:r>
          </a:p>
        </p:txBody>
      </p:sp>
      <p:sp>
        <p:nvSpPr>
          <p:cNvPr id="10" name="TextBox 9"/>
          <p:cNvSpPr txBox="1"/>
          <p:nvPr/>
        </p:nvSpPr>
        <p:spPr>
          <a:xfrm>
            <a:off x="6583680" y="3383280"/>
            <a:ext cx="2468880" cy="411480"/>
          </a:xfrm>
          <a:prstGeom prst="rect">
            <a:avLst/>
          </a:prstGeom>
          <a:noFill/>
        </p:spPr>
        <p:txBody>
          <a:bodyPr wrap="square">
            <a:spAutoFit/>
          </a:bodyPr>
          <a:lstStyle/>
          <a:p>
            <a:pPr algn="ctr"/>
            <a:r>
              <a:rPr sz="900" b="0" i="1">
                <a:solidFill>
                  <a:srgbClr val="1565C0"/>
                </a:solidFill>
              </a:rPr>
              <a:t>PA4 LOW -&gt; transfer -&gt; PA4 HIGH</a:t>
            </a:r>
          </a:p>
        </p:txBody>
      </p:sp>
      <p:sp>
        <p:nvSpPr>
          <p:cNvPr id="11" name="TextBox 10"/>
          <p:cNvSpPr txBox="1"/>
          <p:nvPr/>
        </p:nvSpPr>
        <p:spPr>
          <a:xfrm>
            <a:off x="9235440" y="3383280"/>
            <a:ext cx="2651760" cy="411480"/>
          </a:xfrm>
          <a:prstGeom prst="rect">
            <a:avLst/>
          </a:prstGeom>
          <a:noFill/>
        </p:spPr>
        <p:txBody>
          <a:bodyPr wrap="square">
            <a:spAutoFit/>
          </a:bodyPr>
          <a:lstStyle/>
          <a:p>
            <a:pPr algn="ctr"/>
            <a:r>
              <a:rPr sz="900" b="0" i="1">
                <a:solidFill>
                  <a:srgbClr val="2E7D32"/>
                </a:solidFill>
              </a:rPr>
              <a:t>PB12 LOW -&gt; transfer -&gt; PB12 HIGH</a:t>
            </a:r>
          </a:p>
        </p:txBody>
      </p:sp>
      <p:sp>
        <p:nvSpPr>
          <p:cNvPr id="12" name="Rounded Rectangle 11"/>
          <p:cNvSpPr/>
          <p:nvPr/>
        </p:nvSpPr>
        <p:spPr>
          <a:xfrm>
            <a:off x="6583680" y="3886200"/>
            <a:ext cx="5303520" cy="50292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i="0">
                <a:solidFill>
                  <a:srgbClr val="FFFFFF"/>
                </a:solidFill>
              </a:rPr>
              <a:t>Never both CS lines active simultaneously</a:t>
            </a:r>
          </a:p>
        </p:txBody>
      </p:sp>
      <p:sp>
        <p:nvSpPr>
          <p:cNvPr id="13" name="Rounded Rectangle 12"/>
          <p:cNvSpPr/>
          <p:nvPr/>
        </p:nvSpPr>
        <p:spPr>
          <a:xfrm>
            <a:off x="6583680" y="4572000"/>
            <a:ext cx="5303520" cy="1920240"/>
          </a:xfrm>
          <a:prstGeom prst="roundRect">
            <a:avLst/>
          </a:prstGeom>
          <a:solidFill>
            <a:srgbClr val="F0F5FF"/>
          </a:solidFill>
          <a:ln w="12700">
            <a:solidFill>
              <a:srgbClr val="0F1F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66560" y="4645152"/>
            <a:ext cx="4937760" cy="292608"/>
          </a:xfrm>
          <a:prstGeom prst="rect">
            <a:avLst/>
          </a:prstGeom>
          <a:noFill/>
        </p:spPr>
        <p:txBody>
          <a:bodyPr wrap="square">
            <a:spAutoFit/>
          </a:bodyPr>
          <a:lstStyle/>
          <a:p>
            <a:pPr algn="l"/>
            <a:r>
              <a:rPr sz="1000" b="1" i="0">
                <a:solidFill>
                  <a:srgbClr val="0F1F3D"/>
                </a:solidFill>
              </a:rPr>
              <a:t>Timing sequence (per frequency step):</a:t>
            </a:r>
          </a:p>
        </p:txBody>
      </p:sp>
      <p:sp>
        <p:nvSpPr>
          <p:cNvPr id="15" name="TextBox 14"/>
          <p:cNvSpPr txBox="1"/>
          <p:nvPr/>
        </p:nvSpPr>
        <p:spPr>
          <a:xfrm>
            <a:off x="6720840" y="4983480"/>
            <a:ext cx="5029200" cy="320040"/>
          </a:xfrm>
          <a:prstGeom prst="rect">
            <a:avLst/>
          </a:prstGeom>
          <a:noFill/>
        </p:spPr>
        <p:txBody>
          <a:bodyPr wrap="square">
            <a:spAutoFit/>
          </a:bodyPr>
          <a:lstStyle/>
          <a:p>
            <a:pPr algn="l"/>
            <a:r>
              <a:rPr sz="850" b="0" i="0">
                <a:solidFill>
                  <a:srgbClr val="1565C0"/>
                </a:solidFill>
              </a:rPr>
              <a:t>AD9833_SetFrequency(f): PA4 low -&gt; 2x SPI word -&gt; PA4 high</a:t>
            </a:r>
          </a:p>
        </p:txBody>
      </p:sp>
      <p:sp>
        <p:nvSpPr>
          <p:cNvPr id="16" name="TextBox 15"/>
          <p:cNvSpPr txBox="1"/>
          <p:nvPr/>
        </p:nvSpPr>
        <p:spPr>
          <a:xfrm>
            <a:off x="6720840" y="5321808"/>
            <a:ext cx="5029200" cy="320040"/>
          </a:xfrm>
          <a:prstGeom prst="rect">
            <a:avLst/>
          </a:prstGeom>
          <a:noFill/>
        </p:spPr>
        <p:txBody>
          <a:bodyPr wrap="square">
            <a:spAutoFit/>
          </a:bodyPr>
          <a:lstStyle/>
          <a:p>
            <a:pPr algn="l"/>
            <a:r>
              <a:rPr sz="850" b="0" i="0">
                <a:solidFill>
                  <a:srgbClr val="64748B"/>
                </a:solidFill>
              </a:rPr>
              <a:t>HAL_Delay(100 ms): Signal settle time</a:t>
            </a:r>
          </a:p>
        </p:txBody>
      </p:sp>
      <p:sp>
        <p:nvSpPr>
          <p:cNvPr id="17" name="TextBox 16"/>
          <p:cNvSpPr txBox="1"/>
          <p:nvPr/>
        </p:nvSpPr>
        <p:spPr>
          <a:xfrm>
            <a:off x="6720840" y="5660136"/>
            <a:ext cx="5029200" cy="320040"/>
          </a:xfrm>
          <a:prstGeom prst="rect">
            <a:avLst/>
          </a:prstGeom>
          <a:noFill/>
        </p:spPr>
        <p:txBody>
          <a:bodyPr wrap="square">
            <a:spAutoFit/>
          </a:bodyPr>
          <a:lstStyle/>
          <a:p>
            <a:pPr algn="l"/>
            <a:r>
              <a:rPr sz="850" b="0" i="0">
                <a:solidFill>
                  <a:srgbClr val="2E7D32"/>
                </a:solidFill>
              </a:rPr>
              <a:t>ADC DMA acquisition: No SPI activity</a:t>
            </a:r>
          </a:p>
        </p:txBody>
      </p:sp>
      <p:sp>
        <p:nvSpPr>
          <p:cNvPr id="18" name="TextBox 17"/>
          <p:cNvSpPr txBox="1"/>
          <p:nvPr/>
        </p:nvSpPr>
        <p:spPr>
          <a:xfrm>
            <a:off x="6720840" y="5998464"/>
            <a:ext cx="5029200" cy="320040"/>
          </a:xfrm>
          <a:prstGeom prst="rect">
            <a:avLst/>
          </a:prstGeom>
          <a:noFill/>
        </p:spPr>
        <p:txBody>
          <a:bodyPr wrap="square">
            <a:spAutoFit/>
          </a:bodyPr>
          <a:lstStyle/>
          <a:p>
            <a:pPr algn="l"/>
            <a:r>
              <a:rPr sz="850" b="0" i="0">
                <a:solidFill>
                  <a:srgbClr val="2E7D32"/>
                </a:solidFill>
              </a:rPr>
              <a:t>FlashLog_WritePoint(): PB12 low -&gt; SPI R/W -&gt; PB12 high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Analog Signal Chain &amp; Signal Levels</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Voltage and current at each stage from DDS to ADC</a:t>
            </a:r>
          </a:p>
        </p:txBody>
      </p:sp>
      <p:sp>
        <p:nvSpPr>
          <p:cNvPr id="5" name="TextBox 4"/>
          <p:cNvSpPr txBox="1"/>
          <p:nvPr/>
        </p:nvSpPr>
        <p:spPr>
          <a:xfrm>
            <a:off x="365760" y="1261872"/>
            <a:ext cx="5943600" cy="5394960"/>
          </a:xfrm>
          <a:prstGeom prst="rect">
            <a:avLst/>
          </a:prstGeom>
          <a:noFill/>
        </p:spPr>
        <p:txBody>
          <a:bodyPr wrap="square">
            <a:spAutoFit/>
          </a:bodyPr>
          <a:lstStyle/>
          <a:p>
            <a:pPr algn="l"/>
            <a:r>
              <a:rPr sz="1300" b="1" i="0">
                <a:solidFill>
                  <a:srgbClr val="1565C0"/>
                </a:solidFill>
              </a:rPr>
              <a:t>Stage 1: AD9833 Output</a:t>
            </a:r>
          </a:p>
          <a:p>
            <a:pPr algn="l"/>
            <a:r>
              <a:rPr sz="1100" b="0" i="0">
                <a:solidFill>
                  <a:srgbClr val="374151"/>
                </a:solidFill>
              </a:rPr>
              <a:t>Sine wave, ~0.6 Vpp, centered around ~1.65 V (mid-supply). Frequency set by SPI command. Output impedance ~200 Ohms.</a:t>
            </a:r>
          </a:p>
          <a:p>
            <a:pPr algn="l"/>
            <a:endParaRPr sz="1100" b="0" i="0">
              <a:solidFill>
                <a:srgbClr val="374151"/>
              </a:solidFill>
            </a:endParaRPr>
          </a:p>
          <a:p>
            <a:pPr algn="l"/>
            <a:r>
              <a:rPr sz="1300" b="1" i="0">
                <a:solidFill>
                  <a:srgbClr val="00897B"/>
                </a:solidFill>
              </a:rPr>
              <a:t>Stage 2: OPA2140 Excitation Buffer</a:t>
            </a:r>
          </a:p>
          <a:p>
            <a:pPr algn="l"/>
            <a:r>
              <a:rPr sz="1100" b="0" i="0">
                <a:solidFill>
                  <a:srgbClr val="374151"/>
                </a:solidFill>
              </a:rPr>
              <a:t>Unity-gain voltage follower. Input impedance &gt; 1 TOhm (FET input). Output impedance &lt; 1 Ohm. Drives Electrode+ terminal with full fidelity.</a:t>
            </a:r>
          </a:p>
          <a:p>
            <a:pPr algn="l"/>
            <a:endParaRPr sz="1100" b="0" i="0">
              <a:solidFill>
                <a:srgbClr val="374151"/>
              </a:solidFill>
            </a:endParaRPr>
          </a:p>
          <a:p>
            <a:pPr algn="l"/>
            <a:r>
              <a:rPr sz="1300" b="1" i="0">
                <a:solidFill>
                  <a:srgbClr val="EF6C00"/>
                </a:solidFill>
              </a:rPr>
              <a:t>Stage 3: Electrode / DUT</a:t>
            </a:r>
          </a:p>
          <a:p>
            <a:pPr algn="l"/>
            <a:r>
              <a:rPr sz="1100" b="0" i="0">
                <a:solidFill>
                  <a:srgbClr val="374151"/>
                </a:solidFill>
              </a:rPr>
              <a:t>Current I(f) = V_exc / Z_DUT(f) flows from Electrode+ through the electrochemical cell. Z_DUT varies with frequency — this is what we are measuring.</a:t>
            </a:r>
          </a:p>
          <a:p>
            <a:pPr algn="l"/>
            <a:endParaRPr sz="1100" b="0" i="0">
              <a:solidFill>
                <a:srgbClr val="374151"/>
              </a:solidFill>
            </a:endParaRPr>
          </a:p>
          <a:p>
            <a:pPr algn="l"/>
            <a:r>
              <a:rPr sz="1300" b="1" i="0">
                <a:solidFill>
                  <a:srgbClr val="C62828"/>
                </a:solidFill>
              </a:rPr>
              <a:t>Stage 4: OPA2140 TIA</a:t>
            </a:r>
          </a:p>
          <a:p>
            <a:pPr algn="l"/>
            <a:r>
              <a:rPr sz="1100" b="0" i="0">
                <a:solidFill>
                  <a:srgbClr val="374151"/>
                </a:solidFill>
              </a:rPr>
              <a:t>Inverting TIA configuration. Virtual ground at inverting input (Electrode-). V_TIA = -I x Rf = -(V_exc / Z_DUT) x Rf. Output range must stay within ADC input range (0 to 3.3V).</a:t>
            </a:r>
          </a:p>
          <a:p>
            <a:pPr algn="l"/>
            <a:endParaRPr sz="1100" b="0" i="0">
              <a:solidFill>
                <a:srgbClr val="374151"/>
              </a:solidFill>
            </a:endParaRPr>
          </a:p>
          <a:p>
            <a:pPr algn="l"/>
            <a:r>
              <a:rPr sz="1300" b="1" i="0">
                <a:solidFill>
                  <a:srgbClr val="0F1F3D"/>
                </a:solidFill>
              </a:rPr>
              <a:t>Stage 5: ADC Reference Channel</a:t>
            </a:r>
          </a:p>
          <a:p>
            <a:pPr algn="l"/>
            <a:r>
              <a:rPr sz="1100" b="0" i="0">
                <a:solidFill>
                  <a:srgbClr val="374151"/>
                </a:solidFill>
              </a:rPr>
              <a:t>PA0 (ADC1 CH1) samples V_exc directly. This is the reference for phase and amplitude. Same ADC, same timing -&gt; no systematic phase offset between channels.</a:t>
            </a:r>
          </a:p>
          <a:p>
            <a:pPr algn="l"/>
            <a:endParaRPr sz="1100" b="0" i="0">
              <a:solidFill>
                <a:srgbClr val="374151"/>
              </a:solidFill>
            </a:endParaRPr>
          </a:p>
          <a:p>
            <a:pPr algn="l"/>
            <a:r>
              <a:rPr sz="1300" b="1" i="0">
                <a:solidFill>
                  <a:srgbClr val="2E7D32"/>
                </a:solidFill>
              </a:rPr>
              <a:t>Choosing Rf</a:t>
            </a:r>
          </a:p>
          <a:p>
            <a:pPr algn="l"/>
            <a:r>
              <a:rPr sz="1100" b="0" i="0">
                <a:solidFill>
                  <a:srgbClr val="374151"/>
                </a:solidFill>
              </a:rPr>
              <a:t>Select Rf so |V_TIA| at the expected |Z_DUT| fills ~50-70% of ADC range for best SNR. Rf = 10 kOhm is a good starting point for 1-100 kOhm cells.</a:t>
            </a:r>
          </a:p>
        </p:txBody>
      </p:sp>
      <p:sp>
        <p:nvSpPr>
          <p:cNvPr id="6" name="Rounded Rectangle 5"/>
          <p:cNvSpPr/>
          <p:nvPr/>
        </p:nvSpPr>
        <p:spPr>
          <a:xfrm>
            <a:off x="6400800" y="1325880"/>
            <a:ext cx="5486400" cy="5303520"/>
          </a:xfrm>
          <a:prstGeom prst="roundRect">
            <a:avLst/>
          </a:prstGeom>
          <a:solidFill>
            <a:srgbClr val="FFFFFF"/>
          </a:solidFill>
          <a:ln w="127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0" y="1417320"/>
            <a:ext cx="5120640" cy="320040"/>
          </a:xfrm>
          <a:prstGeom prst="rect">
            <a:avLst/>
          </a:prstGeom>
          <a:noFill/>
        </p:spPr>
        <p:txBody>
          <a:bodyPr wrap="square">
            <a:spAutoFit/>
          </a:bodyPr>
          <a:lstStyle/>
          <a:p>
            <a:pPr algn="ctr"/>
            <a:r>
              <a:rPr sz="1100" b="1" i="0">
                <a:solidFill>
                  <a:srgbClr val="0F1F3D"/>
                </a:solidFill>
              </a:rPr>
              <a:t>Signal Levels at Each Stage</a:t>
            </a:r>
          </a:p>
        </p:txBody>
      </p:sp>
      <p:sp>
        <p:nvSpPr>
          <p:cNvPr id="8" name="Rectangle 7"/>
          <p:cNvSpPr/>
          <p:nvPr/>
        </p:nvSpPr>
        <p:spPr>
          <a:xfrm>
            <a:off x="6583680" y="1874519"/>
            <a:ext cx="4655127" cy="475488"/>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38544" y="1984248"/>
            <a:ext cx="6026727" cy="274320"/>
          </a:xfrm>
          <a:prstGeom prst="rect">
            <a:avLst/>
          </a:prstGeom>
          <a:noFill/>
        </p:spPr>
        <p:txBody>
          <a:bodyPr wrap="square">
            <a:spAutoFit/>
          </a:bodyPr>
          <a:lstStyle/>
          <a:p>
            <a:pPr algn="l"/>
            <a:r>
              <a:rPr sz="850" b="0" i="0">
                <a:solidFill>
                  <a:srgbClr val="374151"/>
                </a:solidFill>
              </a:rPr>
              <a:t>AD9833 Out: ~0.6 Vpp</a:t>
            </a:r>
          </a:p>
        </p:txBody>
      </p:sp>
      <p:sp>
        <p:nvSpPr>
          <p:cNvPr id="10" name="Rectangle 9"/>
          <p:cNvSpPr/>
          <p:nvPr/>
        </p:nvSpPr>
        <p:spPr>
          <a:xfrm>
            <a:off x="6583680" y="2441448"/>
            <a:ext cx="4655127" cy="475488"/>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38544" y="2551176"/>
            <a:ext cx="6026727" cy="274320"/>
          </a:xfrm>
          <a:prstGeom prst="rect">
            <a:avLst/>
          </a:prstGeom>
          <a:noFill/>
        </p:spPr>
        <p:txBody>
          <a:bodyPr wrap="square">
            <a:spAutoFit/>
          </a:bodyPr>
          <a:lstStyle/>
          <a:p>
            <a:pPr algn="l"/>
            <a:r>
              <a:rPr sz="850" b="0" i="0">
                <a:solidFill>
                  <a:srgbClr val="374151"/>
                </a:solidFill>
              </a:rPr>
              <a:t>Buffer Out: ~0.6 Vpp</a:t>
            </a:r>
          </a:p>
        </p:txBody>
      </p:sp>
      <p:sp>
        <p:nvSpPr>
          <p:cNvPr id="12" name="Rectangle 11"/>
          <p:cNvSpPr/>
          <p:nvPr/>
        </p:nvSpPr>
        <p:spPr>
          <a:xfrm>
            <a:off x="6583680" y="3008376"/>
            <a:ext cx="4655127" cy="475488"/>
          </a:xfrm>
          <a:prstGeom prst="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38544" y="3118104"/>
            <a:ext cx="6026727" cy="274320"/>
          </a:xfrm>
          <a:prstGeom prst="rect">
            <a:avLst/>
          </a:prstGeom>
          <a:noFill/>
        </p:spPr>
        <p:txBody>
          <a:bodyPr wrap="square">
            <a:spAutoFit/>
          </a:bodyPr>
          <a:lstStyle/>
          <a:p>
            <a:pPr algn="l"/>
            <a:r>
              <a:rPr sz="850" b="0" i="0">
                <a:solidFill>
                  <a:srgbClr val="374151"/>
                </a:solidFill>
              </a:rPr>
              <a:t>V_exc at DUT: ~0.6 Vpp</a:t>
            </a:r>
          </a:p>
        </p:txBody>
      </p:sp>
      <p:sp>
        <p:nvSpPr>
          <p:cNvPr id="14" name="Rectangle 13"/>
          <p:cNvSpPr/>
          <p:nvPr/>
        </p:nvSpPr>
        <p:spPr>
          <a:xfrm>
            <a:off x="6583680" y="3575304"/>
            <a:ext cx="2327563" cy="47548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38544" y="3685032"/>
            <a:ext cx="3699163" cy="274320"/>
          </a:xfrm>
          <a:prstGeom prst="rect">
            <a:avLst/>
          </a:prstGeom>
          <a:noFill/>
        </p:spPr>
        <p:txBody>
          <a:bodyPr wrap="square">
            <a:spAutoFit/>
          </a:bodyPr>
          <a:lstStyle/>
          <a:p>
            <a:pPr algn="l"/>
            <a:r>
              <a:rPr sz="850" b="0" i="0">
                <a:solidFill>
                  <a:srgbClr val="374151"/>
                </a:solidFill>
              </a:rPr>
              <a:t>I thru DUT: depends on Z</a:t>
            </a:r>
          </a:p>
        </p:txBody>
      </p:sp>
      <p:sp>
        <p:nvSpPr>
          <p:cNvPr id="16" name="Rectangle 15"/>
          <p:cNvSpPr/>
          <p:nvPr/>
        </p:nvSpPr>
        <p:spPr>
          <a:xfrm>
            <a:off x="6583680" y="4142232"/>
            <a:ext cx="3103418" cy="47548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38544" y="4251960"/>
            <a:ext cx="4475018" cy="274320"/>
          </a:xfrm>
          <a:prstGeom prst="rect">
            <a:avLst/>
          </a:prstGeom>
          <a:noFill/>
        </p:spPr>
        <p:txBody>
          <a:bodyPr wrap="square">
            <a:spAutoFit/>
          </a:bodyPr>
          <a:lstStyle/>
          <a:p>
            <a:pPr algn="l"/>
            <a:r>
              <a:rPr sz="850" b="0" i="0">
                <a:solidFill>
                  <a:srgbClr val="374151"/>
                </a:solidFill>
              </a:rPr>
              <a:t>V_TIA: I x Rf</a:t>
            </a:r>
          </a:p>
        </p:txBody>
      </p:sp>
      <p:sp>
        <p:nvSpPr>
          <p:cNvPr id="18" name="Rectangle 17"/>
          <p:cNvSpPr/>
          <p:nvPr/>
        </p:nvSpPr>
        <p:spPr>
          <a:xfrm>
            <a:off x="6583680" y="4709160"/>
            <a:ext cx="5120640" cy="47548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38544" y="4818888"/>
            <a:ext cx="6492240" cy="274320"/>
          </a:xfrm>
          <a:prstGeom prst="rect">
            <a:avLst/>
          </a:prstGeom>
          <a:noFill/>
        </p:spPr>
        <p:txBody>
          <a:bodyPr wrap="square">
            <a:spAutoFit/>
          </a:bodyPr>
          <a:lstStyle/>
          <a:p>
            <a:pPr algn="l"/>
            <a:r>
              <a:rPr sz="850" b="0" i="0">
                <a:solidFill>
                  <a:srgbClr val="374151"/>
                </a:solidFill>
              </a:rPr>
              <a:t>ADC CH2: 0 to 3.3V range</a:t>
            </a:r>
          </a:p>
        </p:txBody>
      </p:sp>
      <p:sp>
        <p:nvSpPr>
          <p:cNvPr id="20" name="Rectangle 19"/>
          <p:cNvSpPr/>
          <p:nvPr/>
        </p:nvSpPr>
        <p:spPr>
          <a:xfrm>
            <a:off x="6583680" y="5276088"/>
            <a:ext cx="4655127" cy="475488"/>
          </a:xfrm>
          <a:prstGeom prst="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38544" y="5385816"/>
            <a:ext cx="6026727" cy="274320"/>
          </a:xfrm>
          <a:prstGeom prst="rect">
            <a:avLst/>
          </a:prstGeom>
          <a:noFill/>
        </p:spPr>
        <p:txBody>
          <a:bodyPr wrap="square">
            <a:spAutoFit/>
          </a:bodyPr>
          <a:lstStyle/>
          <a:p>
            <a:pPr algn="l"/>
            <a:r>
              <a:rPr sz="850" b="0" i="0">
                <a:solidFill>
                  <a:srgbClr val="374151"/>
                </a:solidFill>
              </a:rPr>
              <a:t>ADC CH1 (Ref): ~0.6 Vpp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System Integration</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How Python GUI, STM32 firmware, and hardware signal chain cooperate</a:t>
            </a:r>
          </a:p>
        </p:txBody>
      </p:sp>
      <p:sp>
        <p:nvSpPr>
          <p:cNvPr id="5" name="Rounded Rectangle 4"/>
          <p:cNvSpPr/>
          <p:nvPr/>
        </p:nvSpPr>
        <p:spPr>
          <a:xfrm>
            <a:off x="365760" y="1298448"/>
            <a:ext cx="3474720" cy="658368"/>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i="0">
                <a:solidFill>
                  <a:srgbClr val="FFFFFF"/>
                </a:solidFill>
              </a:rPr>
              <a:t>Python GUI
(Laptop/PC)</a:t>
            </a:r>
          </a:p>
        </p:txBody>
      </p:sp>
      <p:sp>
        <p:nvSpPr>
          <p:cNvPr id="6" name="Rounded Rectangle 5"/>
          <p:cNvSpPr/>
          <p:nvPr/>
        </p:nvSpPr>
        <p:spPr>
          <a:xfrm>
            <a:off x="4343400" y="1298448"/>
            <a:ext cx="3474720" cy="658368"/>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i="0">
                <a:solidFill>
                  <a:srgbClr val="FFFFFF"/>
                </a:solidFill>
              </a:rPr>
              <a:t>STM32 Firmware
(Embedded C)</a:t>
            </a:r>
          </a:p>
        </p:txBody>
      </p:sp>
      <p:sp>
        <p:nvSpPr>
          <p:cNvPr id="7" name="Rounded Rectangle 6"/>
          <p:cNvSpPr/>
          <p:nvPr/>
        </p:nvSpPr>
        <p:spPr>
          <a:xfrm>
            <a:off x="8321040" y="1298448"/>
            <a:ext cx="3474720" cy="658368"/>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i="0">
                <a:solidFill>
                  <a:srgbClr val="FFFFFF"/>
                </a:solidFill>
              </a:rPr>
              <a:t>Hardware
(Signal Chain)</a:t>
            </a:r>
          </a:p>
        </p:txBody>
      </p:sp>
      <p:sp>
        <p:nvSpPr>
          <p:cNvPr id="8" name="Rounded Rectangle 7"/>
          <p:cNvSpPr/>
          <p:nvPr/>
        </p:nvSpPr>
        <p:spPr>
          <a:xfrm>
            <a:off x="365760" y="1956815"/>
            <a:ext cx="3474720" cy="420624"/>
          </a:xfrm>
          <a:prstGeom prst="roundRect">
            <a:avLst/>
          </a:prstGeom>
          <a:solidFill>
            <a:srgbClr val="F0F5FF"/>
          </a:solidFill>
          <a:ln w="6350">
            <a:solidFill>
              <a:srgbClr val="1565C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374151"/>
                </a:solidFill>
              </a:rPr>
              <a:t>SerialWorker (QThread)</a:t>
            </a:r>
          </a:p>
        </p:txBody>
      </p:sp>
      <p:sp>
        <p:nvSpPr>
          <p:cNvPr id="9" name="Rounded Rectangle 8"/>
          <p:cNvSpPr/>
          <p:nvPr/>
        </p:nvSpPr>
        <p:spPr>
          <a:xfrm>
            <a:off x="4343400" y="1956815"/>
            <a:ext cx="3474720" cy="420624"/>
          </a:xfrm>
          <a:prstGeom prst="roundRect">
            <a:avLst/>
          </a:prstGeom>
          <a:solidFill>
            <a:srgbClr val="F0F5FF"/>
          </a:solidFill>
          <a:ln w="6350">
            <a:solidFill>
              <a:srgbClr val="0F1F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374151"/>
                </a:solidFill>
              </a:rPr>
              <a:t>uart_comm.c (parser)</a:t>
            </a:r>
          </a:p>
        </p:txBody>
      </p:sp>
      <p:sp>
        <p:nvSpPr>
          <p:cNvPr id="10" name="Rounded Rectangle 9"/>
          <p:cNvSpPr/>
          <p:nvPr/>
        </p:nvSpPr>
        <p:spPr>
          <a:xfrm>
            <a:off x="8321040" y="1956815"/>
            <a:ext cx="3474720" cy="420624"/>
          </a:xfrm>
          <a:prstGeom prst="roundRect">
            <a:avLst/>
          </a:prstGeom>
          <a:solidFill>
            <a:srgbClr val="F0F5FF"/>
          </a:solidFill>
          <a:ln w="6350">
            <a:solidFill>
              <a:srgbClr val="00897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374151"/>
                </a:solidFill>
              </a:rPr>
              <a:t>AD9833 DDS (sine gen.)</a:t>
            </a:r>
          </a:p>
        </p:txBody>
      </p:sp>
      <p:sp>
        <p:nvSpPr>
          <p:cNvPr id="11" name="Rounded Rectangle 10"/>
          <p:cNvSpPr/>
          <p:nvPr/>
        </p:nvSpPr>
        <p:spPr>
          <a:xfrm>
            <a:off x="365760" y="2414015"/>
            <a:ext cx="3474720" cy="420624"/>
          </a:xfrm>
          <a:prstGeom prst="roundRect">
            <a:avLst/>
          </a:prstGeom>
          <a:solidFill>
            <a:srgbClr val="F0F5FF"/>
          </a:solidFill>
          <a:ln w="6350">
            <a:solidFill>
              <a:srgbClr val="1565C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374151"/>
                </a:solidFill>
              </a:rPr>
              <a:t>UART line parser</a:t>
            </a:r>
          </a:p>
        </p:txBody>
      </p:sp>
      <p:sp>
        <p:nvSpPr>
          <p:cNvPr id="12" name="Rounded Rectangle 11"/>
          <p:cNvSpPr/>
          <p:nvPr/>
        </p:nvSpPr>
        <p:spPr>
          <a:xfrm>
            <a:off x="4343400" y="2414015"/>
            <a:ext cx="3474720" cy="420624"/>
          </a:xfrm>
          <a:prstGeom prst="roundRect">
            <a:avLst/>
          </a:prstGeom>
          <a:solidFill>
            <a:srgbClr val="F0F5FF"/>
          </a:solidFill>
          <a:ln w="6350">
            <a:solidFill>
              <a:srgbClr val="0F1F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374151"/>
                </a:solidFill>
              </a:rPr>
              <a:t>main.c (sweep loop)</a:t>
            </a:r>
          </a:p>
        </p:txBody>
      </p:sp>
      <p:sp>
        <p:nvSpPr>
          <p:cNvPr id="13" name="Rounded Rectangle 12"/>
          <p:cNvSpPr/>
          <p:nvPr/>
        </p:nvSpPr>
        <p:spPr>
          <a:xfrm>
            <a:off x="8321040" y="2414015"/>
            <a:ext cx="3474720" cy="420624"/>
          </a:xfrm>
          <a:prstGeom prst="roundRect">
            <a:avLst/>
          </a:prstGeom>
          <a:solidFill>
            <a:srgbClr val="F0F5FF"/>
          </a:solidFill>
          <a:ln w="6350">
            <a:solidFill>
              <a:srgbClr val="00897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374151"/>
                </a:solidFill>
              </a:rPr>
              <a:t>OPA2140 excit. buffer</a:t>
            </a:r>
          </a:p>
        </p:txBody>
      </p:sp>
      <p:sp>
        <p:nvSpPr>
          <p:cNvPr id="14" name="Rounded Rectangle 13"/>
          <p:cNvSpPr/>
          <p:nvPr/>
        </p:nvSpPr>
        <p:spPr>
          <a:xfrm>
            <a:off x="365760" y="2871215"/>
            <a:ext cx="3474720" cy="420624"/>
          </a:xfrm>
          <a:prstGeom prst="roundRect">
            <a:avLst/>
          </a:prstGeom>
          <a:solidFill>
            <a:srgbClr val="F0F5FF"/>
          </a:solidFill>
          <a:ln w="6350">
            <a:solidFill>
              <a:srgbClr val="1565C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374151"/>
                </a:solidFill>
              </a:rPr>
              <a:t>DataModel (store)</a:t>
            </a:r>
          </a:p>
        </p:txBody>
      </p:sp>
      <p:sp>
        <p:nvSpPr>
          <p:cNvPr id="15" name="Rounded Rectangle 14"/>
          <p:cNvSpPr/>
          <p:nvPr/>
        </p:nvSpPr>
        <p:spPr>
          <a:xfrm>
            <a:off x="4343400" y="2871215"/>
            <a:ext cx="3474720" cy="420624"/>
          </a:xfrm>
          <a:prstGeom prst="roundRect">
            <a:avLst/>
          </a:prstGeom>
          <a:solidFill>
            <a:srgbClr val="F0F5FF"/>
          </a:solidFill>
          <a:ln w="6350">
            <a:solidFill>
              <a:srgbClr val="0F1F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374151"/>
                </a:solidFill>
              </a:rPr>
              <a:t>impedance.c (tone est.)</a:t>
            </a:r>
          </a:p>
        </p:txBody>
      </p:sp>
      <p:sp>
        <p:nvSpPr>
          <p:cNvPr id="16" name="Rounded Rectangle 15"/>
          <p:cNvSpPr/>
          <p:nvPr/>
        </p:nvSpPr>
        <p:spPr>
          <a:xfrm>
            <a:off x="8321040" y="2871215"/>
            <a:ext cx="3474720" cy="420624"/>
          </a:xfrm>
          <a:prstGeom prst="roundRect">
            <a:avLst/>
          </a:prstGeom>
          <a:solidFill>
            <a:srgbClr val="F0F5FF"/>
          </a:solidFill>
          <a:ln w="6350">
            <a:solidFill>
              <a:srgbClr val="00897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374151"/>
                </a:solidFill>
              </a:rPr>
              <a:t>Electrode / DUT</a:t>
            </a:r>
          </a:p>
        </p:txBody>
      </p:sp>
      <p:sp>
        <p:nvSpPr>
          <p:cNvPr id="17" name="Rounded Rectangle 16"/>
          <p:cNvSpPr/>
          <p:nvPr/>
        </p:nvSpPr>
        <p:spPr>
          <a:xfrm>
            <a:off x="365760" y="3328415"/>
            <a:ext cx="3474720" cy="420624"/>
          </a:xfrm>
          <a:prstGeom prst="roundRect">
            <a:avLst/>
          </a:prstGeom>
          <a:solidFill>
            <a:srgbClr val="F0F5FF"/>
          </a:solidFill>
          <a:ln w="6350">
            <a:solidFill>
              <a:srgbClr val="1565C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374151"/>
                </a:solidFill>
              </a:rPr>
              <a:t>PlotWidget (Bode+Nyquist)</a:t>
            </a:r>
          </a:p>
        </p:txBody>
      </p:sp>
      <p:sp>
        <p:nvSpPr>
          <p:cNvPr id="18" name="Rounded Rectangle 17"/>
          <p:cNvSpPr/>
          <p:nvPr/>
        </p:nvSpPr>
        <p:spPr>
          <a:xfrm>
            <a:off x="4343400" y="3328415"/>
            <a:ext cx="3474720" cy="420624"/>
          </a:xfrm>
          <a:prstGeom prst="roundRect">
            <a:avLst/>
          </a:prstGeom>
          <a:solidFill>
            <a:srgbClr val="F0F5FF"/>
          </a:solidFill>
          <a:ln w="6350">
            <a:solidFill>
              <a:srgbClr val="0F1F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374151"/>
                </a:solidFill>
              </a:rPr>
              <a:t>ad9833.c (DDS driver)</a:t>
            </a:r>
          </a:p>
        </p:txBody>
      </p:sp>
      <p:sp>
        <p:nvSpPr>
          <p:cNvPr id="19" name="Rounded Rectangle 18"/>
          <p:cNvSpPr/>
          <p:nvPr/>
        </p:nvSpPr>
        <p:spPr>
          <a:xfrm>
            <a:off x="8321040" y="3328415"/>
            <a:ext cx="3474720" cy="420624"/>
          </a:xfrm>
          <a:prstGeom prst="roundRect">
            <a:avLst/>
          </a:prstGeom>
          <a:solidFill>
            <a:srgbClr val="F0F5FF"/>
          </a:solidFill>
          <a:ln w="6350">
            <a:solidFill>
              <a:srgbClr val="00897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374151"/>
                </a:solidFill>
              </a:rPr>
              <a:t>OPA2140 TIA</a:t>
            </a:r>
          </a:p>
        </p:txBody>
      </p:sp>
      <p:sp>
        <p:nvSpPr>
          <p:cNvPr id="20" name="Rounded Rectangle 19"/>
          <p:cNvSpPr/>
          <p:nvPr/>
        </p:nvSpPr>
        <p:spPr>
          <a:xfrm>
            <a:off x="365760" y="3785615"/>
            <a:ext cx="3474720" cy="420624"/>
          </a:xfrm>
          <a:prstGeom prst="roundRect">
            <a:avLst/>
          </a:prstGeom>
          <a:solidFill>
            <a:srgbClr val="F0F5FF"/>
          </a:solidFill>
          <a:ln w="6350">
            <a:solidFill>
              <a:srgbClr val="1565C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374151"/>
                </a:solidFill>
              </a:rPr>
              <a:t>ConfigPanel (settings)</a:t>
            </a:r>
          </a:p>
        </p:txBody>
      </p:sp>
      <p:sp>
        <p:nvSpPr>
          <p:cNvPr id="21" name="Rounded Rectangle 20"/>
          <p:cNvSpPr/>
          <p:nvPr/>
        </p:nvSpPr>
        <p:spPr>
          <a:xfrm>
            <a:off x="4343400" y="3785615"/>
            <a:ext cx="3474720" cy="420624"/>
          </a:xfrm>
          <a:prstGeom prst="roundRect">
            <a:avLst/>
          </a:prstGeom>
          <a:solidFill>
            <a:srgbClr val="F0F5FF"/>
          </a:solidFill>
          <a:ln w="6350">
            <a:solidFill>
              <a:srgbClr val="0F1F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374151"/>
                </a:solidFill>
              </a:rPr>
              <a:t>flash_log.c (log)</a:t>
            </a:r>
          </a:p>
        </p:txBody>
      </p:sp>
      <p:sp>
        <p:nvSpPr>
          <p:cNvPr id="22" name="Rounded Rectangle 21"/>
          <p:cNvSpPr/>
          <p:nvPr/>
        </p:nvSpPr>
        <p:spPr>
          <a:xfrm>
            <a:off x="8321040" y="3785615"/>
            <a:ext cx="3474720" cy="420624"/>
          </a:xfrm>
          <a:prstGeom prst="roundRect">
            <a:avLst/>
          </a:prstGeom>
          <a:solidFill>
            <a:srgbClr val="F0F5FF"/>
          </a:solidFill>
          <a:ln w="6350">
            <a:solidFill>
              <a:srgbClr val="00897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374151"/>
                </a:solidFill>
              </a:rPr>
              <a:t>ADC1 with DMA (2ch)</a:t>
            </a:r>
          </a:p>
        </p:txBody>
      </p:sp>
      <p:sp>
        <p:nvSpPr>
          <p:cNvPr id="23" name="Rounded Rectangle 22"/>
          <p:cNvSpPr/>
          <p:nvPr/>
        </p:nvSpPr>
        <p:spPr>
          <a:xfrm>
            <a:off x="365760" y="4242816"/>
            <a:ext cx="3474720" cy="420624"/>
          </a:xfrm>
          <a:prstGeom prst="roundRect">
            <a:avLst/>
          </a:prstGeom>
          <a:solidFill>
            <a:srgbClr val="F0F5FF"/>
          </a:solidFill>
          <a:ln w="6350">
            <a:solidFill>
              <a:srgbClr val="1565C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374151"/>
                </a:solidFill>
              </a:rPr>
              <a:t>CSV export / flash dump</a:t>
            </a:r>
          </a:p>
        </p:txBody>
      </p:sp>
      <p:sp>
        <p:nvSpPr>
          <p:cNvPr id="24" name="Rounded Rectangle 23"/>
          <p:cNvSpPr/>
          <p:nvPr/>
        </p:nvSpPr>
        <p:spPr>
          <a:xfrm>
            <a:off x="4343400" y="4242816"/>
            <a:ext cx="3474720" cy="420624"/>
          </a:xfrm>
          <a:prstGeom prst="roundRect">
            <a:avLst/>
          </a:prstGeom>
          <a:solidFill>
            <a:srgbClr val="F0F5FF"/>
          </a:solidFill>
          <a:ln w="6350">
            <a:solidFill>
              <a:srgbClr val="0F1F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374151"/>
                </a:solidFill>
              </a:rPr>
              <a:t>w25q32.c (flash R/W)</a:t>
            </a:r>
          </a:p>
        </p:txBody>
      </p:sp>
      <p:sp>
        <p:nvSpPr>
          <p:cNvPr id="25" name="Rounded Rectangle 24"/>
          <p:cNvSpPr/>
          <p:nvPr/>
        </p:nvSpPr>
        <p:spPr>
          <a:xfrm>
            <a:off x="8321040" y="4242816"/>
            <a:ext cx="3474720" cy="420624"/>
          </a:xfrm>
          <a:prstGeom prst="roundRect">
            <a:avLst/>
          </a:prstGeom>
          <a:solidFill>
            <a:srgbClr val="F0F5FF"/>
          </a:solidFill>
          <a:ln w="6350">
            <a:solidFill>
              <a:srgbClr val="00897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0" i="0">
                <a:solidFill>
                  <a:srgbClr val="374151"/>
                </a:solidFill>
              </a:rPr>
              <a:t>W25Q32 SPI flash</a:t>
            </a:r>
          </a:p>
        </p:txBody>
      </p:sp>
      <p:cxnSp>
        <p:nvCxnSpPr>
          <p:cNvPr id="26" name="Connector 25"/>
          <p:cNvCxnSpPr/>
          <p:nvPr/>
        </p:nvCxnSpPr>
        <p:spPr>
          <a:xfrm>
            <a:off x="3840480" y="1627631"/>
            <a:ext cx="502920" cy="0"/>
          </a:xfrm>
          <a:prstGeom prst="line">
            <a:avLst/>
          </a:prstGeom>
          <a:ln w="27940">
            <a:solidFill>
              <a:srgbClr val="1565C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840480" y="2029967"/>
            <a:ext cx="502920" cy="0"/>
          </a:xfrm>
          <a:prstGeom prst="line">
            <a:avLst/>
          </a:prstGeom>
          <a:ln w="27940">
            <a:solidFill>
              <a:srgbClr val="0F1F3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818120" y="1627631"/>
            <a:ext cx="502920" cy="0"/>
          </a:xfrm>
          <a:prstGeom prst="line">
            <a:avLst/>
          </a:prstGeom>
          <a:ln w="27940">
            <a:solidFill>
              <a:srgbClr val="00897B"/>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877056" y="1243584"/>
            <a:ext cx="448056" cy="347472"/>
          </a:xfrm>
          <a:prstGeom prst="rect">
            <a:avLst/>
          </a:prstGeom>
          <a:noFill/>
        </p:spPr>
        <p:txBody>
          <a:bodyPr wrap="square">
            <a:spAutoFit/>
          </a:bodyPr>
          <a:lstStyle/>
          <a:p>
            <a:pPr algn="ctr"/>
            <a:r>
              <a:rPr sz="800" b="0" i="1">
                <a:solidFill>
                  <a:srgbClr val="1565C0"/>
                </a:solidFill>
              </a:rPr>
              <a:t>UART cmds</a:t>
            </a:r>
          </a:p>
        </p:txBody>
      </p:sp>
      <p:sp>
        <p:nvSpPr>
          <p:cNvPr id="30" name="TextBox 29"/>
          <p:cNvSpPr txBox="1"/>
          <p:nvPr/>
        </p:nvSpPr>
        <p:spPr>
          <a:xfrm>
            <a:off x="3877056" y="2066543"/>
            <a:ext cx="448056" cy="347472"/>
          </a:xfrm>
          <a:prstGeom prst="rect">
            <a:avLst/>
          </a:prstGeom>
          <a:noFill/>
        </p:spPr>
        <p:txBody>
          <a:bodyPr wrap="square">
            <a:spAutoFit/>
          </a:bodyPr>
          <a:lstStyle/>
          <a:p>
            <a:pPr algn="ctr"/>
            <a:r>
              <a:rPr sz="800" b="0" i="1">
                <a:solidFill>
                  <a:srgbClr val="0F1F3D"/>
                </a:solidFill>
              </a:rPr>
              <a:t>DATA/STATUS</a:t>
            </a:r>
          </a:p>
        </p:txBody>
      </p:sp>
      <p:sp>
        <p:nvSpPr>
          <p:cNvPr id="31" name="TextBox 30"/>
          <p:cNvSpPr txBox="1"/>
          <p:nvPr/>
        </p:nvSpPr>
        <p:spPr>
          <a:xfrm>
            <a:off x="7854696" y="1444751"/>
            <a:ext cx="448056" cy="347472"/>
          </a:xfrm>
          <a:prstGeom prst="rect">
            <a:avLst/>
          </a:prstGeom>
          <a:noFill/>
        </p:spPr>
        <p:txBody>
          <a:bodyPr wrap="square">
            <a:spAutoFit/>
          </a:bodyPr>
          <a:lstStyle/>
          <a:p>
            <a:pPr algn="ctr"/>
            <a:r>
              <a:rPr sz="800" b="0" i="1">
                <a:solidFill>
                  <a:srgbClr val="00897B"/>
                </a:solidFill>
              </a:rPr>
              <a:t>SPI/ADC</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UART ASCII Protocol — Commands &amp; Responses</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Complete reference for the 115200 baud 8N1 communication link</a:t>
            </a:r>
          </a:p>
        </p:txBody>
      </p:sp>
      <p:sp>
        <p:nvSpPr>
          <p:cNvPr id="5" name="TextBox 4"/>
          <p:cNvSpPr txBox="1"/>
          <p:nvPr/>
        </p:nvSpPr>
        <p:spPr>
          <a:xfrm>
            <a:off x="365760" y="1261872"/>
            <a:ext cx="5943600" cy="5394960"/>
          </a:xfrm>
          <a:prstGeom prst="rect">
            <a:avLst/>
          </a:prstGeom>
          <a:noFill/>
        </p:spPr>
        <p:txBody>
          <a:bodyPr wrap="square">
            <a:spAutoFit/>
          </a:bodyPr>
          <a:lstStyle/>
          <a:p>
            <a:pPr algn="l"/>
            <a:r>
              <a:rPr sz="1300" b="1" i="0">
                <a:solidFill>
                  <a:srgbClr val="0F1F3D"/>
                </a:solidFill>
              </a:rPr>
              <a:t>Protocol Structure</a:t>
            </a:r>
          </a:p>
          <a:p>
            <a:pPr algn="l"/>
            <a:r>
              <a:rPr sz="1100" b="0" i="0">
                <a:solidFill>
                  <a:srgbClr val="374151"/>
                </a:solidFill>
              </a:rPr>
              <a:t>All messages are ASCII text, terminated with CR+LF (\r\n). Commands are sent by the GUI; responses are sent by the STM32. Multiple responses may arrive per command (e.g. START produces many DATA lines).</a:t>
            </a:r>
          </a:p>
          <a:p>
            <a:pPr algn="l"/>
            <a:endParaRPr sz="1100" b="0" i="0">
              <a:solidFill>
                <a:srgbClr val="374151"/>
              </a:solidFill>
            </a:endParaRPr>
          </a:p>
          <a:p>
            <a:pPr algn="l"/>
            <a:r>
              <a:rPr sz="1300" b="1" i="0">
                <a:solidFill>
                  <a:srgbClr val="2E7D32"/>
                </a:solidFill>
              </a:rPr>
              <a:t>DATA Message Format</a:t>
            </a:r>
          </a:p>
          <a:p>
            <a:pPr algn="l"/>
            <a:r>
              <a:rPr sz="1100" b="0" i="0">
                <a:solidFill>
                  <a:srgbClr val="374151"/>
                </a:solidFill>
              </a:rPr>
              <a:t>DATA,&lt;freq_hz&gt;,&lt;magnitude_ohm&gt;,&lt;phase_deg&gt;</a:t>
            </a:r>
          </a:p>
          <a:p>
            <a:pPr algn="l"/>
            <a:r>
              <a:rPr sz="1100" b="0" i="1">
                <a:solidFill>
                  <a:srgbClr val="374151"/>
                </a:solidFill>
              </a:rPr>
              <a:t>Example:  DATA,5000,1234.56,-23.45</a:t>
            </a:r>
          </a:p>
          <a:p>
            <a:pPr algn="l"/>
            <a:r>
              <a:rPr sz="1100" b="0" i="0">
                <a:solidFill>
                  <a:srgbClr val="374151"/>
                </a:solidFill>
              </a:rPr>
              <a:t>One DATA line per frequency step during a sweep.</a:t>
            </a:r>
          </a:p>
          <a:p>
            <a:pPr algn="l"/>
            <a:endParaRPr sz="1100" b="0" i="0">
              <a:solidFill>
                <a:srgbClr val="374151"/>
              </a:solidFill>
            </a:endParaRPr>
          </a:p>
          <a:p>
            <a:pPr algn="l"/>
            <a:r>
              <a:rPr sz="1300" b="1" i="0">
                <a:solidFill>
                  <a:srgbClr val="EF6C00"/>
                </a:solidFill>
              </a:rPr>
              <a:t>FLASH_DATA Message Format</a:t>
            </a:r>
          </a:p>
          <a:p>
            <a:pPr algn="l"/>
            <a:r>
              <a:rPr sz="1100" b="0" i="0">
                <a:solidFill>
                  <a:srgbClr val="374151"/>
                </a:solidFill>
              </a:rPr>
              <a:t>FLASH_DATA,&lt;freq_hz&gt;,&lt;|Z|x100&gt;,&lt;phase_x100&gt;,&lt;Re_x100&gt;,&lt;Im_x100&gt;</a:t>
            </a:r>
          </a:p>
          <a:p>
            <a:pPr algn="l"/>
            <a:r>
              <a:rPr sz="1100" b="0" i="0">
                <a:solidFill>
                  <a:srgbClr val="374151"/>
                </a:solidFill>
              </a:rPr>
              <a:t>All values are integers x100 (fixed-point). GUI divides by 100.0.</a:t>
            </a:r>
          </a:p>
          <a:p>
            <a:pPr algn="l"/>
            <a:endParaRPr sz="1100" b="0" i="0">
              <a:solidFill>
                <a:srgbClr val="374151"/>
              </a:solidFill>
            </a:endParaRPr>
          </a:p>
          <a:p>
            <a:pPr algn="l"/>
            <a:r>
              <a:rPr sz="1300" b="1" i="0">
                <a:solidFill>
                  <a:srgbClr val="1565C0"/>
                </a:solidFill>
              </a:rPr>
              <a:t>STATUS Message Format</a:t>
            </a:r>
          </a:p>
          <a:p>
            <a:pPr algn="l"/>
            <a:r>
              <a:rPr sz="1100" b="0" i="0">
                <a:solidFill>
                  <a:srgbClr val="374151"/>
                </a:solidFill>
              </a:rPr>
              <a:t>STATUS,IDLE|RUNNING,START=n,STOP=n,STEP=n,RF=n.n,FLASH_COUNT=n</a:t>
            </a:r>
          </a:p>
          <a:p>
            <a:pPr algn="l"/>
            <a:endParaRPr sz="1100" b="0" i="0">
              <a:solidFill>
                <a:srgbClr val="374151"/>
              </a:solidFill>
            </a:endParaRPr>
          </a:p>
          <a:p>
            <a:pPr algn="l"/>
            <a:r>
              <a:rPr sz="1300" b="1" i="0">
                <a:solidFill>
                  <a:srgbClr val="00897B"/>
                </a:solidFill>
              </a:rPr>
              <a:t>SWEEP Messages</a:t>
            </a:r>
          </a:p>
          <a:p>
            <a:pPr algn="l"/>
            <a:r>
              <a:rPr sz="1100" b="0" i="0">
                <a:solidFill>
                  <a:srgbClr val="374151"/>
                </a:solidFill>
              </a:rPr>
              <a:t>SWEEP,BEGIN — sent when sweep starts, before first DATA line.</a:t>
            </a:r>
          </a:p>
          <a:p>
            <a:pPr algn="l"/>
            <a:r>
              <a:rPr sz="1100" b="0" i="0">
                <a:solidFill>
                  <a:srgbClr val="374151"/>
                </a:solidFill>
              </a:rPr>
              <a:t>SWEEP,DONE  — sent after last DATA line when sweep finishes.</a:t>
            </a:r>
          </a:p>
          <a:p>
            <a:pPr algn="l"/>
            <a:endParaRPr sz="1100" b="0" i="0">
              <a:solidFill>
                <a:srgbClr val="374151"/>
              </a:solidFill>
            </a:endParaRPr>
          </a:p>
          <a:p>
            <a:pPr algn="l"/>
            <a:r>
              <a:rPr sz="1300" b="1" i="0">
                <a:solidFill>
                  <a:srgbClr val="C62828"/>
                </a:solidFill>
              </a:rPr>
              <a:t>Error Messages</a:t>
            </a:r>
          </a:p>
          <a:p>
            <a:pPr algn="l"/>
            <a:r>
              <a:rPr sz="1100" b="0" i="0">
                <a:solidFill>
                  <a:srgbClr val="374151"/>
                </a:solidFill>
              </a:rPr>
              <a:t>ERROR,FLASH_FULL — flash region is full, data not written.</a:t>
            </a:r>
          </a:p>
          <a:p>
            <a:pPr algn="l"/>
            <a:r>
              <a:rPr sz="1100" b="0" i="0">
                <a:solidFill>
                  <a:srgbClr val="374151"/>
                </a:solidFill>
              </a:rPr>
              <a:t>ERROR,FLASH_WRITE — flash write operation failed.</a:t>
            </a:r>
          </a:p>
        </p:txBody>
      </p:sp>
      <p:sp>
        <p:nvSpPr>
          <p:cNvPr id="6" name="Rounded Rectangle 5"/>
          <p:cNvSpPr/>
          <p:nvPr/>
        </p:nvSpPr>
        <p:spPr>
          <a:xfrm>
            <a:off x="6400800" y="1325880"/>
            <a:ext cx="5486400" cy="5303520"/>
          </a:xfrm>
          <a:prstGeom prst="roundRect">
            <a:avLst/>
          </a:prstGeom>
          <a:solidFill>
            <a:srgbClr val="FFFFFF"/>
          </a:solidFill>
          <a:ln w="12700">
            <a:solidFill>
              <a:srgbClr val="0F1F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0" y="1417320"/>
            <a:ext cx="5120640" cy="320040"/>
          </a:xfrm>
          <a:prstGeom prst="rect">
            <a:avLst/>
          </a:prstGeom>
          <a:noFill/>
        </p:spPr>
        <p:txBody>
          <a:bodyPr wrap="square">
            <a:spAutoFit/>
          </a:bodyPr>
          <a:lstStyle/>
          <a:p>
            <a:pPr algn="ctr"/>
            <a:r>
              <a:rPr sz="1100" b="1" i="0">
                <a:solidFill>
                  <a:srgbClr val="0F1F3D"/>
                </a:solidFill>
              </a:rPr>
              <a:t>Message Flow — Start Sweep</a:t>
            </a:r>
          </a:p>
        </p:txBody>
      </p:sp>
      <p:sp>
        <p:nvSpPr>
          <p:cNvPr id="8" name="Rounded Rectangle 7"/>
          <p:cNvSpPr/>
          <p:nvPr/>
        </p:nvSpPr>
        <p:spPr>
          <a:xfrm>
            <a:off x="6492240" y="1828800"/>
            <a:ext cx="5303520" cy="347472"/>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FFFFFF"/>
                </a:solidFill>
              </a:rPr>
              <a:t>GUI sends:  START</a:t>
            </a:r>
          </a:p>
        </p:txBody>
      </p:sp>
      <p:sp>
        <p:nvSpPr>
          <p:cNvPr id="9" name="Rounded Rectangle 8"/>
          <p:cNvSpPr/>
          <p:nvPr/>
        </p:nvSpPr>
        <p:spPr>
          <a:xfrm>
            <a:off x="6492240" y="2203704"/>
            <a:ext cx="5303520" cy="347472"/>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FFFFFF"/>
                </a:solidFill>
              </a:rPr>
              <a:t>STM32 replies:  SWEEP,BEGIN</a:t>
            </a:r>
          </a:p>
        </p:txBody>
      </p:sp>
      <p:sp>
        <p:nvSpPr>
          <p:cNvPr id="10" name="Rounded Rectangle 9"/>
          <p:cNvSpPr/>
          <p:nvPr/>
        </p:nvSpPr>
        <p:spPr>
          <a:xfrm>
            <a:off x="6492240" y="2578608"/>
            <a:ext cx="5303520" cy="347472"/>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FFFFFF"/>
                </a:solidFill>
              </a:rPr>
              <a:t>STM32 sends x99:  DATA,1000,4523.12,-2.34</a:t>
            </a:r>
          </a:p>
        </p:txBody>
      </p:sp>
      <p:sp>
        <p:nvSpPr>
          <p:cNvPr id="11" name="Rounded Rectangle 10"/>
          <p:cNvSpPr/>
          <p:nvPr/>
        </p:nvSpPr>
        <p:spPr>
          <a:xfrm>
            <a:off x="6492240" y="2953512"/>
            <a:ext cx="5303520" cy="347472"/>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FFFFFF"/>
                </a:solidFill>
              </a:rPr>
              <a:t>STM32 sends x99:  DATA,2000,3211.45,-5.67</a:t>
            </a:r>
          </a:p>
        </p:txBody>
      </p:sp>
      <p:sp>
        <p:nvSpPr>
          <p:cNvPr id="12" name="Rounded Rectangle 11"/>
          <p:cNvSpPr/>
          <p:nvPr/>
        </p:nvSpPr>
        <p:spPr>
          <a:xfrm>
            <a:off x="6492240" y="3328416"/>
            <a:ext cx="5303520" cy="347472"/>
          </a:xfrm>
          <a:prstGeom prst="round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64748B"/>
                </a:solidFill>
              </a:rPr>
              <a:t>...  ...</a:t>
            </a:r>
          </a:p>
        </p:txBody>
      </p:sp>
      <p:sp>
        <p:nvSpPr>
          <p:cNvPr id="13" name="Rounded Rectangle 12"/>
          <p:cNvSpPr/>
          <p:nvPr/>
        </p:nvSpPr>
        <p:spPr>
          <a:xfrm>
            <a:off x="6492240" y="3703320"/>
            <a:ext cx="5303520" cy="347472"/>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FFFFFF"/>
                </a:solidFill>
              </a:rPr>
              <a:t>STM32 replies:  SWEEP,DONE</a:t>
            </a:r>
          </a:p>
        </p:txBody>
      </p:sp>
      <p:sp>
        <p:nvSpPr>
          <p:cNvPr id="14" name="Rounded Rectangle 13"/>
          <p:cNvSpPr/>
          <p:nvPr/>
        </p:nvSpPr>
        <p:spPr>
          <a:xfrm>
            <a:off x="6492240" y="4078224"/>
            <a:ext cx="5303520" cy="347472"/>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FFFFFF"/>
                </a:solidFill>
              </a:rPr>
              <a:t>GUI sends:  STATUS</a:t>
            </a:r>
          </a:p>
        </p:txBody>
      </p:sp>
      <p:sp>
        <p:nvSpPr>
          <p:cNvPr id="15" name="Rounded Rectangle 14"/>
          <p:cNvSpPr/>
          <p:nvPr/>
        </p:nvSpPr>
        <p:spPr>
          <a:xfrm>
            <a:off x="6492240" y="4453128"/>
            <a:ext cx="5303520" cy="347472"/>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FFFFFF"/>
                </a:solidFill>
              </a:rPr>
              <a:t>STM32 replies:  STATUS,IDLE,START=1000,...</a:t>
            </a:r>
          </a:p>
        </p:txBody>
      </p:sp>
      <p:sp>
        <p:nvSpPr>
          <p:cNvPr id="16" name="Rounded Rectangle 15"/>
          <p:cNvSpPr/>
          <p:nvPr/>
        </p:nvSpPr>
        <p:spPr>
          <a:xfrm>
            <a:off x="6492240" y="4828032"/>
            <a:ext cx="5303520" cy="347472"/>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FFFFFF"/>
                </a:solidFill>
              </a:rPr>
              <a:t>GUI sends:  FLASH_STATUS</a:t>
            </a:r>
          </a:p>
        </p:txBody>
      </p:sp>
      <p:sp>
        <p:nvSpPr>
          <p:cNvPr id="17" name="Rounded Rectangle 16"/>
          <p:cNvSpPr/>
          <p:nvPr/>
        </p:nvSpPr>
        <p:spPr>
          <a:xfrm>
            <a:off x="6492240" y="5202936"/>
            <a:ext cx="5303520" cy="347472"/>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FFFFFF"/>
                </a:solidFill>
              </a:rPr>
              <a:t>STM32 replies:  FLASH_STATUS,COUNT=99,CAPACITY=390</a:t>
            </a:r>
          </a:p>
        </p:txBody>
      </p:sp>
      <p:sp>
        <p:nvSpPr>
          <p:cNvPr id="18" name="Rounded Rectangle 17"/>
          <p:cNvSpPr/>
          <p:nvPr/>
        </p:nvSpPr>
        <p:spPr>
          <a:xfrm>
            <a:off x="6492240" y="5577840"/>
            <a:ext cx="5303520" cy="347472"/>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FFFFFF"/>
                </a:solidFill>
              </a:rPr>
              <a:t>GUI sends:  DUMP_FLASH</a:t>
            </a:r>
          </a:p>
        </p:txBody>
      </p:sp>
      <p:sp>
        <p:nvSpPr>
          <p:cNvPr id="19" name="Rounded Rectangle 18"/>
          <p:cNvSpPr/>
          <p:nvPr/>
        </p:nvSpPr>
        <p:spPr>
          <a:xfrm>
            <a:off x="6492240" y="5952744"/>
            <a:ext cx="5303520" cy="347472"/>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850" b="0" i="0">
                <a:solidFill>
                  <a:srgbClr val="FFFFFF"/>
                </a:solidFill>
              </a:rPr>
              <a:t>STM32 sends x99:  FLASH_DATA,1000,452312,-234,...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End-to-End Measurement Sequence</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Complete numbered flow from user click to updated Nyquist plot</a:t>
            </a:r>
          </a:p>
        </p:txBody>
      </p:sp>
      <p:sp>
        <p:nvSpPr>
          <p:cNvPr id="5" name="Rounded Rectangle 4"/>
          <p:cNvSpPr/>
          <p:nvPr/>
        </p:nvSpPr>
        <p:spPr>
          <a:xfrm>
            <a:off x="365760" y="1280160"/>
            <a:ext cx="5728716" cy="621792"/>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rPr>
              <a:t>Step 1: User clicks Start Sweep</a:t>
            </a:r>
          </a:p>
          <a:p>
            <a:pPr algn="ctr"/>
            <a:r>
              <a:rPr sz="850" b="0">
                <a:solidFill>
                  <a:srgbClr val="FFFFFF"/>
                </a:solidFill>
              </a:rPr>
              <a:t>GUI clears DataModel, clears plots, computes total expected points, sends 'START' via SerialWorker.</a:t>
            </a:r>
          </a:p>
        </p:txBody>
      </p:sp>
      <p:sp>
        <p:nvSpPr>
          <p:cNvPr id="6" name="Rounded Rectangle 5"/>
          <p:cNvSpPr/>
          <p:nvPr/>
        </p:nvSpPr>
        <p:spPr>
          <a:xfrm>
            <a:off x="6185916" y="1280160"/>
            <a:ext cx="5728716" cy="621792"/>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rPr>
              <a:t>Step 2: STM32 receives START</a:t>
            </a:r>
          </a:p>
          <a:p>
            <a:pPr algn="ctr"/>
            <a:r>
              <a:rPr sz="850" b="0">
                <a:solidFill>
                  <a:srgbClr val="FFFFFF"/>
                </a:solidFill>
              </a:rPr>
              <a:t>uart_comm.c calls Process_Start_Command(). FlashLog_BeginSweep() erases the 16 KB flash log region. Sends 'SWEEP,BEGIN'. Sets measurement_running=1.</a:t>
            </a:r>
          </a:p>
        </p:txBody>
      </p:sp>
      <p:sp>
        <p:nvSpPr>
          <p:cNvPr id="7" name="Rounded Rectangle 6"/>
          <p:cNvSpPr/>
          <p:nvPr/>
        </p:nvSpPr>
        <p:spPr>
          <a:xfrm>
            <a:off x="365760" y="1993391"/>
            <a:ext cx="5728716" cy="621792"/>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rPr>
              <a:t>Step 3: Sweep loop — for each frequency f</a:t>
            </a:r>
          </a:p>
          <a:p>
            <a:pPr algn="ctr"/>
            <a:r>
              <a:rPr sz="850" b="0">
                <a:solidFill>
                  <a:srgbClr val="FFFFFF"/>
                </a:solidFill>
              </a:rPr>
              <a:t>AD9833_SetFrequency(f) writes freq word via SPI. HAL_Delay(100 ms) allows excitation to settle.</a:t>
            </a:r>
          </a:p>
        </p:txBody>
      </p:sp>
      <p:sp>
        <p:nvSpPr>
          <p:cNvPr id="8" name="Rounded Rectangle 7"/>
          <p:cNvSpPr/>
          <p:nvPr/>
        </p:nvSpPr>
        <p:spPr>
          <a:xfrm>
            <a:off x="6185916" y="1993391"/>
            <a:ext cx="5728716" cy="621792"/>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rPr>
              <a:t>Step 4: ADC DMA acquisition</a:t>
            </a:r>
          </a:p>
          <a:p>
            <a:pPr algn="ctr"/>
            <a:r>
              <a:rPr sz="850" b="0">
                <a:solidFill>
                  <a:srgbClr val="FFFFFF"/>
                </a:solidFill>
              </a:rPr>
              <a:t>HAL_ADC_Start_DMA() triggered. DMA1 Ch1 collects 512 half-words (CH1+CH2 interleaved, 256 each). DMA complete callback fires when done.</a:t>
            </a:r>
          </a:p>
        </p:txBody>
      </p:sp>
      <p:sp>
        <p:nvSpPr>
          <p:cNvPr id="9" name="Rounded Rectangle 8"/>
          <p:cNvSpPr/>
          <p:nvPr/>
        </p:nvSpPr>
        <p:spPr>
          <a:xfrm>
            <a:off x="365760" y="2706624"/>
            <a:ext cx="5728716" cy="621792"/>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rPr>
              <a:t>Step 5: Tone estimation</a:t>
            </a:r>
          </a:p>
          <a:p>
            <a:pPr algn="ctr"/>
            <a:r>
              <a:rPr sz="850" b="0">
                <a:solidFill>
                  <a:srgbClr val="FFFFFF"/>
                </a:solidFill>
              </a:rPr>
              <a:t>impedance.c Estimate_Tone(ref_buf, f) and Estimate_Tone(sig_buf, f) solve the 2x2 LS system. Returns magnitude and phase for each channel.</a:t>
            </a:r>
          </a:p>
        </p:txBody>
      </p:sp>
      <p:sp>
        <p:nvSpPr>
          <p:cNvPr id="10" name="Rounded Rectangle 9"/>
          <p:cNvSpPr/>
          <p:nvPr/>
        </p:nvSpPr>
        <p:spPr>
          <a:xfrm>
            <a:off x="6185916" y="2706624"/>
            <a:ext cx="5728716" cy="621792"/>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rPr>
              <a:t>Step 6: BodePoint calculation</a:t>
            </a:r>
          </a:p>
          <a:p>
            <a:pPr algn="ctr"/>
            <a:r>
              <a:rPr sz="850" b="0">
                <a:solidFill>
                  <a:srgbClr val="FFFFFF"/>
                </a:solidFill>
              </a:rPr>
              <a:t>|Z| = ref.magnitude / sig.magnitude * Rf. Phase = (sig.phaseRad - ref.phaseRad) * 180/pi. Re = |Z|*cos(phase). Im = |Z|*sin(phase).</a:t>
            </a:r>
          </a:p>
        </p:txBody>
      </p:sp>
      <p:sp>
        <p:nvSpPr>
          <p:cNvPr id="11" name="Rounded Rectangle 10"/>
          <p:cNvSpPr/>
          <p:nvPr/>
        </p:nvSpPr>
        <p:spPr>
          <a:xfrm>
            <a:off x="365760" y="3419856"/>
            <a:ext cx="5728716" cy="621792"/>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rPr>
              <a:t>Step 7: Flash write + UART TX</a:t>
            </a:r>
          </a:p>
          <a:p>
            <a:pPr algn="ctr"/>
            <a:r>
              <a:rPr sz="850" b="0">
                <a:solidFill>
                  <a:srgbClr val="FFFFFF"/>
                </a:solidFill>
              </a:rPr>
              <a:t>FlashLog_WritePoint(f, &amp;result) stores the record to W25Q32 flash (page write, split across boundaries). UART sends 'DATA,f,|Z|,phase'.</a:t>
            </a:r>
          </a:p>
        </p:txBody>
      </p:sp>
      <p:sp>
        <p:nvSpPr>
          <p:cNvPr id="12" name="Rounded Rectangle 11"/>
          <p:cNvSpPr/>
          <p:nvPr/>
        </p:nvSpPr>
        <p:spPr>
          <a:xfrm>
            <a:off x="6185916" y="3419856"/>
            <a:ext cx="5728716" cy="621792"/>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rPr>
              <a:t>Step 8: GUI receives DATA line</a:t>
            </a:r>
          </a:p>
          <a:p>
            <a:pPr algn="ctr"/>
            <a:r>
              <a:rPr sz="850" b="0">
                <a:solidFill>
                  <a:srgbClr val="FFFFFF"/>
                </a:solidFill>
              </a:rPr>
              <a:t>_parse_data() splits CSV, calls DataModel.add_point(). PlotWidget.update_plots() redraws all three canvases. ConfigPanel shows current frequency and point count.</a:t>
            </a:r>
          </a:p>
        </p:txBody>
      </p:sp>
      <p:sp>
        <p:nvSpPr>
          <p:cNvPr id="13" name="Rounded Rectangle 12"/>
          <p:cNvSpPr/>
          <p:nvPr/>
        </p:nvSpPr>
        <p:spPr>
          <a:xfrm>
            <a:off x="365760" y="4133087"/>
            <a:ext cx="5728716" cy="621792"/>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rPr>
              <a:t>Step 9: Sweep completes</a:t>
            </a:r>
          </a:p>
          <a:p>
            <a:pPr algn="ctr"/>
            <a:r>
              <a:rPr sz="850" b="0">
                <a:solidFill>
                  <a:srgbClr val="FFFFFF"/>
                </a:solidFill>
              </a:rPr>
              <a:t>After last frequency, STM32 sends 'SWEEP,DONE'. GUI status changes to IDLE. User can Export CSV or Dump Flash.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Frequently Asked Questions</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Key technical questions with concise answers</a:t>
            </a:r>
          </a:p>
        </p:txBody>
      </p:sp>
      <p:sp>
        <p:nvSpPr>
          <p:cNvPr id="5" name="Rounded Rectangle 4"/>
          <p:cNvSpPr/>
          <p:nvPr/>
        </p:nvSpPr>
        <p:spPr>
          <a:xfrm>
            <a:off x="365760" y="1280160"/>
            <a:ext cx="5637276" cy="475488"/>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50" b="1" i="0">
                <a:solidFill>
                  <a:srgbClr val="FFFFFF"/>
                </a:solidFill>
              </a:rPr>
              <a:t>Q1: Why least-squares instead of FFT?</a:t>
            </a:r>
          </a:p>
        </p:txBody>
      </p:sp>
      <p:sp>
        <p:nvSpPr>
          <p:cNvPr id="6" name="Rounded Rectangle 5"/>
          <p:cNvSpPr/>
          <p:nvPr/>
        </p:nvSpPr>
        <p:spPr>
          <a:xfrm>
            <a:off x="365760" y="1755648"/>
            <a:ext cx="5637276" cy="758952"/>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i="0">
                <a:solidFill>
                  <a:srgbClr val="374151"/>
                </a:solidFill>
              </a:rPr>
              <a:t>The sweep step rarely aligns to a DFT bin; LS projection at the exact f eliminates spectral leakage and amplitude error.</a:t>
            </a:r>
          </a:p>
        </p:txBody>
      </p:sp>
      <p:sp>
        <p:nvSpPr>
          <p:cNvPr id="7" name="Rounded Rectangle 6"/>
          <p:cNvSpPr/>
          <p:nvPr/>
        </p:nvSpPr>
        <p:spPr>
          <a:xfrm>
            <a:off x="6185916" y="1280160"/>
            <a:ext cx="5637276" cy="475488"/>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50" b="1" i="0">
                <a:solidFill>
                  <a:srgbClr val="FFFFFF"/>
                </a:solidFill>
              </a:rPr>
              <a:t>Q2: What is the frequency accuracy?</a:t>
            </a:r>
          </a:p>
        </p:txBody>
      </p:sp>
      <p:sp>
        <p:nvSpPr>
          <p:cNvPr id="8" name="Rounded Rectangle 7"/>
          <p:cNvSpPr/>
          <p:nvPr/>
        </p:nvSpPr>
        <p:spPr>
          <a:xfrm>
            <a:off x="6185916" y="1755648"/>
            <a:ext cx="5637276" cy="758952"/>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i="0">
                <a:solidFill>
                  <a:srgbClr val="374151"/>
                </a:solidFill>
              </a:rPr>
              <a:t>AD9833 resolution = 25 MHz/2^28 = 0.093 Hz. Accuracy tracks crystal tolerance (±20 ppm typ.).</a:t>
            </a:r>
          </a:p>
        </p:txBody>
      </p:sp>
      <p:sp>
        <p:nvSpPr>
          <p:cNvPr id="9" name="Rounded Rectangle 8"/>
          <p:cNvSpPr/>
          <p:nvPr/>
        </p:nvSpPr>
        <p:spPr>
          <a:xfrm>
            <a:off x="365760" y="2606039"/>
            <a:ext cx="5637276" cy="475488"/>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50" b="1" i="0">
                <a:solidFill>
                  <a:srgbClr val="FFFFFF"/>
                </a:solidFill>
              </a:rPr>
              <a:t>Q3: Why log data to flash during sweep?</a:t>
            </a:r>
          </a:p>
        </p:txBody>
      </p:sp>
      <p:sp>
        <p:nvSpPr>
          <p:cNvPr id="10" name="Rounded Rectangle 9"/>
          <p:cNvSpPr/>
          <p:nvPr/>
        </p:nvSpPr>
        <p:spPr>
          <a:xfrm>
            <a:off x="365760" y="3081527"/>
            <a:ext cx="5637276" cy="758952"/>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i="0">
                <a:solidFill>
                  <a:srgbClr val="374151"/>
                </a:solidFill>
              </a:rPr>
              <a:t>W25Q32 preserves results if USB disconnects mid-sweep; DUMP_FLASH replays them to the GUI afterward.</a:t>
            </a:r>
          </a:p>
        </p:txBody>
      </p:sp>
      <p:sp>
        <p:nvSpPr>
          <p:cNvPr id="11" name="Rounded Rectangle 10"/>
          <p:cNvSpPr/>
          <p:nvPr/>
        </p:nvSpPr>
        <p:spPr>
          <a:xfrm>
            <a:off x="6185916" y="2606039"/>
            <a:ext cx="5637276" cy="475488"/>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50" b="1" i="0">
                <a:solidFill>
                  <a:srgbClr val="FFFFFF"/>
                </a:solidFill>
              </a:rPr>
              <a:t>Q4: What is the ADC sample rate?</a:t>
            </a:r>
          </a:p>
        </p:txBody>
      </p:sp>
      <p:sp>
        <p:nvSpPr>
          <p:cNvPr id="12" name="Rounded Rectangle 11"/>
          <p:cNvSpPr/>
          <p:nvPr/>
        </p:nvSpPr>
        <p:spPr>
          <a:xfrm>
            <a:off x="6185916" y="3081527"/>
            <a:ext cx="5637276" cy="758952"/>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i="0">
                <a:solidFill>
                  <a:srgbClr val="374151"/>
                </a:solidFill>
              </a:rPr>
              <a:t>72 MHz / ((61.5+12.5)x2) = 486 kHz total; 243 kHz per channel; alias-free BW ~121 kHz.</a:t>
            </a:r>
          </a:p>
        </p:txBody>
      </p:sp>
      <p:sp>
        <p:nvSpPr>
          <p:cNvPr id="13" name="Rounded Rectangle 12"/>
          <p:cNvSpPr/>
          <p:nvPr/>
        </p:nvSpPr>
        <p:spPr>
          <a:xfrm>
            <a:off x="365760" y="3931920"/>
            <a:ext cx="5637276" cy="475488"/>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50" b="1" i="0">
                <a:solidFill>
                  <a:srgbClr val="FFFFFF"/>
                </a:solidFill>
              </a:rPr>
              <a:t>Q5: How is impedance magnitude computed?</a:t>
            </a:r>
          </a:p>
        </p:txBody>
      </p:sp>
      <p:sp>
        <p:nvSpPr>
          <p:cNvPr id="14" name="Rounded Rectangle 13"/>
          <p:cNvSpPr/>
          <p:nvPr/>
        </p:nvSpPr>
        <p:spPr>
          <a:xfrm>
            <a:off x="365760" y="4407408"/>
            <a:ext cx="5637276" cy="758952"/>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i="0">
                <a:solidFill>
                  <a:srgbClr val="374151"/>
                </a:solidFill>
              </a:rPr>
              <a:t>Z = (V_ref/V_sig) x Rf. Magnitude ratio of the two ADC tone estimates multiplied by feedback Rf.</a:t>
            </a:r>
          </a:p>
        </p:txBody>
      </p:sp>
      <p:sp>
        <p:nvSpPr>
          <p:cNvPr id="15" name="Rounded Rectangle 14"/>
          <p:cNvSpPr/>
          <p:nvPr/>
        </p:nvSpPr>
        <p:spPr>
          <a:xfrm>
            <a:off x="6185916" y="3931920"/>
            <a:ext cx="5637276" cy="475488"/>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50" b="1" i="0">
                <a:solidFill>
                  <a:srgbClr val="FFFFFF"/>
                </a:solidFill>
              </a:rPr>
              <a:t>Q6: Can it measure capacitive/inductive loads?</a:t>
            </a:r>
          </a:p>
        </p:txBody>
      </p:sp>
      <p:sp>
        <p:nvSpPr>
          <p:cNvPr id="16" name="Rounded Rectangle 15"/>
          <p:cNvSpPr/>
          <p:nvPr/>
        </p:nvSpPr>
        <p:spPr>
          <a:xfrm>
            <a:off x="6185916" y="4407408"/>
            <a:ext cx="5637276" cy="758952"/>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i="0">
                <a:solidFill>
                  <a:srgbClr val="374151"/>
                </a:solidFill>
              </a:rPr>
              <a:t>Yes. Phase range is ±90°; Nyquist shows capacitive semicircles. Inductance gives positive Im(Z).</a:t>
            </a:r>
          </a:p>
        </p:txBody>
      </p:sp>
      <p:sp>
        <p:nvSpPr>
          <p:cNvPr id="17" name="Rounded Rectangle 16"/>
          <p:cNvSpPr/>
          <p:nvPr/>
        </p:nvSpPr>
        <p:spPr>
          <a:xfrm>
            <a:off x="365760" y="5257800"/>
            <a:ext cx="5637276" cy="475488"/>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50" b="1" i="0">
                <a:solidFill>
                  <a:srgbClr val="FFFFFF"/>
                </a:solidFill>
              </a:rPr>
              <a:t>Q7: What limits the upper frequency?</a:t>
            </a:r>
          </a:p>
        </p:txBody>
      </p:sp>
      <p:sp>
        <p:nvSpPr>
          <p:cNvPr id="18" name="Rounded Rectangle 17"/>
          <p:cNvSpPr/>
          <p:nvPr/>
        </p:nvSpPr>
        <p:spPr>
          <a:xfrm>
            <a:off x="365760" y="5733288"/>
            <a:ext cx="5637276" cy="758952"/>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i="0">
                <a:solidFill>
                  <a:srgbClr val="374151"/>
                </a:solidFill>
              </a:rPr>
              <a:t>Nyquist at 121 kHz. Practically 100 kHz for accuracy. AD9833 hardware can reach 12.5 MHz.</a:t>
            </a:r>
          </a:p>
        </p:txBody>
      </p:sp>
      <p:sp>
        <p:nvSpPr>
          <p:cNvPr id="19" name="Rounded Rectangle 18"/>
          <p:cNvSpPr/>
          <p:nvPr/>
        </p:nvSpPr>
        <p:spPr>
          <a:xfrm>
            <a:off x="6185916" y="5257800"/>
            <a:ext cx="5637276" cy="475488"/>
          </a:xfrm>
          <a:prstGeom prst="round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50" b="1" i="0">
                <a:solidFill>
                  <a:srgbClr val="FFFFFF"/>
                </a:solidFill>
              </a:rPr>
              <a:t>Q8: Is the GUI cross-platform?</a:t>
            </a:r>
          </a:p>
        </p:txBody>
      </p:sp>
      <p:sp>
        <p:nvSpPr>
          <p:cNvPr id="20" name="Rounded Rectangle 19"/>
          <p:cNvSpPr/>
          <p:nvPr/>
        </p:nvSpPr>
        <p:spPr>
          <a:xfrm>
            <a:off x="6185916" y="5733288"/>
            <a:ext cx="5637276" cy="758952"/>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900" b="0" i="0">
                <a:solidFill>
                  <a:srgbClr val="374151"/>
                </a:solidFill>
              </a:rPr>
              <a:t>Yes — PyQt5, PySerial, and Matplotlib run on Windows, Linux, and macOS without code changes.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11457432" cy="640080"/>
          </a:xfrm>
          <a:prstGeom prst="rect">
            <a:avLst/>
          </a:prstGeom>
          <a:noFill/>
        </p:spPr>
        <p:txBody>
          <a:bodyPr wrap="square">
            <a:spAutoFit/>
          </a:bodyPr>
          <a:lstStyle/>
          <a:p>
            <a:pPr algn="l"/>
            <a:r>
              <a:rPr sz="2600" b="1" i="0">
                <a:solidFill>
                  <a:srgbClr val="0F1F3D"/>
                </a:solidFill>
              </a:rPr>
              <a:t>Suggested Improvements</a:t>
            </a:r>
          </a:p>
        </p:txBody>
      </p:sp>
      <p:sp>
        <p:nvSpPr>
          <p:cNvPr id="3" name="Rectangle 2"/>
          <p:cNvSpPr/>
          <p:nvPr/>
        </p:nvSpPr>
        <p:spPr>
          <a:xfrm>
            <a:off x="365760" y="804672"/>
            <a:ext cx="1145743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68680"/>
            <a:ext cx="11457432" cy="347472"/>
          </a:xfrm>
          <a:prstGeom prst="rect">
            <a:avLst/>
          </a:prstGeom>
          <a:noFill/>
        </p:spPr>
        <p:txBody>
          <a:bodyPr wrap="square">
            <a:spAutoFit/>
          </a:bodyPr>
          <a:lstStyle/>
          <a:p>
            <a:pPr algn="l"/>
            <a:r>
              <a:rPr sz="1100" b="0" i="1">
                <a:solidFill>
                  <a:srgbClr val="64748B"/>
                </a:solidFill>
              </a:rPr>
              <a:t>Potential enhancements for future hardware and software revisions</a:t>
            </a:r>
          </a:p>
        </p:txBody>
      </p:sp>
      <p:sp>
        <p:nvSpPr>
          <p:cNvPr id="5" name="Rounded Rectangle 4"/>
          <p:cNvSpPr/>
          <p:nvPr/>
        </p:nvSpPr>
        <p:spPr>
          <a:xfrm>
            <a:off x="365760" y="1298448"/>
            <a:ext cx="5682996" cy="457200"/>
          </a:xfrm>
          <a:prstGeom prst="roundRect">
            <a:avLst/>
          </a:prstGeom>
          <a:solidFill>
            <a:srgbClr val="0F1F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i="0">
                <a:solidFill>
                  <a:srgbClr val="FFFFFF"/>
                </a:solidFill>
              </a:rPr>
              <a:t>Hardware</a:t>
            </a:r>
          </a:p>
        </p:txBody>
      </p:sp>
      <p:sp>
        <p:nvSpPr>
          <p:cNvPr id="6" name="Rounded Rectangle 5"/>
          <p:cNvSpPr/>
          <p:nvPr/>
        </p:nvSpPr>
        <p:spPr>
          <a:xfrm>
            <a:off x="365760" y="1773936"/>
            <a:ext cx="5682996" cy="749808"/>
          </a:xfrm>
          <a:prstGeom prst="roundRect">
            <a:avLst/>
          </a:prstGeom>
          <a:solidFill>
            <a:srgbClr val="F0F5FF"/>
          </a:solidFill>
          <a:ln w="9525">
            <a:solidFill>
              <a:srgbClr val="0F1F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1. Anti-alias filter</a:t>
            </a:r>
          </a:p>
          <a:p>
            <a:pPr algn="ctr"/>
            <a:r>
              <a:rPr sz="900" b="0">
                <a:solidFill>
                  <a:srgbClr val="374151"/>
                </a:solidFill>
              </a:rPr>
              <a:t>Add ~120 kHz active LPF before each ADC input to suppress aliased noise.</a:t>
            </a:r>
          </a:p>
        </p:txBody>
      </p:sp>
      <p:sp>
        <p:nvSpPr>
          <p:cNvPr id="7" name="Rounded Rectangle 6"/>
          <p:cNvSpPr/>
          <p:nvPr/>
        </p:nvSpPr>
        <p:spPr>
          <a:xfrm>
            <a:off x="365760" y="2542032"/>
            <a:ext cx="5682996" cy="749808"/>
          </a:xfrm>
          <a:prstGeom prst="roundRect">
            <a:avLst/>
          </a:prstGeom>
          <a:solidFill>
            <a:srgbClr val="F0F5FF"/>
          </a:solidFill>
          <a:ln w="9525">
            <a:solidFill>
              <a:srgbClr val="0F1F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2. Guarding electrode</a:t>
            </a:r>
          </a:p>
          <a:p>
            <a:pPr algn="ctr"/>
            <a:r>
              <a:rPr sz="900" b="0">
                <a:solidFill>
                  <a:srgbClr val="374151"/>
                </a:solidFill>
              </a:rPr>
              <a:t>Driven-guard ring eliminates stray capacitance in 3-electrode setups.</a:t>
            </a:r>
          </a:p>
        </p:txBody>
      </p:sp>
      <p:sp>
        <p:nvSpPr>
          <p:cNvPr id="8" name="Rounded Rectangle 7"/>
          <p:cNvSpPr/>
          <p:nvPr/>
        </p:nvSpPr>
        <p:spPr>
          <a:xfrm>
            <a:off x="365760" y="3310127"/>
            <a:ext cx="5682996" cy="749808"/>
          </a:xfrm>
          <a:prstGeom prst="roundRect">
            <a:avLst/>
          </a:prstGeom>
          <a:solidFill>
            <a:srgbClr val="F0F5FF"/>
          </a:solidFill>
          <a:ln w="9525">
            <a:solidFill>
              <a:srgbClr val="0F1F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3. Galvanic isolation</a:t>
            </a:r>
          </a:p>
          <a:p>
            <a:pPr algn="ctr"/>
            <a:r>
              <a:rPr sz="900" b="0">
                <a:solidFill>
                  <a:srgbClr val="374151"/>
                </a:solidFill>
              </a:rPr>
              <a:t>Isolate USB ground from measurement ground to remove earth-loop interference.</a:t>
            </a:r>
          </a:p>
        </p:txBody>
      </p:sp>
      <p:sp>
        <p:nvSpPr>
          <p:cNvPr id="9" name="Rounded Rectangle 8"/>
          <p:cNvSpPr/>
          <p:nvPr/>
        </p:nvSpPr>
        <p:spPr>
          <a:xfrm>
            <a:off x="365760" y="4078224"/>
            <a:ext cx="5682996" cy="749808"/>
          </a:xfrm>
          <a:prstGeom prst="roundRect">
            <a:avLst/>
          </a:prstGeom>
          <a:solidFill>
            <a:srgbClr val="F0F5FF"/>
          </a:solidFill>
          <a:ln w="9525">
            <a:solidFill>
              <a:srgbClr val="0F1F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4. Higher frequency range</a:t>
            </a:r>
          </a:p>
          <a:p>
            <a:pPr algn="ctr"/>
            <a:r>
              <a:rPr sz="900" b="0">
                <a:solidFill>
                  <a:srgbClr val="374151"/>
                </a:solidFill>
              </a:rPr>
              <a:t>Replace AD9833 with AD9959 or similar to extend sweep to 1 MHz+.</a:t>
            </a:r>
          </a:p>
        </p:txBody>
      </p:sp>
      <p:sp>
        <p:nvSpPr>
          <p:cNvPr id="10" name="Rounded Rectangle 9"/>
          <p:cNvSpPr/>
          <p:nvPr/>
        </p:nvSpPr>
        <p:spPr>
          <a:xfrm>
            <a:off x="365760" y="4846320"/>
            <a:ext cx="5682996" cy="749808"/>
          </a:xfrm>
          <a:prstGeom prst="roundRect">
            <a:avLst/>
          </a:prstGeom>
          <a:solidFill>
            <a:srgbClr val="F0F5FF"/>
          </a:solidFill>
          <a:ln w="9525">
            <a:solidFill>
              <a:srgbClr val="0F1F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5. On-board calibration relay</a:t>
            </a:r>
          </a:p>
          <a:p>
            <a:pPr algn="ctr"/>
            <a:r>
              <a:rPr sz="900" b="0">
                <a:solidFill>
                  <a:srgbClr val="374151"/>
                </a:solidFill>
              </a:rPr>
              <a:t>Relay-switched precision R/C reference for automatic self-calibration.</a:t>
            </a:r>
          </a:p>
        </p:txBody>
      </p:sp>
      <p:sp>
        <p:nvSpPr>
          <p:cNvPr id="11" name="Rounded Rectangle 10"/>
          <p:cNvSpPr/>
          <p:nvPr/>
        </p:nvSpPr>
        <p:spPr>
          <a:xfrm>
            <a:off x="6140196" y="1298448"/>
            <a:ext cx="5682996" cy="457200"/>
          </a:xfrm>
          <a:prstGeom prst="round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i="0">
                <a:solidFill>
                  <a:srgbClr val="FFFFFF"/>
                </a:solidFill>
              </a:rPr>
              <a:t>Firmware</a:t>
            </a:r>
          </a:p>
        </p:txBody>
      </p:sp>
      <p:sp>
        <p:nvSpPr>
          <p:cNvPr id="12" name="Rounded Rectangle 11"/>
          <p:cNvSpPr/>
          <p:nvPr/>
        </p:nvSpPr>
        <p:spPr>
          <a:xfrm>
            <a:off x="6140196" y="1773936"/>
            <a:ext cx="5682996" cy="749808"/>
          </a:xfrm>
          <a:prstGeom prst="roundRect">
            <a:avLst/>
          </a:prstGeom>
          <a:solidFill>
            <a:srgbClr val="F0F5FF"/>
          </a:solidFill>
          <a:ln w="9525">
            <a:solidFill>
              <a:srgbClr val="00897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1. DMA double-buffering</a:t>
            </a:r>
          </a:p>
          <a:p>
            <a:pPr algn="ctr"/>
            <a:r>
              <a:rPr sz="900" b="0">
                <a:solidFill>
                  <a:srgbClr val="374151"/>
                </a:solidFill>
              </a:rPr>
              <a:t>Overlap ADC acquisition with tone estimation to halve per-step sweep time.</a:t>
            </a:r>
          </a:p>
        </p:txBody>
      </p:sp>
      <p:sp>
        <p:nvSpPr>
          <p:cNvPr id="13" name="Rounded Rectangle 12"/>
          <p:cNvSpPr/>
          <p:nvPr/>
        </p:nvSpPr>
        <p:spPr>
          <a:xfrm>
            <a:off x="6140196" y="2542032"/>
            <a:ext cx="5682996" cy="749808"/>
          </a:xfrm>
          <a:prstGeom prst="roundRect">
            <a:avLst/>
          </a:prstGeom>
          <a:solidFill>
            <a:srgbClr val="F0F5FF"/>
          </a:solidFill>
          <a:ln w="9525">
            <a:solidFill>
              <a:srgbClr val="00897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2. Multi-frequency averaging</a:t>
            </a:r>
          </a:p>
          <a:p>
            <a:pPr algn="ctr"/>
            <a:r>
              <a:rPr sz="900" b="0">
                <a:solidFill>
                  <a:srgbClr val="374151"/>
                </a:solidFill>
              </a:rPr>
              <a:t>Average N sweeps per step to improve SNR in noisy environments.</a:t>
            </a:r>
          </a:p>
        </p:txBody>
      </p:sp>
      <p:sp>
        <p:nvSpPr>
          <p:cNvPr id="14" name="Rounded Rectangle 13"/>
          <p:cNvSpPr/>
          <p:nvPr/>
        </p:nvSpPr>
        <p:spPr>
          <a:xfrm>
            <a:off x="6140196" y="3310127"/>
            <a:ext cx="5682996" cy="749808"/>
          </a:xfrm>
          <a:prstGeom prst="roundRect">
            <a:avLst/>
          </a:prstGeom>
          <a:solidFill>
            <a:srgbClr val="F0F5FF"/>
          </a:solidFill>
          <a:ln w="9525">
            <a:solidFill>
              <a:srgbClr val="00897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3. FreeRTOS multitasking</a:t>
            </a:r>
          </a:p>
          <a:p>
            <a:pPr algn="ctr"/>
            <a:r>
              <a:rPr sz="900" b="0">
                <a:solidFill>
                  <a:srgbClr val="374151"/>
                </a:solidFill>
              </a:rPr>
              <a:t>Separate task for UART parsing keeps comms responsive during long sweeps.</a:t>
            </a:r>
          </a:p>
        </p:txBody>
      </p:sp>
      <p:sp>
        <p:nvSpPr>
          <p:cNvPr id="15" name="Rounded Rectangle 14"/>
          <p:cNvSpPr/>
          <p:nvPr/>
        </p:nvSpPr>
        <p:spPr>
          <a:xfrm>
            <a:off x="6140196" y="4078224"/>
            <a:ext cx="5682996" cy="749808"/>
          </a:xfrm>
          <a:prstGeom prst="roundRect">
            <a:avLst/>
          </a:prstGeom>
          <a:solidFill>
            <a:srgbClr val="F0F5FF"/>
          </a:solidFill>
          <a:ln w="9525">
            <a:solidFill>
              <a:srgbClr val="00897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4. Wireless upload</a:t>
            </a:r>
          </a:p>
          <a:p>
            <a:pPr algn="ctr"/>
            <a:r>
              <a:rPr sz="900" b="0">
                <a:solidFill>
                  <a:srgbClr val="374151"/>
                </a:solidFill>
              </a:rPr>
              <a:t>Integrate ESP32-C3 or BLE module for cable-free data export.</a:t>
            </a:r>
          </a:p>
        </p:txBody>
      </p:sp>
      <p:sp>
        <p:nvSpPr>
          <p:cNvPr id="16" name="Rounded Rectangle 15"/>
          <p:cNvSpPr/>
          <p:nvPr/>
        </p:nvSpPr>
        <p:spPr>
          <a:xfrm>
            <a:off x="6140196" y="4846320"/>
            <a:ext cx="5682996" cy="749808"/>
          </a:xfrm>
          <a:prstGeom prst="roundRect">
            <a:avLst/>
          </a:prstGeom>
          <a:solidFill>
            <a:srgbClr val="F0F5FF"/>
          </a:solidFill>
          <a:ln w="9525">
            <a:solidFill>
              <a:srgbClr val="00897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374151"/>
                </a:solidFill>
              </a:rPr>
              <a:t>5. Equivalent circuit fitting</a:t>
            </a:r>
          </a:p>
          <a:p>
            <a:pPr algn="ctr"/>
            <a:r>
              <a:rPr sz="900" b="0">
                <a:solidFill>
                  <a:srgbClr val="374151"/>
                </a:solidFill>
              </a:rPr>
              <a:t>Implement Randles curve-fitting in Python GUI using scipy.optimize.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1F3D"/>
        </a:solidFill>
        <a:effectLst/>
      </p:bgPr>
    </p:bg>
    <p:spTree>
      <p:nvGrpSpPr>
        <p:cNvPr id="1" name=""/>
        <p:cNvGrpSpPr/>
        <p:nvPr/>
      </p:nvGrpSpPr>
      <p:grpSpPr>
        <a:xfrm>
          <a:off x="0" y="0"/>
          <a:ext cx="0" cy="0"/>
          <a:chOff x="0" y="0"/>
          <a:chExt cx="0" cy="0"/>
        </a:xfrm>
      </p:grpSpPr>
      <p:sp>
        <p:nvSpPr>
          <p:cNvPr id="2" name="Oval 1"/>
          <p:cNvSpPr/>
          <p:nvPr/>
        </p:nvSpPr>
        <p:spPr>
          <a:xfrm>
            <a:off x="8961120" y="4114800"/>
            <a:ext cx="4572000" cy="4572000"/>
          </a:xfrm>
          <a:prstGeom prst="ellipse">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31520" y="-731520"/>
            <a:ext cx="3200400" cy="3200400"/>
          </a:xfrm>
          <a:prstGeom prst="ellipse">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85800"/>
            <a:ext cx="8229600" cy="777240"/>
          </a:xfrm>
          <a:prstGeom prst="rect">
            <a:avLst/>
          </a:prstGeom>
          <a:noFill/>
        </p:spPr>
        <p:txBody>
          <a:bodyPr wrap="square">
            <a:spAutoFit/>
          </a:bodyPr>
          <a:lstStyle/>
          <a:p>
            <a:pPr algn="l"/>
            <a:r>
              <a:rPr sz="3400" b="1" i="0">
                <a:solidFill>
                  <a:srgbClr val="FFFFFF"/>
                </a:solidFill>
              </a:rPr>
              <a:t>Conclusion</a:t>
            </a:r>
          </a:p>
        </p:txBody>
      </p:sp>
      <p:sp>
        <p:nvSpPr>
          <p:cNvPr id="5" name="Rectangle 4"/>
          <p:cNvSpPr/>
          <p:nvPr/>
        </p:nvSpPr>
        <p:spPr>
          <a:xfrm>
            <a:off x="685800" y="1444752"/>
            <a:ext cx="6400800" cy="36576"/>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536192"/>
            <a:ext cx="8138160" cy="5120640"/>
          </a:xfrm>
          <a:prstGeom prst="rect">
            <a:avLst/>
          </a:prstGeom>
          <a:noFill/>
        </p:spPr>
        <p:txBody>
          <a:bodyPr wrap="square">
            <a:spAutoFit/>
          </a:bodyPr>
          <a:lstStyle/>
          <a:p>
            <a:pPr algn="l"/>
            <a:r>
              <a:rPr sz="1400" b="0" i="0">
                <a:solidFill>
                  <a:srgbClr val="FFFFFF"/>
                </a:solidFill>
              </a:rPr>
              <a:t>A complete, research-grade EIS instrument has been designed, implemented, and verified from silicon to software.</a:t>
            </a:r>
          </a:p>
          <a:p>
            <a:pPr algn="l"/>
            <a:endParaRPr sz="1400" b="0" i="0">
              <a:solidFill>
                <a:srgbClr val="FFFFFF"/>
              </a:solidFill>
            </a:endParaRPr>
          </a:p>
          <a:p>
            <a:pPr algn="l"/>
            <a:r>
              <a:rPr sz="1200" b="0" i="0">
                <a:solidFill>
                  <a:srgbClr val="B3C9E8"/>
                </a:solidFill>
              </a:rPr>
              <a:t>The STM32F303CCT6 paired with the AD9833 DDS, OPA2140 TIA, and dual-channel ADC with DMA forms a compact portable signal chain that accurately characterises electrochemical impedance across 1 Hz to 100 kHz.</a:t>
            </a:r>
          </a:p>
          <a:p>
            <a:pPr algn="l"/>
            <a:endParaRPr sz="1200" b="0" i="0">
              <a:solidFill>
                <a:srgbClr val="B3C9E8"/>
              </a:solidFill>
            </a:endParaRPr>
          </a:p>
          <a:p>
            <a:pPr algn="l"/>
            <a:r>
              <a:rPr sz="1200" b="0" i="0">
                <a:solidFill>
                  <a:srgbClr val="B3C9E8"/>
                </a:solidFill>
              </a:rPr>
              <a:t>The least-squares tone estimator replaces the naive DFT and delivers accurate complex impedance even when the sweep step does not fall on a Fourier bin — a critical correctness requirement.</a:t>
            </a:r>
          </a:p>
          <a:p>
            <a:pPr algn="l"/>
            <a:endParaRPr sz="1200" b="0" i="0">
              <a:solidFill>
                <a:srgbClr val="B3C9E8"/>
              </a:solidFill>
            </a:endParaRPr>
          </a:p>
          <a:p>
            <a:pPr algn="l"/>
            <a:r>
              <a:rPr sz="1200" b="0" i="0">
                <a:solidFill>
                  <a:srgbClr val="B3C9E8"/>
                </a:solidFill>
              </a:rPr>
              <a:t>Non-volatile W25Q32 flash logging ensures no measurement data is lost. The Python desktop GUI provides real-time Bode and Nyquist visualisation, one-click CSV export, and full sweep control.</a:t>
            </a:r>
          </a:p>
          <a:p>
            <a:pPr algn="l"/>
            <a:endParaRPr sz="1200" b="0" i="0">
              <a:solidFill>
                <a:srgbClr val="B3C9E8"/>
              </a:solidFill>
            </a:endParaRPr>
          </a:p>
          <a:p>
            <a:pPr algn="l"/>
            <a:r>
              <a:rPr sz="1200" b="0" i="0">
                <a:solidFill>
                  <a:srgbClr val="B3C9E8"/>
                </a:solidFill>
              </a:rPr>
              <a:t>The system is a solid foundation: anti-alias filtering, equivalent circuit fitting, and wireless export are natural next steps toward a commercially competitive EIS platform.</a:t>
            </a:r>
          </a:p>
        </p:txBody>
      </p:sp>
      <p:sp>
        <p:nvSpPr>
          <p:cNvPr id="7" name="TextBox 6"/>
          <p:cNvSpPr txBox="1"/>
          <p:nvPr/>
        </p:nvSpPr>
        <p:spPr>
          <a:xfrm>
            <a:off x="9235440" y="1508760"/>
            <a:ext cx="2651760" cy="384048"/>
          </a:xfrm>
          <a:prstGeom prst="rect">
            <a:avLst/>
          </a:prstGeom>
          <a:noFill/>
        </p:spPr>
        <p:txBody>
          <a:bodyPr wrap="square">
            <a:spAutoFit/>
          </a:bodyPr>
          <a:lstStyle/>
          <a:p>
            <a:pPr algn="l"/>
            <a:r>
              <a:rPr sz="1300" b="1" i="0">
                <a:solidFill>
                  <a:srgbClr val="00BCD4"/>
                </a:solidFill>
              </a:rPr>
              <a:t>Key Achievements</a:t>
            </a:r>
          </a:p>
        </p:txBody>
      </p:sp>
      <p:sp>
        <p:nvSpPr>
          <p:cNvPr id="8" name="TextBox 7"/>
          <p:cNvSpPr txBox="1"/>
          <p:nvPr/>
        </p:nvSpPr>
        <p:spPr>
          <a:xfrm>
            <a:off x="9235440" y="1938528"/>
            <a:ext cx="2651760" cy="365760"/>
          </a:xfrm>
          <a:prstGeom prst="rect">
            <a:avLst/>
          </a:prstGeom>
          <a:noFill/>
        </p:spPr>
        <p:txBody>
          <a:bodyPr wrap="square">
            <a:spAutoFit/>
          </a:bodyPr>
          <a:lstStyle/>
          <a:p>
            <a:pPr algn="l"/>
            <a:r>
              <a:rPr sz="1100" b="0" i="0">
                <a:solidFill>
                  <a:srgbClr val="4CF69B"/>
                </a:solidFill>
              </a:rPr>
              <a:t>  Swept-sine EIS 1Hz-100kHz</a:t>
            </a:r>
          </a:p>
        </p:txBody>
      </p:sp>
      <p:sp>
        <p:nvSpPr>
          <p:cNvPr id="9" name="TextBox 8"/>
          <p:cNvSpPr txBox="1"/>
          <p:nvPr/>
        </p:nvSpPr>
        <p:spPr>
          <a:xfrm>
            <a:off x="9235440" y="2340864"/>
            <a:ext cx="2651760" cy="365760"/>
          </a:xfrm>
          <a:prstGeom prst="rect">
            <a:avLst/>
          </a:prstGeom>
          <a:noFill/>
        </p:spPr>
        <p:txBody>
          <a:bodyPr wrap="square">
            <a:spAutoFit/>
          </a:bodyPr>
          <a:lstStyle/>
          <a:p>
            <a:pPr algn="l"/>
            <a:r>
              <a:rPr sz="1100" b="0" i="0">
                <a:solidFill>
                  <a:srgbClr val="4CF69B"/>
                </a:solidFill>
              </a:rPr>
              <a:t>  Least-squares tone estimator</a:t>
            </a:r>
          </a:p>
        </p:txBody>
      </p:sp>
      <p:sp>
        <p:nvSpPr>
          <p:cNvPr id="10" name="TextBox 9"/>
          <p:cNvSpPr txBox="1"/>
          <p:nvPr/>
        </p:nvSpPr>
        <p:spPr>
          <a:xfrm>
            <a:off x="9235440" y="2743200"/>
            <a:ext cx="2651760" cy="365760"/>
          </a:xfrm>
          <a:prstGeom prst="rect">
            <a:avLst/>
          </a:prstGeom>
          <a:noFill/>
        </p:spPr>
        <p:txBody>
          <a:bodyPr wrap="square">
            <a:spAutoFit/>
          </a:bodyPr>
          <a:lstStyle/>
          <a:p>
            <a:pPr algn="l"/>
            <a:r>
              <a:rPr sz="1100" b="0" i="0">
                <a:solidFill>
                  <a:srgbClr val="4CF69B"/>
                </a:solidFill>
              </a:rPr>
              <a:t>  256-sample dual-ch ADC DMA</a:t>
            </a:r>
          </a:p>
        </p:txBody>
      </p:sp>
      <p:sp>
        <p:nvSpPr>
          <p:cNvPr id="11" name="TextBox 10"/>
          <p:cNvSpPr txBox="1"/>
          <p:nvPr/>
        </p:nvSpPr>
        <p:spPr>
          <a:xfrm>
            <a:off x="9235440" y="3145536"/>
            <a:ext cx="2651760" cy="365760"/>
          </a:xfrm>
          <a:prstGeom prst="rect">
            <a:avLst/>
          </a:prstGeom>
          <a:noFill/>
        </p:spPr>
        <p:txBody>
          <a:bodyPr wrap="square">
            <a:spAutoFit/>
          </a:bodyPr>
          <a:lstStyle/>
          <a:p>
            <a:pPr algn="l"/>
            <a:r>
              <a:rPr sz="1100" b="0" i="0">
                <a:solidFill>
                  <a:srgbClr val="4CF69B"/>
                </a:solidFill>
              </a:rPr>
              <a:t>  Non-volatile flash logging</a:t>
            </a:r>
          </a:p>
        </p:txBody>
      </p:sp>
      <p:sp>
        <p:nvSpPr>
          <p:cNvPr id="12" name="TextBox 11"/>
          <p:cNvSpPr txBox="1"/>
          <p:nvPr/>
        </p:nvSpPr>
        <p:spPr>
          <a:xfrm>
            <a:off x="9235440" y="3547872"/>
            <a:ext cx="2651760" cy="365760"/>
          </a:xfrm>
          <a:prstGeom prst="rect">
            <a:avLst/>
          </a:prstGeom>
          <a:noFill/>
        </p:spPr>
        <p:txBody>
          <a:bodyPr wrap="square">
            <a:spAutoFit/>
          </a:bodyPr>
          <a:lstStyle/>
          <a:p>
            <a:pPr algn="l"/>
            <a:r>
              <a:rPr sz="1100" b="0" i="0">
                <a:solidFill>
                  <a:srgbClr val="4CF69B"/>
                </a:solidFill>
              </a:rPr>
              <a:t>  Live Bode + Nyquist GUI</a:t>
            </a:r>
          </a:p>
        </p:txBody>
      </p:sp>
      <p:sp>
        <p:nvSpPr>
          <p:cNvPr id="13" name="TextBox 12"/>
          <p:cNvSpPr txBox="1"/>
          <p:nvPr/>
        </p:nvSpPr>
        <p:spPr>
          <a:xfrm>
            <a:off x="9235440" y="3950208"/>
            <a:ext cx="2651760" cy="365760"/>
          </a:xfrm>
          <a:prstGeom prst="rect">
            <a:avLst/>
          </a:prstGeom>
          <a:noFill/>
        </p:spPr>
        <p:txBody>
          <a:bodyPr wrap="square">
            <a:spAutoFit/>
          </a:bodyPr>
          <a:lstStyle/>
          <a:p>
            <a:pPr algn="l"/>
            <a:r>
              <a:rPr sz="1100" b="0" i="0">
                <a:solidFill>
                  <a:srgbClr val="4CF69B"/>
                </a:solidFill>
              </a:rPr>
              <a:t>  USB-UART ASCII protocol</a:t>
            </a:r>
          </a:p>
        </p:txBody>
      </p:sp>
      <p:sp>
        <p:nvSpPr>
          <p:cNvPr id="14" name="TextBox 13"/>
          <p:cNvSpPr txBox="1"/>
          <p:nvPr/>
        </p:nvSpPr>
        <p:spPr>
          <a:xfrm>
            <a:off x="9235440" y="4352544"/>
            <a:ext cx="2651760" cy="365760"/>
          </a:xfrm>
          <a:prstGeom prst="rect">
            <a:avLst/>
          </a:prstGeom>
          <a:noFill/>
        </p:spPr>
        <p:txBody>
          <a:bodyPr wrap="square">
            <a:spAutoFit/>
          </a:bodyPr>
          <a:lstStyle/>
          <a:p>
            <a:pPr algn="l"/>
            <a:r>
              <a:rPr sz="1100" b="0" i="0">
                <a:solidFill>
                  <a:srgbClr val="4CF69B"/>
                </a:solidFill>
              </a:rPr>
              <a:t>  CSV export ready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6088</Words>
  <Application>Microsoft Office PowerPoint</Application>
  <PresentationFormat>Custom</PresentationFormat>
  <Paragraphs>718</Paragraphs>
  <Slides>31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ehsan</cp:lastModifiedBy>
  <cp:revision>2</cp:revision>
  <dcterms:created xsi:type="dcterms:W3CDTF">2013-01-27T09:14:16Z</dcterms:created>
  <dcterms:modified xsi:type="dcterms:W3CDTF">2026-07-02T08:28:52Z</dcterms:modified>
  <cp:category/>
</cp:coreProperties>
</file>